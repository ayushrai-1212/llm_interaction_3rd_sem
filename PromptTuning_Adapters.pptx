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3" Type="http://schemas.openxmlformats.org/officeDocument/2006/relationships/notesSlide" Target="../notesSlides/notesSlide9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822960" y="946785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Tuning &amp; Adapters</a:t>
            </a:r>
            <a:endParaRPr lang="en-US" sz="66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88036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Parameter-Efficient Tuning · Tuning vs. Fine-Tuning vs. Prompting</a:t>
            </a:r>
            <a:endParaRPr lang="en-US" sz="2800" i="1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3657600"/>
            <a:ext cx="2194560" cy="0"/>
          </a:xfrm>
          <a:prstGeom prst="line">
            <a:avLst/>
          </a:prstGeom>
          <a:noFill/>
          <a:ln w="38100">
            <a:solidFill>
              <a:srgbClr val="E872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886200"/>
            <a:ext cx="8686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happens when writing a better prompt just isn't enough?</a:t>
            </a:r>
            <a:endParaRPr lang="en-US" sz="20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5806440"/>
            <a:ext cx="1600200" cy="420624"/>
          </a:xfrm>
          <a:prstGeom prst="roundRect">
            <a:avLst>
              <a:gd name="adj" fmla="val 50000"/>
            </a:avLst>
          </a:prstGeom>
          <a:solidFill>
            <a:srgbClr val="141A3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806440"/>
            <a:ext cx="16002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Tuning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624328" y="5806440"/>
            <a:ext cx="1801368" cy="420624"/>
          </a:xfrm>
          <a:prstGeom prst="roundRect">
            <a:avLst>
              <a:gd name="adj" fmla="val 50000"/>
            </a:avLst>
          </a:prstGeom>
          <a:solidFill>
            <a:srgbClr val="141A3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24328" y="5806440"/>
            <a:ext cx="180136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LoRA &amp; Adapters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26864" y="5806440"/>
            <a:ext cx="2304288" cy="420624"/>
          </a:xfrm>
          <a:prstGeom prst="roundRect">
            <a:avLst>
              <a:gd name="adj" fmla="val 50000"/>
            </a:avLst>
          </a:prstGeom>
          <a:solidFill>
            <a:srgbClr val="141A3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5806440"/>
            <a:ext cx="2304288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vs. Flexibility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32320" y="5806440"/>
            <a:ext cx="2002536" cy="420624"/>
          </a:xfrm>
          <a:prstGeom prst="roundRect">
            <a:avLst>
              <a:gd name="adj" fmla="val 50000"/>
            </a:avLst>
          </a:prstGeom>
          <a:solidFill>
            <a:srgbClr val="141A3D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0" y="5806440"/>
            <a:ext cx="2002536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Scenario Practice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From Last Session to Today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DCE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68680" y="1874520"/>
            <a:ext cx="502920" cy="50292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9" name="Text 7"/>
          <p:cNvSpPr/>
          <p:nvPr/>
        </p:nvSpPr>
        <p:spPr>
          <a:xfrm>
            <a:off x="86868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◀</a:t>
            </a:r>
            <a:endParaRPr lang="en-US" sz="24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508760" y="190195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Last Session</a:t>
            </a:r>
            <a:endParaRPr lang="en-US" sz="28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68680" y="2514600"/>
            <a:ext cx="4526280" cy="3108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CLEAR Framework
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structured way to write effective prompts by hand.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→ Output Sensitivity
</a:t>
            </a:r>
            <a:endParaRPr lang="en-US" sz="2000" dirty="0"/>
          </a:p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wording changes can swing model outputs — so prompt quality matters, but has limits.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989320" y="3337560"/>
            <a:ext cx="502920" cy="822960"/>
          </a:xfrm>
          <a:prstGeom prst="chevron">
            <a:avLst/>
          </a:prstGeom>
          <a:solidFill>
            <a:srgbClr val="E8720C"/>
          </a:solidFill>
        </p:spPr>
      </p:sp>
      <p:sp>
        <p:nvSpPr>
          <p:cNvPr id="13" name="Shape 11"/>
          <p:cNvSpPr/>
          <p:nvPr/>
        </p:nvSpPr>
        <p:spPr>
          <a:xfrm>
            <a:off x="6492240" y="1600200"/>
            <a:ext cx="512064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12280" y="1874520"/>
            <a:ext cx="502920" cy="502920"/>
          </a:xfrm>
          <a:prstGeom prst="ellipse">
            <a:avLst/>
          </a:prstGeom>
          <a:solidFill>
            <a:srgbClr val="E8720C"/>
          </a:solidFill>
        </p:spPr>
      </p:sp>
      <p:sp>
        <p:nvSpPr>
          <p:cNvPr id="15" name="Text 13"/>
          <p:cNvSpPr/>
          <p:nvPr/>
        </p:nvSpPr>
        <p:spPr>
          <a:xfrm>
            <a:off x="681228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?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452360" y="1901952"/>
            <a:ext cx="3931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Today's Question</a:t>
            </a:r>
            <a:endParaRPr lang="en-US" sz="2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12280" y="2606040"/>
            <a:ext cx="448056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i="1" dirty="0">
                <a:solidFill>
                  <a:srgbClr val="CADCF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“What happens when prompting alone isn’t enough?”</a:t>
            </a:r>
            <a:endParaRPr lang="en-US" sz="3200" i="1" dirty="0">
              <a:solidFill>
                <a:srgbClr val="CADCF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12280" y="4224655"/>
            <a:ext cx="44805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Today we move from writing prompts to teaching the model — first with learned input vectors (prompt tuning), then with small trainable layers (adapters).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Three-Tier Spectrum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DCE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297680"/>
            <a:ext cx="3291840" cy="1463040"/>
          </a:xfrm>
          <a:prstGeom prst="roundRect">
            <a:avLst>
              <a:gd name="adj" fmla="val 6250"/>
            </a:avLst>
          </a:prstGeom>
          <a:solidFill>
            <a:srgbClr val="CADCFC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8" name="Text 6"/>
          <p:cNvSpPr/>
          <p:nvPr/>
        </p:nvSpPr>
        <p:spPr>
          <a:xfrm>
            <a:off x="1051560" y="4572000"/>
            <a:ext cx="309181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 </a:t>
            </a: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  <a:sym typeface="+mn-ea"/>
              </a:rPr>
              <a:t>Prompting</a:t>
            </a: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  <a:p>
            <a:pPr marL="0" indent="0">
              <a:buNone/>
            </a:pP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47548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49377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Cheapest.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weight changes — you write words.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3566160"/>
            <a:ext cx="3291840" cy="2194560"/>
          </a:xfrm>
          <a:prstGeom prst="roundRect">
            <a:avLst>
              <a:gd name="adj" fmla="val 4167"/>
            </a:avLst>
          </a:prstGeom>
          <a:solidFill>
            <a:srgbClr val="8FA8E0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367588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46320" y="40233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Tuning</a:t>
            </a:r>
            <a:endParaRPr lang="en-US" sz="2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46320" y="4572000"/>
            <a:ext cx="3017520" cy="11887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Learns a small set of extra input vectors.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Base model stays frozen.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503920" y="2834640"/>
            <a:ext cx="3291840" cy="2926080"/>
          </a:xfrm>
          <a:prstGeom prst="roundRect">
            <a:avLst>
              <a:gd name="adj" fmla="val 3125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41080" y="2944368"/>
            <a:ext cx="457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41080" y="3291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Fine-Tuning</a:t>
            </a:r>
            <a:endParaRPr lang="en-US" sz="2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641080" y="3749040"/>
            <a:ext cx="30175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Updates model weights directly.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Most expensive, most flexible.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4400" y="625462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 &amp; Effort  →</a:t>
            </a:r>
            <a:endParaRPr lang="en-US" sz="1600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63840" y="1417320"/>
            <a:ext cx="3840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Same axis: how much the model itself is changed</a:t>
            </a:r>
            <a:endParaRPr lang="en-US" sz="1600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Learning the Prompt Instead of Writing It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64922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173736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600" b="1" kern="0" spc="150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585216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writing the prompt in words, we learn a small set of continuous “soft prompt” vectors that are prepended to the input — trained on a task-specific dataset. The base model's weights stay completely frozen.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4023360"/>
            <a:ext cx="6492240" cy="1783080"/>
          </a:xfrm>
          <a:prstGeom prst="roundRect">
            <a:avLst>
              <a:gd name="adj" fmla="val 6154"/>
            </a:avLst>
          </a:prstGeom>
          <a:solidFill>
            <a:srgbClr val="1E2761"/>
          </a:solidFill>
        </p:spPr>
      </p:sp>
      <p:sp>
        <p:nvSpPr>
          <p:cNvPr id="11" name="Shape 9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E8720C"/>
          </a:solidFill>
        </p:spPr>
      </p:sp>
      <p:sp>
        <p:nvSpPr>
          <p:cNvPr id="12" name="Text 10"/>
          <p:cNvSpPr/>
          <p:nvPr/>
        </p:nvSpPr>
        <p:spPr>
          <a:xfrm>
            <a:off x="822960" y="42336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🔑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417320" y="4279392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Analogy</a:t>
            </a:r>
            <a:endParaRPr lang="en-US" sz="20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709160"/>
            <a:ext cx="594360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custom key trained to fit the lock — instead of you guessing the shape by hand.</a:t>
            </a:r>
            <a:endParaRPr lang="en-US" sz="2000" i="1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15200" y="1554480"/>
            <a:ext cx="43434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0" y="170078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Regular Prompting</a:t>
            </a:r>
            <a:endParaRPr lang="en-US" sz="2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589520" y="2029968"/>
            <a:ext cx="3840480" cy="502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Words YOU write, by hand, tweaked through trial and error.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89520" y="2624328"/>
            <a:ext cx="379476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72491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20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 Tuning</a:t>
            </a:r>
            <a:endParaRPr lang="en-US" sz="2000" b="1" dirty="0">
              <a:solidFill>
                <a:srgbClr val="E8720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589520" y="3054096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Vectors the MODEL learns via gradient descent on labeled examples.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0" y="3977640"/>
            <a:ext cx="4343400" cy="1828800"/>
          </a:xfrm>
          <a:prstGeom prst="roundRect">
            <a:avLst>
              <a:gd name="adj" fmla="val 6000"/>
            </a:avLst>
          </a:prstGeom>
          <a:solidFill>
            <a:srgbClr val="FFF2E6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41148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FACT (SOURCE: LESTER ET AL., 2021)</a:t>
            </a:r>
            <a:endParaRPr lang="en-US" sz="1600" b="1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89520" y="4407408"/>
            <a:ext cx="384048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At large scale (e.g. T5-XL, 11B params), prompt tuning can match full fine-tuning performance while training only ~20K parameters — about 0.0002% of the model.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Worked Example: Sentiment Classification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257800" cy="497459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  <p:txBody>
          <a:bodyPr/>
          <a:p>
            <a:endParaRPr lang="en-GB" altLang="en-US"/>
          </a:p>
        </p:txBody>
      </p:sp>
      <p:sp>
        <p:nvSpPr>
          <p:cNvPr id="8" name="Text 6"/>
          <p:cNvSpPr/>
          <p:nvPr/>
        </p:nvSpPr>
        <p:spPr>
          <a:xfrm>
            <a:off x="822960" y="17830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· HAND-WRITTEN (HARD) PROMPT</a:t>
            </a:r>
            <a:endParaRPr lang="en-US" sz="1600" b="1" kern="0" spc="1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148840"/>
            <a:ext cx="4709160" cy="2216150"/>
          </a:xfrm>
          <a:prstGeom prst="roundRect">
            <a:avLst>
              <a:gd name="adj" fmla="val 5333"/>
            </a:avLst>
          </a:prstGeom>
          <a:solidFill>
            <a:srgbClr val="141A3D"/>
          </a:solidFill>
        </p:spPr>
      </p:sp>
      <p:sp>
        <p:nvSpPr>
          <p:cNvPr id="10" name="Text 8"/>
          <p:cNvSpPr/>
          <p:nvPr/>
        </p:nvSpPr>
        <p:spPr>
          <a:xfrm>
            <a:off x="1005840" y="2267585"/>
            <a:ext cx="4343400" cy="198564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Classify the sentiment of this movie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review as Positive or Negative.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Review: “The pacing dragged, but the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lead performance saved it.”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Sentiment:</a:t>
            </a:r>
            <a:endParaRPr lang="en-US" sz="1600" dirty="0">
              <a:solidFill>
                <a:srgbClr val="CADCF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4462145"/>
            <a:ext cx="475488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You write and rewrite these words yourself — changing phrasing, adding examples, adjusting instructions — until outputs improve.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557784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Limit: quality plateaus, and every new task needs fresh manual prompt engineering.</a:t>
            </a:r>
            <a:endParaRPr lang="en-US" i="1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5623560" cy="4928870"/>
          </a:xfrm>
          <a:prstGeom prst="roundRect">
            <a:avLst>
              <a:gd name="adj" fmla="val 2637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09360" y="178308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 · LEARNED (SOFT) PROMPT</a:t>
            </a:r>
            <a:endParaRPr lang="en-US" sz="1600" b="1" kern="0" spc="100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309360" y="2240280"/>
            <a:ext cx="438912" cy="457200"/>
          </a:xfrm>
          <a:prstGeom prst="roundRect">
            <a:avLst>
              <a:gd name="adj" fmla="val 12500"/>
            </a:avLst>
          </a:prstGeom>
          <a:solidFill>
            <a:srgbClr val="E8720C"/>
          </a:solidFill>
        </p:spPr>
      </p:sp>
      <p:sp>
        <p:nvSpPr>
          <p:cNvPr id="16" name="Text 14"/>
          <p:cNvSpPr/>
          <p:nvPr/>
        </p:nvSpPr>
        <p:spPr>
          <a:xfrm>
            <a:off x="6309360" y="22402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12280" y="2240280"/>
            <a:ext cx="438912" cy="457200"/>
          </a:xfrm>
          <a:prstGeom prst="roundRect">
            <a:avLst>
              <a:gd name="adj" fmla="val 12500"/>
            </a:avLst>
          </a:prstGeom>
          <a:solidFill>
            <a:srgbClr val="E8720C"/>
          </a:solidFill>
        </p:spPr>
      </p:sp>
      <p:sp>
        <p:nvSpPr>
          <p:cNvPr id="18" name="Text 16"/>
          <p:cNvSpPr/>
          <p:nvPr/>
        </p:nvSpPr>
        <p:spPr>
          <a:xfrm>
            <a:off x="6812280" y="22402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315200" y="2240280"/>
            <a:ext cx="438912" cy="457200"/>
          </a:xfrm>
          <a:prstGeom prst="roundRect">
            <a:avLst>
              <a:gd name="adj" fmla="val 12500"/>
            </a:avLst>
          </a:prstGeom>
          <a:solidFill>
            <a:srgbClr val="E8720C"/>
          </a:solidFill>
        </p:spPr>
      </p:sp>
      <p:sp>
        <p:nvSpPr>
          <p:cNvPr id="20" name="Text 18"/>
          <p:cNvSpPr/>
          <p:nvPr/>
        </p:nvSpPr>
        <p:spPr>
          <a:xfrm>
            <a:off x="7315200" y="22402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v3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18120" y="2240280"/>
            <a:ext cx="438912" cy="457200"/>
          </a:xfrm>
          <a:prstGeom prst="roundRect">
            <a:avLst>
              <a:gd name="adj" fmla="val 12500"/>
            </a:avLst>
          </a:prstGeom>
          <a:solidFill>
            <a:srgbClr val="E8720C"/>
          </a:solidFill>
        </p:spPr>
      </p:sp>
      <p:sp>
        <p:nvSpPr>
          <p:cNvPr id="22" name="Text 20"/>
          <p:cNvSpPr/>
          <p:nvPr/>
        </p:nvSpPr>
        <p:spPr>
          <a:xfrm>
            <a:off x="7818120" y="22402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⋯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321040" y="2240280"/>
            <a:ext cx="438912" cy="457200"/>
          </a:xfrm>
          <a:prstGeom prst="roundRect">
            <a:avLst>
              <a:gd name="adj" fmla="val 12500"/>
            </a:avLst>
          </a:prstGeom>
          <a:solidFill>
            <a:srgbClr val="E8720C"/>
          </a:solidFill>
        </p:spPr>
      </p:sp>
      <p:sp>
        <p:nvSpPr>
          <p:cNvPr id="24" name="Text 22"/>
          <p:cNvSpPr/>
          <p:nvPr/>
        </p:nvSpPr>
        <p:spPr>
          <a:xfrm>
            <a:off x="8321040" y="2240280"/>
            <a:ext cx="438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v20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823960" y="2240280"/>
            <a:ext cx="25603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+</a:t>
            </a:r>
            <a:endParaRPr lang="en-US" sz="2400" b="1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098280" y="2240280"/>
            <a:ext cx="2331720" cy="457200"/>
          </a:xfrm>
          <a:prstGeom prst="roundRect">
            <a:avLst>
              <a:gd name="adj" fmla="val 12000"/>
            </a:avLst>
          </a:prstGeom>
          <a:solidFill>
            <a:srgbClr val="3A4590"/>
          </a:solidFill>
        </p:spPr>
      </p:sp>
      <p:sp>
        <p:nvSpPr>
          <p:cNvPr id="27" name="Text 25"/>
          <p:cNvSpPr/>
          <p:nvPr/>
        </p:nvSpPr>
        <p:spPr>
          <a:xfrm>
            <a:off x="9098280" y="2240280"/>
            <a:ext cx="23317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“review text”</a:t>
            </a:r>
            <a:endParaRPr lang="en-US" sz="1600" dirty="0">
              <a:solidFill>
                <a:srgbClr val="CADCFC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2880360"/>
            <a:ext cx="512064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trainable vectors [v₁…v₂₀] are prepended to the input embeddings — not words, just numbers.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309360" y="3703320"/>
            <a:ext cx="5074920" cy="0"/>
          </a:xfrm>
          <a:prstGeom prst="line">
            <a:avLst/>
          </a:prstGeom>
          <a:noFill/>
          <a:ln w="12700">
            <a:solidFill>
              <a:srgbClr val="3A45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886200"/>
            <a:ext cx="5120640" cy="17373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6FC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Trained end-to-end via backpropagation on labeled examples
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6FC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Frozen base model — only the vectors update
</a:t>
            </a:r>
            <a:endParaRPr lang="en-US" dirty="0"/>
          </a:p>
          <a:p>
            <a:pPr marL="0" indent="0">
              <a:lnSpc>
                <a:spcPct val="125000"/>
              </a:lnSpc>
              <a:buNone/>
            </a:pPr>
            <a:r>
              <a:rPr lang="en-US" b="1" dirty="0">
                <a:solidFill>
                  <a:srgbClr val="6FCF9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tiny vector set per task; swap tasks without reloading the model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Small Trainable Layers, Frozen Everything Else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0020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DEFINITION</a:t>
            </a:r>
            <a:endParaRPr lang="en-US" sz="1600" b="1" kern="0" spc="150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493776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trainable layers are inserted into a frozen pretrained model. Only these new layers get updated during training — not the whole model.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5486400" cy="1874520"/>
          </a:xfrm>
          <a:prstGeom prst="roundRect">
            <a:avLst>
              <a:gd name="adj" fmla="val 5854"/>
            </a:avLst>
          </a:prstGeom>
          <a:solidFill>
            <a:srgbClr val="FFF2E6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409651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MATTERS</a:t>
            </a:r>
            <a:endParaRPr lang="en-US" sz="1600" b="1" kern="0" spc="100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4407408"/>
            <a:ext cx="4937760" cy="12801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Full fine-tuning of a billion-parameter model is expensive to train, store, and serve per task. Adapters get similar quality gains at a fraction of the compute and storage cost.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0" y="160020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178308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INSIDE ONE TRANSFORMER BLOCK</a:t>
            </a:r>
            <a:endParaRPr lang="en-US" sz="1600" b="1" kern="0" spc="1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858000" y="214884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</p:spPr>
      </p:sp>
      <p:sp>
        <p:nvSpPr>
          <p:cNvPr id="16" name="Text 14"/>
          <p:cNvSpPr/>
          <p:nvPr/>
        </p:nvSpPr>
        <p:spPr>
          <a:xfrm>
            <a:off x="6995160" y="214884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Multi-Head Attention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0104120" y="214884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❄ frozen</a:t>
            </a:r>
            <a:endParaRPr lang="en-US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58000" y="288036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8720C"/>
          </a:solidFill>
        </p:spPr>
      </p:sp>
      <p:sp>
        <p:nvSpPr>
          <p:cNvPr id="19" name="Text 17"/>
          <p:cNvSpPr/>
          <p:nvPr/>
        </p:nvSpPr>
        <p:spPr>
          <a:xfrm>
            <a:off x="6995160" y="288036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 (bottleneck FFN)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0104120" y="288036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trained</a:t>
            </a:r>
            <a:endParaRPr lang="en-US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858000" y="361188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3A4590"/>
          </a:solidFill>
        </p:spPr>
      </p:sp>
      <p:sp>
        <p:nvSpPr>
          <p:cNvPr id="22" name="Text 20"/>
          <p:cNvSpPr/>
          <p:nvPr/>
        </p:nvSpPr>
        <p:spPr>
          <a:xfrm>
            <a:off x="6995160" y="361188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Feed-Forward Layer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0104120" y="361188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❄ frozen</a:t>
            </a:r>
            <a:endParaRPr lang="en-US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858000" y="4343400"/>
            <a:ext cx="4343400" cy="566928"/>
          </a:xfrm>
          <a:prstGeom prst="roundRect">
            <a:avLst>
              <a:gd name="adj" fmla="val 9677"/>
            </a:avLst>
          </a:prstGeom>
          <a:solidFill>
            <a:srgbClr val="E8720C"/>
          </a:solidFill>
        </p:spPr>
      </p:sp>
      <p:sp>
        <p:nvSpPr>
          <p:cNvPr id="25" name="Text 23"/>
          <p:cNvSpPr/>
          <p:nvPr/>
        </p:nvSpPr>
        <p:spPr>
          <a:xfrm>
            <a:off x="6995160" y="4343400"/>
            <a:ext cx="3291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 (bottleneck FFN)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104120" y="4343400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i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trained</a:t>
            </a:r>
            <a:endParaRPr lang="en-US" sz="1600" i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75120" y="5166360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Only the orange adapter layers update during training — the frozen blocks never change.</a:t>
            </a:r>
            <a:endParaRPr lang="en-US" i="1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LoRA: The Most Common Adapter Method</a:t>
            </a:r>
            <a:endParaRPr lang="en-US" sz="40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12265"/>
            <a:ext cx="6035040" cy="4481195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78308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LoRA — Low-Rank Adaptation (Hu et al., 2021)</a:t>
            </a: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24028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Instead of updating a full weight matrix W, freeze W and learn a tiny low-rank update: two small matrices A and B, where the update = B × A.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3246120"/>
            <a:ext cx="5394960" cy="1005840"/>
          </a:xfrm>
          <a:prstGeom prst="roundRect">
            <a:avLst>
              <a:gd name="adj" fmla="val 7273"/>
            </a:avLst>
          </a:prstGeom>
          <a:solidFill>
            <a:srgbClr val="F5F7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38328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output = W·x  +  (B · A)·x</a:t>
            </a:r>
            <a:endParaRPr lang="en-US" sz="2400" b="1" dirty="0">
              <a:solidFill>
                <a:srgbClr val="1E2761"/>
              </a:solidFill>
              <a:latin typeface="Courier New" panose="02070309020205020404" pitchFamily="34" charset="0"/>
              <a:ea typeface="Courier New" panose="02070309020205020404" pitchFamily="34" charset="-122"/>
              <a:cs typeface="Courier New" panose="02070309020205020404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 stays frozen (pretrained)      B, A are tiny and trainable (rank r ≪ d)</a:t>
            </a:r>
            <a:endParaRPr lang="en-US" sz="1600" i="1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434840"/>
            <a:ext cx="5486400" cy="12344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Merges back into the base weights after training → zero extra inference latency
</a:t>
            </a:r>
            <a:endParaRPr lang="en-US" dirty="0"/>
          </a:p>
          <a:p>
            <a:pPr marL="0" indent="0">
              <a:spcAft>
                <a:spcPts val="600"/>
              </a:spcAft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• Unlike classic Houlsby adapters, LoRA adds no permanent extra layers at serving time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0" y="1600200"/>
            <a:ext cx="4800600" cy="1965960"/>
          </a:xfrm>
          <a:prstGeom prst="roundRect">
            <a:avLst>
              <a:gd name="adj" fmla="val 5581"/>
            </a:avLst>
          </a:prstGeom>
          <a:solidFill>
            <a:srgbClr val="1E2761"/>
          </a:solidFill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737360"/>
            <a:ext cx="4480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720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~10,000×</a:t>
            </a:r>
            <a:endParaRPr lang="en-US" sz="5400" b="1" dirty="0">
              <a:solidFill>
                <a:srgbClr val="E8720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040880" y="2514600"/>
            <a:ext cx="4480560" cy="10058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fewer trainable parameters than full fine-tuning of GPT-3 175B, with 3× less GPU memory needed (Hu et al., 2021).</a:t>
            </a:r>
            <a:endParaRPr lang="en-US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58000" y="3794760"/>
            <a:ext cx="4800600" cy="2293620"/>
          </a:xfrm>
          <a:prstGeom prst="roundRect">
            <a:avLst>
              <a:gd name="adj" fmla="val 5455"/>
            </a:avLst>
          </a:prstGeom>
          <a:solidFill>
            <a:srgbClr val="FFF2E6"/>
          </a:solidFill>
          <a:ln w="12700">
            <a:solidFill>
              <a:srgbClr val="E872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39502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EXAM TIP</a:t>
            </a:r>
            <a:endParaRPr lang="en-US" sz="1600" b="1" kern="0" spc="100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132320" y="4251960"/>
            <a:ext cx="4206240" cy="1463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“Why are adapters called parameter-efficient?” → because only a small added/inserted subset of parameters is trained, while the (much larger) pretrained backbone stays frozen and shared across tasks.</a:t>
            </a:r>
            <a:endParaRPr lang="en-US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4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Prompting vs. Prompt Tuning vs. Fine-Tuning</a:t>
            </a:r>
            <a:endParaRPr lang="en-US" sz="4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182880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691640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Dimension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77440" y="1691640"/>
            <a:ext cx="306324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691640"/>
            <a:ext cx="28437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40680" y="1691640"/>
            <a:ext cx="3063240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50408" y="1691640"/>
            <a:ext cx="28437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Tuning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503920" y="1691640"/>
            <a:ext cx="3136392" cy="50292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13648" y="1691640"/>
            <a:ext cx="291693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2194560"/>
            <a:ext cx="1828800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2194560"/>
            <a:ext cx="160934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377440" y="2194560"/>
            <a:ext cx="3063240" cy="566928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87168" y="2194560"/>
            <a:ext cx="2843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Lowest — no training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40680" y="2194560"/>
            <a:ext cx="3063240" cy="566928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50408" y="2194560"/>
            <a:ext cx="2843784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— trains a few thousand params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503920" y="2194560"/>
            <a:ext cx="3136392" cy="566928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13648" y="2194560"/>
            <a:ext cx="291693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Highest — trains all model weights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2761488"/>
            <a:ext cx="1828800" cy="658368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" y="2761488"/>
            <a:ext cx="16093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needed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377440" y="2761488"/>
            <a:ext cx="3063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87168" y="2761488"/>
            <a:ext cx="28437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0–few examples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40680" y="2761488"/>
            <a:ext cx="3063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50408" y="2761488"/>
            <a:ext cx="28437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Hundreds to thousands of labeled examples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503920" y="2761488"/>
            <a:ext cx="313639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13648" y="2761488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Thousands to millions of examples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3419856"/>
            <a:ext cx="1828800" cy="502920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" y="3419856"/>
            <a:ext cx="160934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Speed to deploy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377440" y="3419856"/>
            <a:ext cx="306324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87168" y="3419856"/>
            <a:ext cx="28437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Instant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40680" y="3419856"/>
            <a:ext cx="3063240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50408" y="3419856"/>
            <a:ext cx="2843784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(short training run)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503920" y="3419856"/>
            <a:ext cx="3136392" cy="50292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13648" y="3419856"/>
            <a:ext cx="2916936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Slow (full training + validation cycle)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3922776"/>
            <a:ext cx="1828800" cy="658368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922776"/>
            <a:ext cx="160934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Flexibility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377440" y="3922776"/>
            <a:ext cx="3063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87168" y="3922776"/>
            <a:ext cx="28437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 — change anytime, in text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440680" y="3922776"/>
            <a:ext cx="30632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550408" y="3922776"/>
            <a:ext cx="28437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Medium — one vector set per task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503920" y="3922776"/>
            <a:ext cx="313639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13648" y="3922776"/>
            <a:ext cx="2916936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 — a new model copy per task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48640" y="4581144"/>
            <a:ext cx="182880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8368" y="4581144"/>
            <a:ext cx="160934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When to use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377440" y="4581144"/>
            <a:ext cx="306324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87168" y="4581144"/>
            <a:ext cx="2843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tasks, prototyping, no ML team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440680" y="4581144"/>
            <a:ext cx="306324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50408" y="4581144"/>
            <a:ext cx="2843784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Repeated task, frozen model, need per-task gains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503920" y="4581144"/>
            <a:ext cx="3136392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13648" y="4581144"/>
            <a:ext cx="291693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 domain shift, max quality, resources available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6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Which Approach Fits Each Scenario?</a:t>
            </a:r>
            <a:endParaRPr lang="en-US" sz="4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548640" y="164592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Shape 6"/>
          <p:cNvSpPr/>
          <p:nvPr>
            <p:custDataLst>
              <p:tags r:id="rId2"/>
            </p:custDataLst>
          </p:nvPr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82296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2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0" name="Text 8"/>
          <p:cNvSpPr/>
          <p:nvPr>
            <p:custDataLst>
              <p:tags r:id="rId4"/>
            </p:custDataLst>
          </p:nvPr>
        </p:nvSpPr>
        <p:spPr>
          <a:xfrm>
            <a:off x="822960" y="25146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Lean Startup</a:t>
            </a:r>
            <a:endParaRPr lang="en-US" sz="28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9"/>
          <p:cNvSpPr/>
          <p:nvPr>
            <p:custDataLst>
              <p:tags r:id="rId5"/>
            </p:custDataLst>
          </p:nvPr>
        </p:nvSpPr>
        <p:spPr>
          <a:xfrm>
            <a:off x="822960" y="3443605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50 labeled examples of customer support tickets. No dedicated ML infrastructure.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>
            <p:custDataLst>
              <p:tags r:id="rId6"/>
            </p:custDataLst>
          </p:nvPr>
        </p:nvSpPr>
        <p:spPr>
          <a:xfrm>
            <a:off x="822960" y="4572000"/>
            <a:ext cx="3063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13" name="Text 11"/>
          <p:cNvSpPr/>
          <p:nvPr>
            <p:custDataLst>
              <p:tags r:id="rId7"/>
            </p:custDataLst>
          </p:nvPr>
        </p:nvSpPr>
        <p:spPr>
          <a:xfrm>
            <a:off x="822960" y="47091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Prompting, prompt tuning, or fine-tuning?</a:t>
            </a:r>
            <a:endParaRPr lang="en-US" sz="2000" i="1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4" name="Shape 12"/>
          <p:cNvSpPr/>
          <p:nvPr>
            <p:custDataLst>
              <p:tags r:id="rId8"/>
            </p:custDataLst>
          </p:nvPr>
        </p:nvSpPr>
        <p:spPr>
          <a:xfrm>
            <a:off x="4343400" y="164592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5" name="Shape 13"/>
          <p:cNvSpPr/>
          <p:nvPr>
            <p:custDataLst>
              <p:tags r:id="rId9"/>
            </p:custDataLst>
          </p:nvPr>
        </p:nvSpPr>
        <p:spPr>
          <a:xfrm>
            <a:off x="461772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16" name="Text 14"/>
          <p:cNvSpPr/>
          <p:nvPr>
            <p:custDataLst>
              <p:tags r:id="rId10"/>
            </p:custDataLst>
          </p:nvPr>
        </p:nvSpPr>
        <p:spPr>
          <a:xfrm>
            <a:off x="461772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2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11"/>
            </p:custDataLst>
          </p:nvPr>
        </p:nvSpPr>
        <p:spPr>
          <a:xfrm>
            <a:off x="4617720" y="25146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No-ML-Team Company</a:t>
            </a:r>
            <a:endParaRPr lang="en-US" sz="28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4617720" y="3443605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Wants better outputs from an existing LLM API. Nobody on staff can train models.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4617720" y="4572000"/>
            <a:ext cx="3063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4617720" y="47091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Prompting, prompt tuning, or fine-tuning?</a:t>
            </a:r>
            <a:endParaRPr lang="en-US" sz="2000" i="1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>
            <p:custDataLst>
              <p:tags r:id="rId15"/>
            </p:custDataLst>
          </p:nvPr>
        </p:nvSpPr>
        <p:spPr>
          <a:xfrm>
            <a:off x="8138160" y="1645920"/>
            <a:ext cx="3611880" cy="416052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8412480" y="1874520"/>
            <a:ext cx="502920" cy="502920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23" name="Text 21"/>
          <p:cNvSpPr/>
          <p:nvPr>
            <p:custDataLst>
              <p:tags r:id="rId17"/>
            </p:custDataLst>
          </p:nvPr>
        </p:nvSpPr>
        <p:spPr>
          <a:xfrm>
            <a:off x="8412480" y="187452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28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8412480" y="2514600"/>
            <a:ext cx="3063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Well-Resourced Lab</a:t>
            </a:r>
            <a:endParaRPr lang="en-US" sz="28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5" name="Text 23"/>
          <p:cNvSpPr/>
          <p:nvPr>
            <p:custDataLst>
              <p:tags r:id="rId19"/>
            </p:custDataLst>
          </p:nvPr>
        </p:nvSpPr>
        <p:spPr>
          <a:xfrm>
            <a:off x="8380730" y="3443605"/>
            <a:ext cx="3063240" cy="1371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GPU cluster on hand, 10,000 labeled examples, and a genuinely novel domain.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6" name="Shape 24"/>
          <p:cNvSpPr/>
          <p:nvPr>
            <p:custDataLst>
              <p:tags r:id="rId20"/>
            </p:custDataLst>
          </p:nvPr>
        </p:nvSpPr>
        <p:spPr>
          <a:xfrm>
            <a:off x="8412480" y="4572000"/>
            <a:ext cx="3063240" cy="0"/>
          </a:xfrm>
          <a:prstGeom prst="line">
            <a:avLst/>
          </a:prstGeom>
          <a:noFill/>
          <a:ln w="12700">
            <a:solidFill>
              <a:srgbClr val="DCE3F5"/>
            </a:solidFill>
            <a:prstDash val="solid"/>
          </a:ln>
        </p:spPr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8412480" y="4709160"/>
            <a:ext cx="3063240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i="1" dirty="0">
                <a:solidFill>
                  <a:srgbClr val="E8720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Prompting, prompt tuning, or fine-tuning?</a:t>
            </a:r>
            <a:endParaRPr lang="en-US" sz="2000" i="1" dirty="0">
              <a:solidFill>
                <a:srgbClr val="E8720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6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The Full Picture, Side by Side</a:t>
            </a:r>
            <a:endParaRPr lang="en-US" sz="4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6916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240280" y="1645920"/>
            <a:ext cx="237744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164592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4592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6459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Tuning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7086600" y="1645920"/>
            <a:ext cx="246888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16459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Adapters (LoRA)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555480" y="1645920"/>
            <a:ext cx="22860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6920" y="1645920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Fine-Tuning</a:t>
            </a:r>
            <a:endParaRPr lang="en-US" sz="20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2103120"/>
            <a:ext cx="1691640" cy="566928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103120"/>
            <a:ext cx="15087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changes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40280" y="2103120"/>
            <a:ext cx="237744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331720" y="2103120"/>
            <a:ext cx="21945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Nothing — just words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2103120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10312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input vectors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086600" y="2103120"/>
            <a:ext cx="246888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103120"/>
            <a:ext cx="22860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Small inserted layers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555480" y="2103120"/>
            <a:ext cx="2286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2103120"/>
            <a:ext cx="21031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All model weights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48640" y="2670048"/>
            <a:ext cx="16916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26700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Cost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40280" y="2670048"/>
            <a:ext cx="2377440" cy="45720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267004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None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617720" y="2670048"/>
            <a:ext cx="2468880" cy="45720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2670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086600" y="2670048"/>
            <a:ext cx="2468880" cy="45720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26700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Low–Medium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555480" y="2670048"/>
            <a:ext cx="2286000" cy="45720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46920" y="267004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High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3127248"/>
            <a:ext cx="1691640" cy="457200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127248"/>
            <a:ext cx="1508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needed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240280" y="3127248"/>
            <a:ext cx="23774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31720" y="3127248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0–few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4617720" y="3127248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1272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100s–1000s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086600" y="3127248"/>
            <a:ext cx="246888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78040" y="3127248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100s–1000s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555480" y="3127248"/>
            <a:ext cx="2286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646920" y="3127248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1000s+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48640" y="3584448"/>
            <a:ext cx="1691640" cy="777240"/>
          </a:xfrm>
          <a:prstGeom prst="rect">
            <a:avLst/>
          </a:prstGeom>
          <a:solidFill>
            <a:srgbClr val="CADC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" y="3584448"/>
            <a:ext cx="15087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Best for</a:t>
            </a:r>
            <a:endParaRPr lang="en-US" sz="2000" b="1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2240280" y="3584448"/>
            <a:ext cx="237744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331720" y="3584448"/>
            <a:ext cx="219456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Quick, general tasks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4617720" y="3584448"/>
            <a:ext cx="246888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58444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frozen model, many tasks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086600" y="3584448"/>
            <a:ext cx="246888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584448"/>
            <a:ext cx="228600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Efficient domain adaptation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555480" y="3584448"/>
            <a:ext cx="2286000" cy="777240"/>
          </a:xfrm>
          <a:prstGeom prst="rect">
            <a:avLst/>
          </a:prstGeom>
          <a:solidFill>
            <a:srgbClr val="EEF2FC"/>
          </a:solidFill>
          <a:ln w="9525">
            <a:solidFill>
              <a:srgbClr val="DCE3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646920" y="3584448"/>
            <a:ext cx="210312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Deep, high-stakes customization</a:t>
            </a:r>
            <a:endParaRPr lang="en-US" dirty="0">
              <a:solidFill>
                <a:srgbClr val="1E276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16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896112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 Exam-Style Questions</a:t>
            </a:r>
            <a:endParaRPr lang="en-US" sz="4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07008"/>
            <a:ext cx="11064240" cy="0"/>
          </a:xfrm>
          <a:prstGeom prst="line">
            <a:avLst/>
          </a:prstGeom>
          <a:noFill/>
          <a:ln w="15875">
            <a:solidFill>
              <a:srgbClr val="DCE3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916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87452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8720C"/>
          </a:solidFill>
        </p:spPr>
      </p:sp>
      <p:sp>
        <p:nvSpPr>
          <p:cNvPr id="9" name="Text 7"/>
          <p:cNvSpPr/>
          <p:nvPr/>
        </p:nvSpPr>
        <p:spPr>
          <a:xfrm>
            <a:off x="777240" y="1874520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Q1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783080" y="182880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Compare &amp; Contrast</a:t>
            </a: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783080" y="2194560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Differentiate prompt tuning and fine-tuning. Address: what is updated, how much data is needed, and the cost trade-off.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227832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41071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8720C"/>
          </a:solidFill>
        </p:spPr>
      </p:sp>
      <p:sp>
        <p:nvSpPr>
          <p:cNvPr id="14" name="Text 12"/>
          <p:cNvSpPr/>
          <p:nvPr/>
        </p:nvSpPr>
        <p:spPr>
          <a:xfrm>
            <a:off x="777240" y="3410712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Q2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83080" y="3364992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Define &amp; Justify</a:t>
            </a: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783080" y="3730752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are adapters? Why are they described as “parameter-efficient”? Name one common adapter method.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764024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3F5"/>
            </a:solidFill>
            <a:prstDash val="solid"/>
          </a:ln>
          <a:effectLst>
            <a:outerShdw blurRad="76200" dist="25400" dir="5400000" algn="bl" rotWithShape="0">
              <a:srgbClr val="1B234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4946904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E8720C"/>
          </a:solidFill>
        </p:spPr>
      </p:sp>
      <p:sp>
        <p:nvSpPr>
          <p:cNvPr id="19" name="Text 17"/>
          <p:cNvSpPr/>
          <p:nvPr/>
        </p:nvSpPr>
        <p:spPr>
          <a:xfrm>
            <a:off x="777240" y="4946904"/>
            <a:ext cx="8229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Q3</a:t>
            </a:r>
            <a:endParaRPr lang="en-US" sz="24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783080" y="4901184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Applied Scenario</a:t>
            </a:r>
            <a:endParaRPr lang="en-US" sz="2400" b="1" dirty="0">
              <a:solidFill>
                <a:srgbClr val="1E2761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783080" y="5266944"/>
            <a:ext cx="9601200" cy="777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7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team has 300 labeled examples and access to a frozen, hosted LLM API with no fine-tuning option. Which approach should they use, and why?</a:t>
            </a:r>
            <a:endParaRPr lang="en-US" sz="2000" dirty="0">
              <a:solidFill>
                <a:srgbClr val="37406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30000" y="6528816"/>
            <a:ext cx="274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6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22960" y="1188720"/>
            <a:ext cx="9144000" cy="81153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Before Next Session</a:t>
            </a:r>
            <a:endParaRPr lang="en-US" sz="4800" b="1" dirty="0">
              <a:solidFill>
                <a:srgbClr val="FFFFF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760720" cy="4485640"/>
          </a:xfrm>
          <a:prstGeom prst="roundRect">
            <a:avLst>
              <a:gd name="adj" fmla="val 2927"/>
            </a:avLst>
          </a:prstGeom>
          <a:solidFill>
            <a:srgbClr val="141A3D"/>
          </a:solidFill>
        </p:spPr>
      </p:sp>
      <p:sp>
        <p:nvSpPr>
          <p:cNvPr id="6" name="Text 4"/>
          <p:cNvSpPr/>
          <p:nvPr/>
        </p:nvSpPr>
        <p:spPr>
          <a:xfrm>
            <a:off x="1097280" y="2286000"/>
            <a:ext cx="5212080" cy="4635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720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Homework</a:t>
            </a:r>
            <a:endParaRPr lang="en-US" sz="2800" b="1" dirty="0">
              <a:solidFill>
                <a:srgbClr val="E8720C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5212080" cy="37115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</a:t>
            </a: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Pick one of the 3 class scenarios and write a one-paragraph justification for your chosen approach.
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</a:t>
            </a: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Sketch a conceptual soft-prompt sequence (e.g. [v₁...v₁₀]) for a task of your choice — no need to compute real values.
</a:t>
            </a:r>
            <a:endParaRPr lang="en-US" sz="20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</a:t>
            </a:r>
            <a:r>
              <a:rPr lang="en-US" sz="20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one short summary of LoRA (Hu et al., 2021) before next class.</a:t>
            </a:r>
            <a:endParaRPr lang="en-US" sz="2000" dirty="0">
              <a:solidFill>
                <a:srgbClr val="CADCFC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0" y="6529070"/>
            <a:ext cx="274320" cy="32448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7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600" dirty="0">
              <a:solidFill>
                <a:srgbClr val="6B72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2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3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4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5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6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7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8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9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0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1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2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3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4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5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6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7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8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19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20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ags/tag21.xml><?xml version="1.0" encoding="utf-8"?>
<p:tagLst xmlns:p="http://schemas.openxmlformats.org/presentationml/2006/main">
  <p:tag name="KSO_WM_DIAGRAM_VIRTUALLY_FRAME" val="{&quot;height&quot;:327.6,&quot;left&quot;:43.2,&quot;top&quot;:129.6,&quot;width&quot;:88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6031</Words>
  <Application>WPS Presentation</Application>
  <PresentationFormat>On-screen Show (16:9)</PresentationFormat>
  <Paragraphs>347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Calibri</vt:lpstr>
      <vt:lpstr>Calibri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sunst</cp:lastModifiedBy>
  <cp:revision>4</cp:revision>
  <dcterms:created xsi:type="dcterms:W3CDTF">2026-09-23T21:38:00Z</dcterms:created>
  <dcterms:modified xsi:type="dcterms:W3CDTF">2026-09-25T09:21:38Z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6CB41A9FE84D4D34BBD4ABAAFE6D6842_12</vt:lpwstr>
  </property>
  <property fmtid="{D5CDD505-2E9C-101B-9397-08002B2CF9AE}" pid="3" name="KSOProductBuildVer">
    <vt:lpwstr>2057-12.2.0.23206</vt:lpwstr>
  </property>
</Properties>
</file>