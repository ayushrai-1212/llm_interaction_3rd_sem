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Self-Eval, Validation &amp; Classification</a:t>
            </a:r>
            <a:endParaRPr lang="en-US" sz="5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5" name="Image 0" descr="/home/claude/build/icons/checkcirc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9483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379476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Getting the model to check itself, and you to check the model</a:t>
            </a:r>
            <a:endParaRPr lang="en-US" sz="24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Tools Down, Onward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07899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recap before we check the model's own work.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02920" y="1874520"/>
            <a:ext cx="2395728" cy="192024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380744" y="2167128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/home/claude/build/icons/checkcircle_orang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4363" y="232074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>
            <p:custDataLst>
              <p:tags r:id="rId5"/>
            </p:custDataLst>
          </p:nvPr>
        </p:nvSpPr>
        <p:spPr>
          <a:xfrm>
            <a:off x="640080" y="2953512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Prompting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 txBox="1"/>
          <p:nvPr>
            <p:custDataLst>
              <p:tags r:id="rId6"/>
            </p:custDataLst>
          </p:nvPr>
        </p:nvSpPr>
        <p:spPr>
          <a:xfrm>
            <a:off x="640080" y="341071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DONE</a:t>
            </a:r>
            <a:endParaRPr lang="en-US" sz="1600" b="1" kern="0" spc="1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3154680" y="1874520"/>
            <a:ext cx="2395728" cy="192024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032504" y="2167128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/home/claude/build/icons/checkcircle_orange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86123" y="232074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>
            <p:custDataLst>
              <p:tags r:id="rId10"/>
            </p:custDataLst>
          </p:nvPr>
        </p:nvSpPr>
        <p:spPr>
          <a:xfrm>
            <a:off x="3154680" y="2894965"/>
            <a:ext cx="26523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Avoiding Hallucination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9"/>
          <p:cNvSpPr txBox="1"/>
          <p:nvPr>
            <p:custDataLst>
              <p:tags r:id="rId11"/>
            </p:custDataLst>
          </p:nvPr>
        </p:nvSpPr>
        <p:spPr>
          <a:xfrm>
            <a:off x="3291840" y="341071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DONE</a:t>
            </a:r>
            <a:endParaRPr lang="en-US" sz="1600" b="1" kern="0" spc="1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12"/>
            </p:custDataLst>
          </p:nvPr>
        </p:nvSpPr>
        <p:spPr>
          <a:xfrm>
            <a:off x="5806440" y="1874520"/>
            <a:ext cx="2395728" cy="192024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6684264" y="2167128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/home/claude/build/icons/checkcircle_oran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37883" y="232074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>
            <p:custDataLst>
              <p:tags r:id="rId15"/>
            </p:custDataLst>
          </p:nvPr>
        </p:nvSpPr>
        <p:spPr>
          <a:xfrm>
            <a:off x="5943600" y="2953512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Thinking Time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3"/>
          <p:cNvSpPr txBox="1"/>
          <p:nvPr>
            <p:custDataLst>
              <p:tags r:id="rId16"/>
            </p:custDataLst>
          </p:nvPr>
        </p:nvSpPr>
        <p:spPr>
          <a:xfrm>
            <a:off x="5943600" y="341071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DONE</a:t>
            </a:r>
            <a:endParaRPr lang="en-US" sz="1600" b="1" kern="0" spc="1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4"/>
          <p:cNvSpPr/>
          <p:nvPr>
            <p:custDataLst>
              <p:tags r:id="rId17"/>
            </p:custDataLst>
          </p:nvPr>
        </p:nvSpPr>
        <p:spPr>
          <a:xfrm>
            <a:off x="8458200" y="1874520"/>
            <a:ext cx="2395728" cy="192024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Shape 15"/>
          <p:cNvSpPr/>
          <p:nvPr>
            <p:custDataLst>
              <p:tags r:id="rId18"/>
            </p:custDataLst>
          </p:nvPr>
        </p:nvSpPr>
        <p:spPr>
          <a:xfrm>
            <a:off x="9336024" y="2167128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/home/claude/build/icons/checkcircle_orange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89643" y="232074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>
            <p:custDataLst>
              <p:tags r:id="rId20"/>
            </p:custDataLst>
          </p:nvPr>
        </p:nvSpPr>
        <p:spPr>
          <a:xfrm>
            <a:off x="8595360" y="2953512"/>
            <a:ext cx="21214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Inner Monologue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17"/>
          <p:cNvSpPr txBox="1"/>
          <p:nvPr>
            <p:custDataLst>
              <p:tags r:id="rId21"/>
            </p:custDataLst>
          </p:nvPr>
        </p:nvSpPr>
        <p:spPr>
          <a:xfrm>
            <a:off x="8595360" y="341071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DONE</a:t>
            </a:r>
            <a:endParaRPr lang="en-US" sz="1600" b="1" kern="0" spc="1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502920" y="416052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time you separated reasoning from the answer. Today the model checks its own answer before you ever see it.</a:t>
            </a:r>
            <a:endParaRPr lang="en-US" sz="2400" i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5"/>
          <p:cNvSpPr txBox="1"/>
          <p:nvPr/>
        </p:nvSpPr>
        <p:spPr>
          <a:xfrm>
            <a:off x="206375" y="1454150"/>
            <a:ext cx="11779250" cy="5008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Q1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a Python instructor teaching beginners. Explain loops with simple examples.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Q2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Answer using only the information provided. If information is missing, say "Insufficient information."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not guess.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Q3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Analyze the problem carefully. Consider the constraints and possible solutions before giving your recommendation.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Q4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GB" sz="2400" i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Solve the problem, verify the calculation and then provide the final answer with a brief explanation.</a:t>
            </a: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endParaRPr lang="en-US" altLang="en-GB" sz="2400" i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Practice Question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GPT Tactics · 4 of 4: Self-Eval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100584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the model answers, ask it to verify its own work — ideally by re-deriving the answer a different way — before finalizing.</a:t>
            </a:r>
            <a:endParaRPr lang="en-US" sz="24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10607040" cy="2606040"/>
          </a:xfrm>
          <a:prstGeom prst="roundRect">
            <a:avLst>
              <a:gd name="adj" fmla="val 2807"/>
            </a:avLst>
          </a:prstGeom>
          <a:solidFill>
            <a:srgbClr val="1B2A4A"/>
          </a:solidFill>
        </p:spPr>
      </p:sp>
      <p:sp>
        <p:nvSpPr>
          <p:cNvPr id="6" name="Text 4"/>
          <p:cNvSpPr txBox="1"/>
          <p:nvPr/>
        </p:nvSpPr>
        <p:spPr>
          <a:xfrm>
            <a:off x="822960" y="3474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2000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"Solve the problem. Then, in a &lt;check&gt; block, re-solve it using a different method. If the two disagree, flag it and give the corrected final answer."</a:t>
            </a:r>
            <a:endParaRPr lang="en-US" sz="3200" i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Self-Eval: What It Catches</a:t>
            </a:r>
            <a:endParaRPr lang="en-US" sz="48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5120640" cy="3063240"/>
          </a:xfrm>
          <a:prstGeom prst="roundRect">
            <a:avLst>
              <a:gd name="adj" fmla="val 2388"/>
            </a:avLst>
          </a:prstGeom>
          <a:solidFill>
            <a:srgbClr val="F2A65A"/>
          </a:solidFill>
        </p:spPr>
      </p:sp>
      <p:sp>
        <p:nvSpPr>
          <p:cNvPr id="4" name="Text 2"/>
          <p:cNvSpPr txBox="1"/>
          <p:nvPr/>
        </p:nvSpPr>
        <p:spPr>
          <a:xfrm>
            <a:off x="822960" y="1856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</a:t>
            </a:r>
            <a:endParaRPr lang="en-US" sz="2400" b="1" kern="0" spc="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Arithmetic slips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Missed constraints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Contradicted instructions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20640" cy="3063240"/>
          </a:xfrm>
          <a:prstGeom prst="roundRect">
            <a:avLst>
              <a:gd name="adj" fmla="val 2388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856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DOESN'T CATCH</a:t>
            </a:r>
            <a:endParaRPr lang="en-US" sz="2400" b="1" kern="0" spc="2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309360" y="237744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Confidently wrong facts the model believes on both passes — rationalization, not verification.</a:t>
            </a:r>
            <a:endParaRPr lang="en-US" sz="28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02920" y="48920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"Have you seen a model agree with its own mistake?"</a:t>
            </a:r>
            <a:endParaRPr lang="en-US" sz="2400" i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Evaluating &amp; Validating Outputs</a:t>
            </a:r>
            <a:endParaRPr lang="en-US" sz="40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248537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practical checklist to run before you trust an output.</a:t>
            </a:r>
            <a:endParaRPr lang="en-US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0607040" cy="704088"/>
          </a:xfrm>
          <a:prstGeom prst="roundRect">
            <a:avLst>
              <a:gd name="adj" fmla="val 10390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053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/home/claude/build/icons/checkcircle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2093427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9418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Did it follow the requested format?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2743200"/>
            <a:ext cx="10607040" cy="704088"/>
          </a:xfrm>
          <a:prstGeom prst="roundRect">
            <a:avLst>
              <a:gd name="adj" fmla="val 10390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83921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/home/claude/build/icons/checkcircle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2962107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743200"/>
            <a:ext cx="9418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it grounded — free of invented facts?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02920" y="3611880"/>
            <a:ext cx="10607040" cy="704088"/>
          </a:xfrm>
          <a:prstGeom prst="roundRect">
            <a:avLst>
              <a:gd name="adj" fmla="val 10390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70789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4" name="Image 2" descr="/home/claude/build/icons/checkcircle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3830787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611880"/>
            <a:ext cx="9418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it complete — nothing silently dropped?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02920" y="4480560"/>
            <a:ext cx="10607040" cy="704088"/>
          </a:xfrm>
          <a:prstGeom prst="roundRect">
            <a:avLst>
              <a:gd name="adj" fmla="val 10390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3232" y="457657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8" name="Image 3" descr="/home/claude/build/icons/checkcircle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469946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480560"/>
            <a:ext cx="9418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it consistent if you run it again?</a:t>
            </a:r>
            <a:endParaRPr lang="en-US" sz="20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Same Prompt, Three Runs</a:t>
            </a:r>
            <a:endParaRPr lang="en-US" sz="48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380617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— check consistency as a group.</a:t>
            </a:r>
            <a:endParaRPr lang="en-US" sz="24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24365F"/>
          </a:solidFill>
        </p:spPr>
      </p:sp>
      <p:sp>
        <p:nvSpPr>
          <p:cNvPr id="5" name="Text 3"/>
          <p:cNvSpPr txBox="1"/>
          <p:nvPr/>
        </p:nvSpPr>
        <p:spPr>
          <a:xfrm>
            <a:off x="502920" y="22860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1</a:t>
            </a:r>
            <a:endParaRPr lang="en-US" sz="2800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6" name="Image 0" descr="/home/claude/build/icons/random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8803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6576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vs. Slide 6 checklist</a:t>
            </a: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069080" y="19659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24365F"/>
          </a:solidFill>
        </p:spPr>
      </p:sp>
      <p:sp>
        <p:nvSpPr>
          <p:cNvPr id="9" name="Text 6"/>
          <p:cNvSpPr txBox="1"/>
          <p:nvPr/>
        </p:nvSpPr>
        <p:spPr>
          <a:xfrm>
            <a:off x="4069080" y="22860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2</a:t>
            </a:r>
            <a:endParaRPr lang="en-US" sz="2800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0" name="Image 1" descr="/home/claude/build/icons/random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0660" y="2880360"/>
            <a:ext cx="822960" cy="8229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36576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vs. Slide 6 checklist</a:t>
            </a: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635240" y="19659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24365F"/>
          </a:solidFill>
        </p:spPr>
      </p:sp>
      <p:sp>
        <p:nvSpPr>
          <p:cNvPr id="13" name="Text 9"/>
          <p:cNvSpPr txBox="1"/>
          <p:nvPr/>
        </p:nvSpPr>
        <p:spPr>
          <a:xfrm>
            <a:off x="7635240" y="22860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3</a:t>
            </a:r>
            <a:endParaRPr lang="en-US" sz="2800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4" name="Image 2" descr="/home/claude/build/icons/random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880360"/>
            <a:ext cx="822960" cy="8229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18120" y="36576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vs. Slide 6 checklist</a:t>
            </a: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502920" y="46177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Consistency is a validation question, not just a temperature question.</a:t>
            </a:r>
            <a:endParaRPr lang="en-US" sz="2800" i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94360" cy="59436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3" name="Image 0" descr="/home/claude/build/icons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" y="526694"/>
            <a:ext cx="309067" cy="309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Activity: Self-Eval + Validate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548640" cy="54864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6" name="Text 3"/>
          <p:cNvSpPr txBox="1"/>
          <p:nvPr/>
        </p:nvSpPr>
        <p:spPr>
          <a:xfrm>
            <a:off x="50292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3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234440" y="164592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 a role-prompted or grounded prompt from your Session 6 homework.</a:t>
            </a:r>
            <a:endParaRPr lang="en-US" sz="28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2743200"/>
            <a:ext cx="548640" cy="54864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9" name="Text 6"/>
          <p:cNvSpPr txBox="1"/>
          <p:nvPr/>
        </p:nvSpPr>
        <p:spPr>
          <a:xfrm>
            <a:off x="502920" y="2743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3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234440" y="269748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self-eval instruction to it.</a:t>
            </a:r>
            <a:endParaRPr lang="en-US" sz="28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548640" cy="54864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2" name="Text 9"/>
          <p:cNvSpPr txBox="1"/>
          <p:nvPr/>
        </p:nvSpPr>
        <p:spPr>
          <a:xfrm>
            <a:off x="502920" y="3794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34440" y="374904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it, then validate the output against today's checklist.</a:t>
            </a:r>
            <a:endParaRPr lang="en-US" sz="28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4846320"/>
            <a:ext cx="548640" cy="54864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5" name="Text 12"/>
          <p:cNvSpPr txBox="1"/>
          <p:nvPr/>
        </p:nvSpPr>
        <p:spPr>
          <a:xfrm>
            <a:off x="502920" y="4846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234440" y="480060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 ready to share one thing self-eval caught — or missed.</a:t>
            </a:r>
            <a:endParaRPr lang="en-US" sz="28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an LLM as a Classifier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Natural-language prompting to sort inputs into a fixed set of categories.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1B2A4A"/>
          </a:solidFill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2000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566928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"Classify this ticket into exactly one of: billing, technical, general. Respond with only the category name, nothing else."</a:t>
            </a:r>
            <a:endParaRPr lang="en-US" sz="2800" i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95160" y="16916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E2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2000" b="1" kern="0" spc="2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0" y="2423160"/>
            <a:ext cx="3474720" cy="640080"/>
          </a:xfrm>
          <a:prstGeom prst="roundRect">
            <a:avLst>
              <a:gd name="adj" fmla="val 50000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24231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billing</a:t>
            </a:r>
            <a:endParaRPr lang="en-US" sz="28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the Output Format Matters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2A65A"/>
          </a:solidFill>
        </p:spPr>
      </p:sp>
      <p:sp>
        <p:nvSpPr>
          <p:cNvPr id="4" name="Text 2"/>
          <p:cNvSpPr txBox="1"/>
          <p:nvPr/>
        </p:nvSpPr>
        <p:spPr>
          <a:xfrm>
            <a:off x="822960" y="1856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WHEN</a:t>
            </a:r>
            <a:endParaRPr lang="en-US" sz="2000" b="1" kern="0" spc="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Downstream code parses the result automatically.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89320" y="16002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56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WHEN</a:t>
            </a:r>
            <a:endParaRPr lang="en-US" sz="2000" b="1" kern="0" spc="200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37744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adds explanation, hedges, or invents a new label outside your set.</a:t>
            </a:r>
            <a:endParaRPr lang="en-US" sz="28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2920" y="47091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"Right now you're telling it the categories cold. Next session: what changes if you show it a few labeled examples first?"</a:t>
            </a:r>
            <a:endParaRPr lang="en-US" sz="2000" i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Meta-Prompting: Prompts About Prompts</a:t>
            </a:r>
            <a:endParaRPr lang="en-US" sz="44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7170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an LLM to critique or rewrite a prompt.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344420"/>
            <a:ext cx="10607040" cy="2377440"/>
          </a:xfrm>
          <a:prstGeom prst="roundRect">
            <a:avLst>
              <a:gd name="adj" fmla="val 3077"/>
            </a:avLst>
          </a:prstGeom>
          <a:solidFill>
            <a:srgbClr val="1B2A4A"/>
          </a:solidFill>
        </p:spPr>
      </p:sp>
      <p:sp>
        <p:nvSpPr>
          <p:cNvPr id="5" name="Text 3"/>
          <p:cNvSpPr txBox="1"/>
          <p:nvPr/>
        </p:nvSpPr>
        <p:spPr>
          <a:xfrm>
            <a:off x="822960" y="256413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2000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76275" y="3088005"/>
            <a:ext cx="987552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"Here's a prompt I wrote: '[Your prompt]'. Identify anything ambiguous or missing, then rewrite it to be clearer."</a:t>
            </a:r>
            <a:endParaRPr lang="en-US" sz="2800" i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02920" y="48920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seed of the CLEAR framework's iterative refinement in Module 3.</a:t>
            </a:r>
            <a:endParaRPr lang="en-US" sz="2000" i="1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More Tools In Your Kit</a:t>
            </a:r>
            <a:endParaRPr lang="en-US" sz="4800" b="1" dirty="0">
              <a:solidFill>
                <a:srgbClr val="1B2A4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" name="Image 0" descr="/home/claude/build/icons/checkcircle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9280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Self-Eval</a:t>
            </a:r>
            <a:endParaRPr lang="en-US" sz="28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508760" y="2313432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before finalizing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8932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21031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/home/claude/build/icons/clipboardlist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314" y="22347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5160" y="189280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Checklist</a:t>
            </a:r>
            <a:endParaRPr lang="en-US" sz="28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995160" y="2313432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Format, grounding, completeness, consistency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2920" y="3337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/home/claude/build/icons/filter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8807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53872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Prompting</a:t>
            </a:r>
            <a:endParaRPr lang="en-US" sz="28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508760" y="3959352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labels, constrained output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989320" y="3337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63640" y="374904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3" descr="/home/claude/build/icons/messagecircl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314" y="38807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353872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Meta-Prompting</a:t>
            </a:r>
            <a:endParaRPr lang="en-US" sz="28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6995160" y="3959352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Prompts that improve prompts</a:t>
            </a:r>
            <a:endParaRPr lang="en-US" sz="2000" dirty="0">
              <a:solidFill>
                <a:srgbClr val="6B769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02920" y="5806440"/>
            <a:ext cx="10607040" cy="594360"/>
          </a:xfrm>
          <a:prstGeom prst="roundRect">
            <a:avLst>
              <a:gd name="adj" fmla="val 15385"/>
            </a:avLst>
          </a:prstGeom>
          <a:solidFill>
            <a:srgbClr val="F2A65A"/>
          </a:solidFill>
        </p:spPr>
      </p:sp>
      <p:sp>
        <p:nvSpPr>
          <p:cNvPr id="24" name="Text 18"/>
          <p:cNvSpPr txBox="1"/>
          <p:nvPr/>
        </p:nvSpPr>
        <p:spPr>
          <a:xfrm>
            <a:off x="502920" y="580644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COMING NEXT SESSION:  Zero-shot vs. Few-shot Prompting</a:t>
            </a:r>
            <a:endParaRPr lang="en-US" sz="2400" b="1" kern="0" spc="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3" name="Image 0" descr="/home/claude/build/icons/bolt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7936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5544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Bring one classification prompt of your own.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22960" y="283464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routing, review sentiment — anything. You'll test it zero-shot first thing next class, before adding examples.</a:t>
            </a:r>
            <a:endParaRPr lang="en-US" sz="28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10149840" cy="1737360"/>
          </a:xfrm>
          <a:prstGeom prst="roundRect">
            <a:avLst>
              <a:gd name="adj" fmla="val 4211"/>
            </a:avLst>
          </a:prstGeom>
          <a:solidFill>
            <a:srgbClr val="24365F"/>
          </a:solidFill>
        </p:spPr>
      </p:sp>
      <p:sp>
        <p:nvSpPr>
          <p:cNvPr id="7" name="Text 4"/>
          <p:cNvSpPr txBox="1"/>
          <p:nvPr/>
        </p:nvSpPr>
        <p:spPr>
          <a:xfrm>
            <a:off x="109728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2A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QUESTION</a:t>
            </a:r>
            <a:endParaRPr lang="en-US" b="1" kern="0" spc="200" dirty="0">
              <a:solidFill>
                <a:srgbClr val="F2A6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97280" y="4389120"/>
            <a:ext cx="9509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"In one sentence, what's the difference between asking the model to self-evaluate and you validating its output?"</a:t>
            </a:r>
            <a:endParaRPr lang="en-US" sz="2800" i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2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3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4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5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6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7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8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9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0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1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2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3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4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5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6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7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8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19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ags/tag20.xml><?xml version="1.0" encoding="utf-8"?>
<p:tagLst xmlns:p="http://schemas.openxmlformats.org/presentationml/2006/main">
  <p:tag name="KSO_WM_DIAGRAM_VIRTUALLY_FRAME" val="{&quot;height&quot;:151.2,&quot;left&quot;:39.6,&quot;top&quot;:147.6,&quot;width&quot;:815.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3484</Words>
  <Application>WPS Presentation</Application>
  <PresentationFormat>On-screen Show (16:9)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sunst</cp:lastModifiedBy>
  <cp:revision>2</cp:revision>
  <dcterms:created xsi:type="dcterms:W3CDTF">2026-09-09T12:32:00Z</dcterms:created>
  <dcterms:modified xsi:type="dcterms:W3CDTF">2026-09-11T03:01:13Z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2752D6E6D6814B85B08B29745FEADF3C_12</vt:lpwstr>
  </property>
  <property fmtid="{D5CDD505-2E9C-101B-9397-08002B2CF9AE}" pid="3" name="KSOProductBuildVer">
    <vt:lpwstr>2057-12.2.0.23206</vt:lpwstr>
  </property>
</Properties>
</file>