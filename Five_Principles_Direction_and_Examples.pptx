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y="6858000" cx="12161838"/>
  <p:notesSz cx="6858000" cy="12161838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88" y="7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3"/>
          <p:cNvSpPr/>
          <p:nvPr/>
        </p:nvSpPr>
        <p:spPr>
          <a:xfrm>
            <a:off x="777240" y="1874520"/>
            <a:ext cx="9601200" cy="11887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5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 of Asking Well</a:t>
            </a:r>
            <a:endParaRPr dirty="0" sz="5400" lang="en-US"/>
          </a:p>
        </p:txBody>
      </p:sp>
      <p:sp>
        <p:nvSpPr>
          <p:cNvPr id="1048577" name="Text 4"/>
          <p:cNvSpPr/>
          <p:nvPr/>
        </p:nvSpPr>
        <p:spPr>
          <a:xfrm>
            <a:off x="822960" y="2971800"/>
            <a:ext cx="86868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Principles &amp; Techniques</a:t>
            </a:r>
            <a:endParaRPr dirty="0" sz="2800" lang="en-US"/>
          </a:p>
        </p:txBody>
      </p:sp>
      <p:sp>
        <p:nvSpPr>
          <p:cNvPr id="1048578" name="Shape 5"/>
          <p:cNvSpPr/>
          <p:nvPr/>
        </p:nvSpPr>
        <p:spPr>
          <a:xfrm>
            <a:off x="822960" y="3977640"/>
            <a:ext cx="640080" cy="640080"/>
          </a:xfrm>
          <a:prstGeom prst="ellipse"/>
          <a:solidFill>
            <a:srgbClr val="F2A65A"/>
          </a:solidFill>
        </p:spPr>
      </p:sp>
      <p:pic>
        <p:nvPicPr>
          <p:cNvPr id="2097152" name="Image 0" descr="/home/claude/pptx/icons/targe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6579" y="4131259"/>
            <a:ext cx="332842" cy="332842"/>
          </a:xfrm>
          <a:prstGeom prst="rect"/>
        </p:spPr>
      </p:pic>
      <p:sp>
        <p:nvSpPr>
          <p:cNvPr id="1048579" name="Text 6"/>
          <p:cNvSpPr/>
          <p:nvPr/>
        </p:nvSpPr>
        <p:spPr>
          <a:xfrm>
            <a:off x="1645920" y="4041648"/>
            <a:ext cx="731520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Principles that turn a vague ask into a great output</a:t>
            </a:r>
            <a:endParaRPr dirty="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ext 1"/>
          <p:cNvSpPr/>
          <p:nvPr/>
        </p:nvSpPr>
        <p:spPr>
          <a:xfrm>
            <a:off x="502920" y="777240"/>
            <a:ext cx="10058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4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A: A Prompt Gone Wrong</a:t>
            </a:r>
            <a:endParaRPr dirty="0" sz="4400" lang="en-US"/>
          </a:p>
        </p:txBody>
      </p:sp>
      <p:sp>
        <p:nvSpPr>
          <p:cNvPr id="1048584" name="Shape 2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B2A4A"/>
          </a:solidFill>
        </p:spPr>
      </p:sp>
      <p:sp>
        <p:nvSpPr>
          <p:cNvPr id="1048585" name="Text 3"/>
          <p:cNvSpPr/>
          <p:nvPr/>
        </p:nvSpPr>
        <p:spPr>
          <a:xfrm>
            <a:off x="914400" y="2011680"/>
            <a:ext cx="44805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2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dirty="0" sz="1400" lang="en-US"/>
          </a:p>
        </p:txBody>
      </p:sp>
      <p:sp>
        <p:nvSpPr>
          <p:cNvPr id="1048586" name="Shape 4"/>
          <p:cNvSpPr/>
          <p:nvPr/>
        </p:nvSpPr>
        <p:spPr>
          <a:xfrm>
            <a:off x="914400" y="242316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24365F"/>
          </a:solidFill>
        </p:spPr>
      </p:sp>
      <p:sp>
        <p:nvSpPr>
          <p:cNvPr id="1048587" name="Text 5"/>
          <p:cNvSpPr/>
          <p:nvPr/>
        </p:nvSpPr>
        <p:spPr>
          <a:xfrm>
            <a:off x="1097280" y="2423160"/>
            <a:ext cx="411480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400" i="1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about India."</a:t>
            </a:r>
            <a:endParaRPr dirty="0" sz="2400" lang="en-US"/>
          </a:p>
        </p:txBody>
      </p:sp>
      <p:sp>
        <p:nvSpPr>
          <p:cNvPr id="1048588" name="Text 6"/>
          <p:cNvSpPr/>
          <p:nvPr/>
        </p:nvSpPr>
        <p:spPr>
          <a:xfrm>
            <a:off x="914400" y="3703320"/>
            <a:ext cx="44805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2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GOT BACK</a:t>
            </a:r>
            <a:endParaRPr dirty="0" sz="1400" lang="en-US"/>
          </a:p>
        </p:txBody>
      </p:sp>
      <p:sp>
        <p:nvSpPr>
          <p:cNvPr id="1048589" name="Text 7"/>
          <p:cNvSpPr/>
          <p:nvPr/>
        </p:nvSpPr>
        <p:spPr>
          <a:xfrm>
            <a:off x="914400" y="4023360"/>
            <a:ext cx="4480560" cy="173736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generic, rambling 400-word essay covering geography, history, culture, and food — none of it useful, none of it what anyone actually needed.</a:t>
            </a:r>
            <a:endParaRPr dirty="0" sz="1600" lang="en-US"/>
          </a:p>
        </p:txBody>
      </p:sp>
      <p:sp>
        <p:nvSpPr>
          <p:cNvPr id="1048590" name="Shape 8"/>
          <p:cNvSpPr/>
          <p:nvPr/>
        </p:nvSpPr>
        <p:spPr>
          <a:xfrm>
            <a:off x="6080760" y="3383280"/>
            <a:ext cx="822960" cy="822960"/>
          </a:xfrm>
          <a:prstGeom prst="ellipse"/>
          <a:solidFill>
            <a:srgbClr val="F2A65A"/>
          </a:solidFill>
        </p:spPr>
      </p:sp>
      <p:pic>
        <p:nvPicPr>
          <p:cNvPr id="2097153" name="Image 0" descr="/home/claude/pptx/icons/alert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278270" y="3580790"/>
            <a:ext cx="427939" cy="427939"/>
          </a:xfrm>
          <a:prstGeom prst="rect"/>
        </p:spPr>
      </p:pic>
      <p:sp>
        <p:nvSpPr>
          <p:cNvPr id="1048591" name="Shape 9"/>
          <p:cNvSpPr/>
          <p:nvPr/>
        </p:nvSpPr>
        <p:spPr>
          <a:xfrm>
            <a:off x="7178040" y="1783080"/>
            <a:ext cx="44348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592" name="Text 10"/>
          <p:cNvSpPr/>
          <p:nvPr/>
        </p:nvSpPr>
        <p:spPr>
          <a:xfrm>
            <a:off x="7498080" y="2103120"/>
            <a:ext cx="38404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SO... WHAT WENT WRONG?</a:t>
            </a:r>
            <a:endParaRPr dirty="0" lang="en-US"/>
          </a:p>
        </p:txBody>
      </p:sp>
      <p:sp>
        <p:nvSpPr>
          <p:cNvPr id="1048593" name="Shape 11"/>
          <p:cNvSpPr/>
          <p:nvPr/>
        </p:nvSpPr>
        <p:spPr>
          <a:xfrm>
            <a:off x="7498080" y="2798064"/>
            <a:ext cx="146304" cy="146304"/>
          </a:xfrm>
          <a:prstGeom prst="ellipse"/>
          <a:solidFill>
            <a:srgbClr val="F2A65A"/>
          </a:solidFill>
        </p:spPr>
      </p:sp>
      <p:sp>
        <p:nvSpPr>
          <p:cNvPr id="1048594" name="Text 12"/>
          <p:cNvSpPr/>
          <p:nvPr/>
        </p:nvSpPr>
        <p:spPr>
          <a:xfrm>
            <a:off x="7772400" y="2606040"/>
            <a:ext cx="365760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 specified</a:t>
            </a:r>
            <a:endParaRPr dirty="0" sz="1600" lang="en-US"/>
          </a:p>
        </p:txBody>
      </p:sp>
      <p:sp>
        <p:nvSpPr>
          <p:cNvPr id="1048595" name="Shape 13"/>
          <p:cNvSpPr/>
          <p:nvPr/>
        </p:nvSpPr>
        <p:spPr>
          <a:xfrm>
            <a:off x="7498080" y="3364992"/>
            <a:ext cx="146304" cy="146304"/>
          </a:xfrm>
          <a:prstGeom prst="ellipse"/>
          <a:solidFill>
            <a:srgbClr val="F2A65A"/>
          </a:solidFill>
        </p:spPr>
      </p:sp>
      <p:sp>
        <p:nvSpPr>
          <p:cNvPr id="1048596" name="Text 14"/>
          <p:cNvSpPr/>
          <p:nvPr/>
        </p:nvSpPr>
        <p:spPr>
          <a:xfrm>
            <a:off x="7772400" y="3172968"/>
            <a:ext cx="365760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length or format</a:t>
            </a:r>
            <a:endParaRPr dirty="0" sz="1600" lang="en-US"/>
          </a:p>
        </p:txBody>
      </p:sp>
      <p:sp>
        <p:nvSpPr>
          <p:cNvPr id="1048597" name="Shape 15"/>
          <p:cNvSpPr/>
          <p:nvPr/>
        </p:nvSpPr>
        <p:spPr>
          <a:xfrm>
            <a:off x="7498080" y="3931920"/>
            <a:ext cx="146304" cy="146304"/>
          </a:xfrm>
          <a:prstGeom prst="ellipse"/>
          <a:solidFill>
            <a:srgbClr val="F2A65A"/>
          </a:solidFill>
        </p:spPr>
      </p:sp>
      <p:sp>
        <p:nvSpPr>
          <p:cNvPr id="1048598" name="Text 16"/>
          <p:cNvSpPr/>
          <p:nvPr/>
        </p:nvSpPr>
        <p:spPr>
          <a:xfrm>
            <a:off x="7772400" y="3739896"/>
            <a:ext cx="365760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purpose or angle</a:t>
            </a:r>
            <a:endParaRPr dirty="0" sz="1600" lang="en-US"/>
          </a:p>
        </p:txBody>
      </p:sp>
      <p:sp>
        <p:nvSpPr>
          <p:cNvPr id="1048599" name="Shape 17"/>
          <p:cNvSpPr/>
          <p:nvPr/>
        </p:nvSpPr>
        <p:spPr>
          <a:xfrm>
            <a:off x="7498080" y="4498848"/>
            <a:ext cx="146304" cy="146304"/>
          </a:xfrm>
          <a:prstGeom prst="ellipse"/>
          <a:solidFill>
            <a:srgbClr val="F2A65A"/>
          </a:solidFill>
        </p:spPr>
      </p:sp>
      <p:sp>
        <p:nvSpPr>
          <p:cNvPr id="1048600" name="Text 18"/>
          <p:cNvSpPr/>
          <p:nvPr/>
        </p:nvSpPr>
        <p:spPr>
          <a:xfrm>
            <a:off x="7772400" y="4306824"/>
            <a:ext cx="365760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had to guess everything</a:t>
            </a:r>
            <a:endParaRPr dirty="0" sz="1600" lang="en-US"/>
          </a:p>
        </p:txBody>
      </p:sp>
      <p:sp>
        <p:nvSpPr>
          <p:cNvPr id="1048601" name="Text 19"/>
          <p:cNvSpPr/>
          <p:nvPr/>
        </p:nvSpPr>
        <p:spPr>
          <a:xfrm>
            <a:off x="7498080" y="5212080"/>
            <a:ext cx="393192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i="1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today fixes.</a:t>
            </a:r>
            <a:endParaRPr dirty="0" sz="1600" lang="en-US"/>
          </a:p>
        </p:txBody>
      </p:sp>
      <p:sp>
        <p:nvSpPr>
          <p:cNvPr id="1048602" name="Text 21"/>
          <p:cNvSpPr/>
          <p:nvPr/>
        </p:nvSpPr>
        <p:spPr>
          <a:xfrm>
            <a:off x="11338560" y="653796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2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2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ext 1"/>
          <p:cNvSpPr/>
          <p:nvPr/>
        </p:nvSpPr>
        <p:spPr>
          <a:xfrm>
            <a:off x="502920" y="822960"/>
            <a:ext cx="1078992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Is a Genie With Zero Imagination</a:t>
            </a:r>
            <a:endParaRPr dirty="0" sz="4400" lang="en-US"/>
          </a:p>
        </p:txBody>
      </p:sp>
      <p:sp>
        <p:nvSpPr>
          <p:cNvPr id="1048607" name="Text 2"/>
          <p:cNvSpPr/>
          <p:nvPr/>
        </p:nvSpPr>
        <p:spPr>
          <a:xfrm>
            <a:off x="548640" y="1691640"/>
            <a:ext cx="1005840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grants EXACTLY what you wish for — not what you meant. Vague wish, weird result.</a:t>
            </a:r>
            <a:endParaRPr dirty="0" lang="en-US"/>
          </a:p>
        </p:txBody>
      </p:sp>
      <p:sp>
        <p:nvSpPr>
          <p:cNvPr id="1048608" name="Shape 3"/>
          <p:cNvSpPr/>
          <p:nvPr/>
        </p:nvSpPr>
        <p:spPr>
          <a:xfrm>
            <a:off x="548640" y="251460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24365F"/>
          </a:solidFill>
        </p:spPr>
      </p:sp>
      <p:sp>
        <p:nvSpPr>
          <p:cNvPr id="1048609" name="Shape 4"/>
          <p:cNvSpPr/>
          <p:nvPr/>
        </p:nvSpPr>
        <p:spPr>
          <a:xfrm>
            <a:off x="914400" y="2834640"/>
            <a:ext cx="685800" cy="685800"/>
          </a:xfrm>
          <a:prstGeom prst="ellipse"/>
          <a:solidFill>
            <a:srgbClr val="F2A65A"/>
          </a:solidFill>
        </p:spPr>
      </p:sp>
      <p:pic>
        <p:nvPicPr>
          <p:cNvPr id="2097154" name="Image 0" descr="/home/claude/pptx/icons/thumbsdown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78992" y="2999232"/>
            <a:ext cx="356616" cy="356616"/>
          </a:xfrm>
          <a:prstGeom prst="rect"/>
        </p:spPr>
      </p:pic>
      <p:sp>
        <p:nvSpPr>
          <p:cNvPr id="1048610" name="Text 5"/>
          <p:cNvSpPr/>
          <p:nvPr/>
        </p:nvSpPr>
        <p:spPr>
          <a:xfrm>
            <a:off x="1828800" y="2834640"/>
            <a:ext cx="36576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wish</a:t>
            </a:r>
            <a:endParaRPr dirty="0" sz="2400" lang="en-US"/>
          </a:p>
        </p:txBody>
      </p:sp>
      <p:sp>
        <p:nvSpPr>
          <p:cNvPr id="1048611" name="Text 6"/>
          <p:cNvSpPr/>
          <p:nvPr/>
        </p:nvSpPr>
        <p:spPr>
          <a:xfrm>
            <a:off x="914400" y="3749040"/>
            <a:ext cx="4754880" cy="1600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i="1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about India."</a:t>
            </a:r>
            <a:endParaRPr dirty="0" lang="en-US"/>
          </a:p>
        </p:txBody>
      </p:sp>
      <p:sp>
        <p:nvSpPr>
          <p:cNvPr id="1048612" name="Shape 7"/>
          <p:cNvSpPr/>
          <p:nvPr/>
        </p:nvSpPr>
        <p:spPr>
          <a:xfrm>
            <a:off x="6355080" y="251460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24365F"/>
          </a:solidFill>
        </p:spPr>
      </p:sp>
      <p:sp>
        <p:nvSpPr>
          <p:cNvPr id="1048613" name="Shape 8"/>
          <p:cNvSpPr/>
          <p:nvPr/>
        </p:nvSpPr>
        <p:spPr>
          <a:xfrm>
            <a:off x="6720840" y="2834640"/>
            <a:ext cx="685800" cy="685800"/>
          </a:xfrm>
          <a:prstGeom prst="ellipse"/>
          <a:solidFill>
            <a:srgbClr val="F2A65A"/>
          </a:solidFill>
        </p:spPr>
      </p:sp>
      <p:pic>
        <p:nvPicPr>
          <p:cNvPr id="2097155" name="Image 1" descr="/home/claude/pptx/icons/thumbsup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85432" y="2999232"/>
            <a:ext cx="356616" cy="356616"/>
          </a:xfrm>
          <a:prstGeom prst="rect"/>
        </p:spPr>
      </p:pic>
      <p:sp>
        <p:nvSpPr>
          <p:cNvPr id="1048614" name="Text 9"/>
          <p:cNvSpPr/>
          <p:nvPr/>
        </p:nvSpPr>
        <p:spPr>
          <a:xfrm>
            <a:off x="7635240" y="2834640"/>
            <a:ext cx="36576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wish</a:t>
            </a:r>
            <a:endParaRPr dirty="0" sz="2400" lang="en-US"/>
          </a:p>
        </p:txBody>
      </p:sp>
      <p:sp>
        <p:nvSpPr>
          <p:cNvPr id="1048615" name="Text 10"/>
          <p:cNvSpPr/>
          <p:nvPr/>
        </p:nvSpPr>
        <p:spPr>
          <a:xfrm>
            <a:off x="6720840" y="3749040"/>
            <a:ext cx="4754880" cy="16002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i="1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 100-word paragraph on India’s festivals, for a 10-year-old."</a:t>
            </a:r>
            <a:endParaRPr dirty="0" lang="en-US"/>
          </a:p>
        </p:txBody>
      </p:sp>
      <p:sp>
        <p:nvSpPr>
          <p:cNvPr id="1048616" name="Text 12"/>
          <p:cNvSpPr/>
          <p:nvPr/>
        </p:nvSpPr>
        <p:spPr>
          <a:xfrm>
            <a:off x="11338560" y="653796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2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2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ext 1"/>
          <p:cNvSpPr/>
          <p:nvPr/>
        </p:nvSpPr>
        <p:spPr>
          <a:xfrm>
            <a:off x="502920" y="431074"/>
            <a:ext cx="11658918" cy="98624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8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Principles of Prompt Engineering</a:t>
            </a:r>
            <a:endParaRPr dirty="0" sz="4800" lang="en-US"/>
          </a:p>
        </p:txBody>
      </p:sp>
      <p:sp>
        <p:nvSpPr>
          <p:cNvPr id="1048621" name="Shape 2"/>
          <p:cNvSpPr/>
          <p:nvPr/>
        </p:nvSpPr>
        <p:spPr>
          <a:xfrm>
            <a:off x="548640" y="1737360"/>
            <a:ext cx="2176272" cy="4114800"/>
          </a:xfrm>
          <a:prstGeom prst="roundRect">
            <a:avLst>
              <a:gd name="adj" fmla="val 5042"/>
            </a:avLst>
          </a:prstGeom>
          <a:solidFill>
            <a:srgbClr val="1B2A4A"/>
          </a:solidFill>
        </p:spPr>
      </p:sp>
      <p:sp>
        <p:nvSpPr>
          <p:cNvPr id="1048622" name="Shape 3"/>
          <p:cNvSpPr/>
          <p:nvPr/>
        </p:nvSpPr>
        <p:spPr>
          <a:xfrm>
            <a:off x="1248156" y="2011680"/>
            <a:ext cx="777240" cy="777240"/>
          </a:xfrm>
          <a:prstGeom prst="ellipse"/>
          <a:solidFill>
            <a:srgbClr val="F2A65A"/>
          </a:solidFill>
        </p:spPr>
      </p:sp>
      <p:pic>
        <p:nvPicPr>
          <p:cNvPr id="2097156" name="Image 0" descr="/home/claude/pptx/icons/compass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434694" y="2198218"/>
            <a:ext cx="404165" cy="404165"/>
          </a:xfrm>
          <a:prstGeom prst="rect"/>
        </p:spPr>
      </p:pic>
      <p:sp>
        <p:nvSpPr>
          <p:cNvPr id="1048623" name="Text 4"/>
          <p:cNvSpPr/>
          <p:nvPr/>
        </p:nvSpPr>
        <p:spPr>
          <a:xfrm>
            <a:off x="685800" y="1828800"/>
            <a:ext cx="457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2000" lang="en-US"/>
          </a:p>
        </p:txBody>
      </p:sp>
      <p:sp>
        <p:nvSpPr>
          <p:cNvPr id="1048624" name="Text 5"/>
          <p:cNvSpPr/>
          <p:nvPr/>
        </p:nvSpPr>
        <p:spPr>
          <a:xfrm>
            <a:off x="685800" y="2971800"/>
            <a:ext cx="1901952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Direction</a:t>
            </a:r>
            <a:endParaRPr dirty="0" sz="2000" lang="en-US"/>
          </a:p>
        </p:txBody>
      </p:sp>
      <p:sp>
        <p:nvSpPr>
          <p:cNvPr id="1048625" name="Text 6"/>
          <p:cNvSpPr/>
          <p:nvPr/>
        </p:nvSpPr>
        <p:spPr>
          <a:xfrm>
            <a:off x="685800" y="3657600"/>
            <a:ext cx="1901952" cy="1737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the role, audience, tone &amp; goal</a:t>
            </a:r>
            <a:endParaRPr dirty="0" sz="1600" lang="en-US"/>
          </a:p>
        </p:txBody>
      </p:sp>
      <p:sp>
        <p:nvSpPr>
          <p:cNvPr id="1048626" name="Text 7"/>
          <p:cNvSpPr/>
          <p:nvPr/>
        </p:nvSpPr>
        <p:spPr>
          <a:xfrm>
            <a:off x="685800" y="5440680"/>
            <a:ext cx="1901952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kern="0" lang="en-US" spc="1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dirty="0" sz="1400" lang="en-US"/>
          </a:p>
        </p:txBody>
      </p:sp>
      <p:sp>
        <p:nvSpPr>
          <p:cNvPr id="1048627" name="Shape 8"/>
          <p:cNvSpPr/>
          <p:nvPr/>
        </p:nvSpPr>
        <p:spPr>
          <a:xfrm>
            <a:off x="2834640" y="1737360"/>
            <a:ext cx="2176272" cy="4114800"/>
          </a:xfrm>
          <a:prstGeom prst="roundRect">
            <a:avLst>
              <a:gd name="adj" fmla="val 5042"/>
            </a:avLst>
          </a:prstGeom>
          <a:solidFill>
            <a:srgbClr val="1B2A4A"/>
          </a:solidFill>
        </p:spPr>
      </p:sp>
      <p:sp>
        <p:nvSpPr>
          <p:cNvPr id="1048628" name="Shape 9"/>
          <p:cNvSpPr/>
          <p:nvPr/>
        </p:nvSpPr>
        <p:spPr>
          <a:xfrm>
            <a:off x="3534156" y="2011680"/>
            <a:ext cx="777240" cy="777240"/>
          </a:xfrm>
          <a:prstGeom prst="ellipse"/>
          <a:solidFill>
            <a:srgbClr val="F2A65A"/>
          </a:solidFill>
        </p:spPr>
      </p:sp>
      <p:pic>
        <p:nvPicPr>
          <p:cNvPr id="2097157" name="Image 1" descr="/home/claude/pptx/icons/filetext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720694" y="2198218"/>
            <a:ext cx="404165" cy="404165"/>
          </a:xfrm>
          <a:prstGeom prst="rect"/>
        </p:spPr>
      </p:pic>
      <p:sp>
        <p:nvSpPr>
          <p:cNvPr id="1048629" name="Text 10"/>
          <p:cNvSpPr/>
          <p:nvPr/>
        </p:nvSpPr>
        <p:spPr>
          <a:xfrm>
            <a:off x="2971800" y="1828800"/>
            <a:ext cx="457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2000" lang="en-US"/>
          </a:p>
        </p:txBody>
      </p:sp>
      <p:sp>
        <p:nvSpPr>
          <p:cNvPr id="1048630" name="Text 11"/>
          <p:cNvSpPr/>
          <p:nvPr/>
        </p:nvSpPr>
        <p:spPr>
          <a:xfrm>
            <a:off x="2971800" y="2971800"/>
            <a:ext cx="1901952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Examples</a:t>
            </a:r>
            <a:endParaRPr dirty="0" sz="2000" lang="en-US"/>
          </a:p>
        </p:txBody>
      </p:sp>
      <p:sp>
        <p:nvSpPr>
          <p:cNvPr id="1048631" name="Text 12"/>
          <p:cNvSpPr/>
          <p:nvPr/>
        </p:nvSpPr>
        <p:spPr>
          <a:xfrm>
            <a:off x="2971800" y="3657600"/>
            <a:ext cx="1901952" cy="1737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just tell</a:t>
            </a:r>
            <a:endParaRPr dirty="0" sz="1600" lang="en-US"/>
          </a:p>
        </p:txBody>
      </p:sp>
      <p:sp>
        <p:nvSpPr>
          <p:cNvPr id="1048632" name="Text 13"/>
          <p:cNvSpPr/>
          <p:nvPr/>
        </p:nvSpPr>
        <p:spPr>
          <a:xfrm>
            <a:off x="2971800" y="5440680"/>
            <a:ext cx="1901952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kern="0" lang="en-US" spc="1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dirty="0" sz="1400" lang="en-US"/>
          </a:p>
        </p:txBody>
      </p:sp>
      <p:sp>
        <p:nvSpPr>
          <p:cNvPr id="1048633" name="Shape 14"/>
          <p:cNvSpPr/>
          <p:nvPr/>
        </p:nvSpPr>
        <p:spPr>
          <a:xfrm>
            <a:off x="5120640" y="1737360"/>
            <a:ext cx="2176272" cy="411480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34" name="Shape 15"/>
          <p:cNvSpPr/>
          <p:nvPr/>
        </p:nvSpPr>
        <p:spPr>
          <a:xfrm>
            <a:off x="5820156" y="2011680"/>
            <a:ext cx="777240" cy="777240"/>
          </a:xfrm>
          <a:prstGeom prst="ellipse"/>
          <a:solidFill>
            <a:srgbClr val="1B2A4A"/>
          </a:solidFill>
        </p:spPr>
      </p:sp>
      <p:pic>
        <p:nvPicPr>
          <p:cNvPr id="2097158" name="Image 2" descr="/home/claude/pptx/icons/layers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006694" y="2198218"/>
            <a:ext cx="404165" cy="404165"/>
          </a:xfrm>
          <a:prstGeom prst="rect"/>
        </p:spPr>
      </p:pic>
      <p:sp>
        <p:nvSpPr>
          <p:cNvPr id="1048635" name="Text 16"/>
          <p:cNvSpPr/>
          <p:nvPr/>
        </p:nvSpPr>
        <p:spPr>
          <a:xfrm>
            <a:off x="5257800" y="1828800"/>
            <a:ext cx="457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2000" lang="en-US"/>
          </a:p>
        </p:txBody>
      </p:sp>
      <p:sp>
        <p:nvSpPr>
          <p:cNvPr id="1048636" name="Text 17"/>
          <p:cNvSpPr/>
          <p:nvPr/>
        </p:nvSpPr>
        <p:spPr>
          <a:xfrm>
            <a:off x="5257800" y="2971800"/>
            <a:ext cx="1901952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Format</a:t>
            </a:r>
            <a:endParaRPr dirty="0" sz="2000" lang="en-US"/>
          </a:p>
        </p:txBody>
      </p:sp>
      <p:sp>
        <p:nvSpPr>
          <p:cNvPr id="1048637" name="Text 18"/>
          <p:cNvSpPr/>
          <p:nvPr/>
        </p:nvSpPr>
        <p:spPr>
          <a:xfrm>
            <a:off x="5257800" y="3657600"/>
            <a:ext cx="1901952" cy="1737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Bullets? Table? JSON? Say so</a:t>
            </a:r>
            <a:endParaRPr dirty="0" sz="1600" lang="en-US"/>
          </a:p>
        </p:txBody>
      </p:sp>
      <p:sp>
        <p:nvSpPr>
          <p:cNvPr id="1048638" name="Shape 19"/>
          <p:cNvSpPr/>
          <p:nvPr/>
        </p:nvSpPr>
        <p:spPr>
          <a:xfrm>
            <a:off x="7406640" y="1737360"/>
            <a:ext cx="2176272" cy="411480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39" name="Shape 20"/>
          <p:cNvSpPr/>
          <p:nvPr/>
        </p:nvSpPr>
        <p:spPr>
          <a:xfrm>
            <a:off x="8106156" y="2011680"/>
            <a:ext cx="777240" cy="777240"/>
          </a:xfrm>
          <a:prstGeom prst="ellipse"/>
          <a:solidFill>
            <a:srgbClr val="1B2A4A"/>
          </a:solidFill>
        </p:spPr>
      </p:sp>
      <p:pic>
        <p:nvPicPr>
          <p:cNvPr id="2097159" name="Image 3" descr="/home/claude/pptx/icons/checkcircl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8292694" y="2198218"/>
            <a:ext cx="404165" cy="404165"/>
          </a:xfrm>
          <a:prstGeom prst="rect"/>
        </p:spPr>
      </p:pic>
      <p:sp>
        <p:nvSpPr>
          <p:cNvPr id="1048640" name="Text 21"/>
          <p:cNvSpPr/>
          <p:nvPr/>
        </p:nvSpPr>
        <p:spPr>
          <a:xfrm>
            <a:off x="7543800" y="1828800"/>
            <a:ext cx="457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2000" lang="en-US"/>
          </a:p>
        </p:txBody>
      </p:sp>
      <p:sp>
        <p:nvSpPr>
          <p:cNvPr id="1048641" name="Text 22"/>
          <p:cNvSpPr/>
          <p:nvPr/>
        </p:nvSpPr>
        <p:spPr>
          <a:xfrm>
            <a:off x="7543800" y="2971800"/>
            <a:ext cx="1901952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Quality</a:t>
            </a:r>
            <a:endParaRPr dirty="0" sz="2000" lang="en-US"/>
          </a:p>
        </p:txBody>
      </p:sp>
      <p:sp>
        <p:nvSpPr>
          <p:cNvPr id="1048642" name="Text 23"/>
          <p:cNvSpPr/>
          <p:nvPr/>
        </p:nvSpPr>
        <p:spPr>
          <a:xfrm>
            <a:off x="7543800" y="3657600"/>
            <a:ext cx="1901952" cy="1737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the output, don't just accept it</a:t>
            </a:r>
            <a:endParaRPr dirty="0" sz="1600" lang="en-US"/>
          </a:p>
        </p:txBody>
      </p:sp>
      <p:sp>
        <p:nvSpPr>
          <p:cNvPr id="1048643" name="Shape 24"/>
          <p:cNvSpPr/>
          <p:nvPr/>
        </p:nvSpPr>
        <p:spPr>
          <a:xfrm>
            <a:off x="9692640" y="1737360"/>
            <a:ext cx="2176272" cy="411480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644" name="Shape 25"/>
          <p:cNvSpPr/>
          <p:nvPr/>
        </p:nvSpPr>
        <p:spPr>
          <a:xfrm>
            <a:off x="10392156" y="2011680"/>
            <a:ext cx="777240" cy="777240"/>
          </a:xfrm>
          <a:prstGeom prst="ellipse"/>
          <a:solidFill>
            <a:srgbClr val="1B2A4A"/>
          </a:solidFill>
        </p:spPr>
      </p:sp>
      <p:pic>
        <p:nvPicPr>
          <p:cNvPr id="2097160" name="Image 4" descr="/home/claude/pptx/icons/users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0578694" y="2198218"/>
            <a:ext cx="404165" cy="404165"/>
          </a:xfrm>
          <a:prstGeom prst="rect"/>
        </p:spPr>
      </p:pic>
      <p:sp>
        <p:nvSpPr>
          <p:cNvPr id="1048645" name="Text 26"/>
          <p:cNvSpPr/>
          <p:nvPr/>
        </p:nvSpPr>
        <p:spPr>
          <a:xfrm>
            <a:off x="9829800" y="1828800"/>
            <a:ext cx="457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2000" lang="en-US"/>
          </a:p>
        </p:txBody>
      </p:sp>
      <p:sp>
        <p:nvSpPr>
          <p:cNvPr id="1048646" name="Text 27"/>
          <p:cNvSpPr/>
          <p:nvPr/>
        </p:nvSpPr>
        <p:spPr>
          <a:xfrm>
            <a:off x="9829800" y="2971800"/>
            <a:ext cx="1901952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Labour</a:t>
            </a:r>
            <a:endParaRPr dirty="0" sz="2000" lang="en-US"/>
          </a:p>
        </p:txBody>
      </p:sp>
      <p:sp>
        <p:nvSpPr>
          <p:cNvPr id="1048647" name="Text 28"/>
          <p:cNvSpPr/>
          <p:nvPr/>
        </p:nvSpPr>
        <p:spPr>
          <a:xfrm>
            <a:off x="9829800" y="3657600"/>
            <a:ext cx="1901952" cy="1737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6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tasks into smaller prompts</a:t>
            </a:r>
            <a:endParaRPr dirty="0" sz="1600" lang="en-US"/>
          </a:p>
        </p:txBody>
      </p:sp>
      <p:sp>
        <p:nvSpPr>
          <p:cNvPr id="1048648" name="Text 30"/>
          <p:cNvSpPr/>
          <p:nvPr/>
        </p:nvSpPr>
        <p:spPr>
          <a:xfrm>
            <a:off x="11338560" y="653796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4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Shape 0"/>
          <p:cNvSpPr/>
          <p:nvPr/>
        </p:nvSpPr>
        <p:spPr>
          <a:xfrm>
            <a:off x="0" y="0"/>
            <a:ext cx="4206240" cy="6858000"/>
          </a:xfrm>
          <a:prstGeom prst="rect"/>
          <a:solidFill>
            <a:srgbClr val="1B2A4A"/>
          </a:solidFill>
        </p:spPr>
      </p:sp>
      <p:sp>
        <p:nvSpPr>
          <p:cNvPr id="1048653" name="Text 2"/>
          <p:cNvSpPr/>
          <p:nvPr/>
        </p:nvSpPr>
        <p:spPr>
          <a:xfrm>
            <a:off x="914400" y="1554480"/>
            <a:ext cx="29260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kern="0" lang="en-US" spc="2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1</a:t>
            </a:r>
            <a:endParaRPr dirty="0" lang="en-US"/>
          </a:p>
        </p:txBody>
      </p:sp>
      <p:sp>
        <p:nvSpPr>
          <p:cNvPr id="1048654" name="Text 3"/>
          <p:cNvSpPr/>
          <p:nvPr/>
        </p:nvSpPr>
        <p:spPr>
          <a:xfrm>
            <a:off x="231865" y="2383971"/>
            <a:ext cx="3742509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</a:t>
            </a:r>
            <a:endParaRPr dirty="0" sz="4800" lang="en-US"/>
          </a:p>
        </p:txBody>
      </p:sp>
      <p:sp>
        <p:nvSpPr>
          <p:cNvPr id="1048655" name="Text 4"/>
          <p:cNvSpPr/>
          <p:nvPr/>
        </p:nvSpPr>
        <p:spPr>
          <a:xfrm>
            <a:off x="822960" y="3520440"/>
            <a:ext cx="3063240" cy="1463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WHO it is, WHO it's talking to, and WHAT you actually want.</a:t>
            </a:r>
            <a:endParaRPr dirty="0" lang="en-US"/>
          </a:p>
        </p:txBody>
      </p:sp>
      <p:sp>
        <p:nvSpPr>
          <p:cNvPr id="1048656" name="Text 5"/>
          <p:cNvSpPr/>
          <p:nvPr/>
        </p:nvSpPr>
        <p:spPr>
          <a:xfrm>
            <a:off x="822960" y="5120640"/>
            <a:ext cx="29260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20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</a:t>
            </a:r>
            <a:endParaRPr dirty="0" sz="1400" lang="en-US"/>
          </a:p>
        </p:txBody>
      </p:sp>
      <p:sp>
        <p:nvSpPr>
          <p:cNvPr id="1048657" name="Text 6"/>
          <p:cNvSpPr/>
          <p:nvPr/>
        </p:nvSpPr>
        <p:spPr>
          <a:xfrm>
            <a:off x="822960" y="5440680"/>
            <a:ext cx="301752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Role? Audience?</a:t>
            </a:r>
            <a:endParaRPr dirty="0" lang="en-US"/>
          </a:p>
        </p:txBody>
      </p:sp>
      <p:sp>
        <p:nvSpPr>
          <p:cNvPr id="1048658" name="Text 7"/>
          <p:cNvSpPr/>
          <p:nvPr/>
        </p:nvSpPr>
        <p:spPr>
          <a:xfrm>
            <a:off x="822960" y="5806440"/>
            <a:ext cx="301752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Length? Tone?</a:t>
            </a:r>
            <a:endParaRPr dirty="0" lang="en-US"/>
          </a:p>
        </p:txBody>
      </p:sp>
      <p:sp>
        <p:nvSpPr>
          <p:cNvPr id="1048659" name="Text 8"/>
          <p:cNvSpPr/>
          <p:nvPr/>
        </p:nvSpPr>
        <p:spPr>
          <a:xfrm>
            <a:off x="822960" y="6172200"/>
            <a:ext cx="301752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Purpose of the output?</a:t>
            </a:r>
            <a:endParaRPr dirty="0" lang="en-US"/>
          </a:p>
        </p:txBody>
      </p:sp>
      <p:sp>
        <p:nvSpPr>
          <p:cNvPr id="1048660" name="Shape 10"/>
          <p:cNvSpPr/>
          <p:nvPr/>
        </p:nvSpPr>
        <p:spPr>
          <a:xfrm>
            <a:off x="4572000" y="1051560"/>
            <a:ext cx="6766560" cy="1371600"/>
          </a:xfrm>
          <a:prstGeom prst="roundRect">
            <a:avLst>
              <a:gd name="adj" fmla="val 6667"/>
            </a:avLst>
          </a:prstGeom>
          <a:solidFill>
            <a:srgbClr val="E4E9F7"/>
          </a:solidFill>
        </p:spPr>
      </p:sp>
      <p:sp>
        <p:nvSpPr>
          <p:cNvPr id="1048661" name="Text 11"/>
          <p:cNvSpPr/>
          <p:nvPr/>
        </p:nvSpPr>
        <p:spPr>
          <a:xfrm>
            <a:off x="4800600" y="1188720"/>
            <a:ext cx="18288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dirty="0" sz="1400" lang="en-US"/>
          </a:p>
        </p:txBody>
      </p:sp>
      <p:sp>
        <p:nvSpPr>
          <p:cNvPr id="1048662" name="Text 12"/>
          <p:cNvSpPr/>
          <p:nvPr/>
        </p:nvSpPr>
        <p:spPr>
          <a:xfrm>
            <a:off x="4800600" y="1463040"/>
            <a:ext cx="630936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i="1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about India."</a:t>
            </a:r>
            <a:endParaRPr dirty="0" sz="2000" lang="en-US"/>
          </a:p>
        </p:txBody>
      </p:sp>
      <p:sp>
        <p:nvSpPr>
          <p:cNvPr id="1048663" name="Shape 13"/>
          <p:cNvSpPr/>
          <p:nvPr/>
        </p:nvSpPr>
        <p:spPr>
          <a:xfrm>
            <a:off x="7680960" y="2606040"/>
            <a:ext cx="548640" cy="548640"/>
          </a:xfrm>
          <a:prstGeom prst="ellipse"/>
          <a:solidFill>
            <a:srgbClr val="F2A65A"/>
          </a:solidFill>
        </p:spPr>
      </p:sp>
      <p:pic>
        <p:nvPicPr>
          <p:cNvPr id="2097161" name="Image 1" descr="/home/claude/pptx/icons/arrow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812634" y="2737714"/>
            <a:ext cx="285293" cy="285293"/>
          </a:xfrm>
          <a:prstGeom prst="rect"/>
        </p:spPr>
      </p:pic>
      <p:sp>
        <p:nvSpPr>
          <p:cNvPr id="1048664" name="Shape 14"/>
          <p:cNvSpPr/>
          <p:nvPr/>
        </p:nvSpPr>
        <p:spPr>
          <a:xfrm>
            <a:off x="4572000" y="3337560"/>
            <a:ext cx="6766560" cy="2194560"/>
          </a:xfrm>
          <a:prstGeom prst="roundRect">
            <a:avLst>
              <a:gd name="adj" fmla="val 4167"/>
            </a:avLst>
          </a:prstGeom>
          <a:solidFill>
            <a:srgbClr val="1B2A4A"/>
          </a:solidFill>
        </p:spPr>
      </p:sp>
      <p:sp>
        <p:nvSpPr>
          <p:cNvPr id="1048665" name="Text 15"/>
          <p:cNvSpPr/>
          <p:nvPr/>
        </p:nvSpPr>
        <p:spPr>
          <a:xfrm>
            <a:off x="4800600" y="3474720"/>
            <a:ext cx="18288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dirty="0" sz="1400" lang="en-US"/>
          </a:p>
        </p:txBody>
      </p:sp>
      <p:sp>
        <p:nvSpPr>
          <p:cNvPr id="1048666" name="Text 16"/>
          <p:cNvSpPr/>
          <p:nvPr/>
        </p:nvSpPr>
        <p:spPr>
          <a:xfrm>
            <a:off x="4800600" y="3749040"/>
            <a:ext cx="6309360" cy="1645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i="1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are a travel writer. Write a 100-word intro to India’s festivals for first-time tourists, in a warm, upbeat tone."</a:t>
            </a:r>
            <a:endParaRPr dirty="0" sz="2000" lang="en-US"/>
          </a:p>
        </p:txBody>
      </p:sp>
      <p:sp>
        <p:nvSpPr>
          <p:cNvPr id="1048667" name="Text 17"/>
          <p:cNvSpPr/>
          <p:nvPr/>
        </p:nvSpPr>
        <p:spPr>
          <a:xfrm>
            <a:off x="4572000" y="5806440"/>
            <a:ext cx="676656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600" i="1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role + audience + length + tone — four directions in one line.</a:t>
            </a:r>
            <a:endParaRPr dirty="0" sz="1600" lang="en-US"/>
          </a:p>
        </p:txBody>
      </p:sp>
      <p:sp>
        <p:nvSpPr>
          <p:cNvPr id="1048668" name="Text 19"/>
          <p:cNvSpPr/>
          <p:nvPr/>
        </p:nvSpPr>
        <p:spPr>
          <a:xfrm>
            <a:off x="11338560" y="653796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4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Shape 0"/>
          <p:cNvSpPr/>
          <p:nvPr/>
        </p:nvSpPr>
        <p:spPr>
          <a:xfrm>
            <a:off x="0" y="0"/>
            <a:ext cx="4206240" cy="6858000"/>
          </a:xfrm>
          <a:prstGeom prst="rect"/>
          <a:solidFill>
            <a:srgbClr val="F2A65A"/>
          </a:solidFill>
        </p:spPr>
      </p:sp>
      <p:sp>
        <p:nvSpPr>
          <p:cNvPr id="1048673" name="Text 2"/>
          <p:cNvSpPr/>
          <p:nvPr/>
        </p:nvSpPr>
        <p:spPr>
          <a:xfrm>
            <a:off x="822960" y="1600200"/>
            <a:ext cx="29260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kern="0" lang="en-US" spc="2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2</a:t>
            </a:r>
            <a:endParaRPr dirty="0" lang="en-US"/>
          </a:p>
        </p:txBody>
      </p:sp>
      <p:sp>
        <p:nvSpPr>
          <p:cNvPr id="1048674" name="Text 3"/>
          <p:cNvSpPr/>
          <p:nvPr/>
        </p:nvSpPr>
        <p:spPr>
          <a:xfrm>
            <a:off x="300446" y="2377440"/>
            <a:ext cx="3677194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Examples</a:t>
            </a:r>
            <a:endParaRPr dirty="0" sz="4800" lang="en-US"/>
          </a:p>
        </p:txBody>
      </p:sp>
      <p:sp>
        <p:nvSpPr>
          <p:cNvPr id="1048675" name="Text 4"/>
          <p:cNvSpPr/>
          <p:nvPr/>
        </p:nvSpPr>
        <p:spPr>
          <a:xfrm>
            <a:off x="822960" y="3429000"/>
            <a:ext cx="3063240" cy="12801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1–2 examples of the output you want. It copies the pattern.</a:t>
            </a:r>
            <a:endParaRPr dirty="0" lang="en-US"/>
          </a:p>
        </p:txBody>
      </p:sp>
      <p:sp>
        <p:nvSpPr>
          <p:cNvPr id="1048676" name="Text 5"/>
          <p:cNvSpPr/>
          <p:nvPr/>
        </p:nvSpPr>
        <p:spPr>
          <a:xfrm>
            <a:off x="822960" y="4892040"/>
            <a:ext cx="29260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kern="0" lang="en-US" spc="2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dirty="0" sz="1400" lang="en-US"/>
          </a:p>
        </p:txBody>
      </p:sp>
      <p:sp>
        <p:nvSpPr>
          <p:cNvPr id="1048677" name="Text 6"/>
          <p:cNvSpPr/>
          <p:nvPr/>
        </p:nvSpPr>
        <p:spPr>
          <a:xfrm>
            <a:off x="822960" y="5212080"/>
            <a:ext cx="3017520" cy="11887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i="1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seed of zero-shot vs. few-shot prompting — a topic we'll dig into later in this module.</a:t>
            </a:r>
            <a:endParaRPr dirty="0" lang="en-US"/>
          </a:p>
        </p:txBody>
      </p:sp>
      <p:sp>
        <p:nvSpPr>
          <p:cNvPr id="1048678" name="Shape 8"/>
          <p:cNvSpPr/>
          <p:nvPr/>
        </p:nvSpPr>
        <p:spPr>
          <a:xfrm>
            <a:off x="4572000" y="1051560"/>
            <a:ext cx="6766560" cy="4480560"/>
          </a:xfrm>
          <a:prstGeom prst="roundRect">
            <a:avLst>
              <a:gd name="adj" fmla="val 2041"/>
            </a:avLst>
          </a:prstGeom>
          <a:solidFill>
            <a:srgbClr val="E4E9F7"/>
          </a:solidFill>
        </p:spPr>
      </p:sp>
      <p:sp>
        <p:nvSpPr>
          <p:cNvPr id="1048679" name="Text 9"/>
          <p:cNvSpPr/>
          <p:nvPr/>
        </p:nvSpPr>
        <p:spPr>
          <a:xfrm>
            <a:off x="4846320" y="1280160"/>
            <a:ext cx="621792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dirty="0" lang="en-US"/>
          </a:p>
        </p:txBody>
      </p:sp>
      <p:sp>
        <p:nvSpPr>
          <p:cNvPr id="1048680" name="Text 10"/>
          <p:cNvSpPr/>
          <p:nvPr/>
        </p:nvSpPr>
        <p:spPr>
          <a:xfrm>
            <a:off x="4846320" y="1600200"/>
            <a:ext cx="630936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i="1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"Turn each fact into a punchy tagline. Example: Fact: Coffee has caffeine. → Tagline: Wake up, one sip at a time."</a:t>
            </a:r>
            <a:endParaRPr dirty="0" sz="2000" lang="en-US"/>
          </a:p>
        </p:txBody>
      </p:sp>
      <p:sp>
        <p:nvSpPr>
          <p:cNvPr id="1048681" name="Text 11"/>
          <p:cNvSpPr/>
          <p:nvPr/>
        </p:nvSpPr>
        <p:spPr>
          <a:xfrm>
            <a:off x="4846320" y="2697480"/>
            <a:ext cx="630936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try: Fact: Solar panels convert sunlight to electricity.</a:t>
            </a:r>
            <a:endParaRPr dirty="0" lang="en-US"/>
          </a:p>
        </p:txBody>
      </p:sp>
      <p:sp>
        <p:nvSpPr>
          <p:cNvPr id="1048682" name="Shape 12"/>
          <p:cNvSpPr/>
          <p:nvPr/>
        </p:nvSpPr>
        <p:spPr>
          <a:xfrm>
            <a:off x="4846320" y="324612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</p:spPr>
      </p:sp>
      <p:sp>
        <p:nvSpPr>
          <p:cNvPr id="1048683" name="Text 13"/>
          <p:cNvSpPr/>
          <p:nvPr/>
        </p:nvSpPr>
        <p:spPr>
          <a:xfrm>
            <a:off x="5029200" y="3246120"/>
            <a:ext cx="566928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i="1" lang="en-US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Tagline: "Sunshine in, power out."</a:t>
            </a:r>
            <a:endParaRPr dirty="0" sz="2000" lang="en-US"/>
          </a:p>
        </p:txBody>
      </p:sp>
      <p:sp>
        <p:nvSpPr>
          <p:cNvPr id="1048684" name="Text 14"/>
          <p:cNvSpPr/>
          <p:nvPr/>
        </p:nvSpPr>
        <p:spPr>
          <a:xfrm>
            <a:off x="4846320" y="4343400"/>
            <a:ext cx="6217920" cy="10058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good example did more work than three extra sentences of instructions would have.</a:t>
            </a:r>
            <a:endParaRPr dirty="0" lang="en-US"/>
          </a:p>
        </p:txBody>
      </p:sp>
      <p:sp>
        <p:nvSpPr>
          <p:cNvPr id="1048685" name="Text 16"/>
          <p:cNvSpPr/>
          <p:nvPr/>
        </p:nvSpPr>
        <p:spPr>
          <a:xfrm>
            <a:off x="11338560" y="653796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14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Shape 0"/>
          <p:cNvSpPr/>
          <p:nvPr/>
        </p:nvSpPr>
        <p:spPr>
          <a:xfrm>
            <a:off x="548640" y="502920"/>
            <a:ext cx="914400" cy="914400"/>
          </a:xfrm>
          <a:prstGeom prst="ellipse"/>
          <a:solidFill>
            <a:srgbClr val="F2A65A"/>
          </a:solidFill>
        </p:spPr>
      </p:sp>
      <p:pic>
        <p:nvPicPr>
          <p:cNvPr id="2097162" name="Image 0" descr="/home/claude/pptx/icons/users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68096" y="722376"/>
            <a:ext cx="475488" cy="475488"/>
          </a:xfrm>
          <a:prstGeom prst="rect"/>
        </p:spPr>
      </p:pic>
      <p:sp>
        <p:nvSpPr>
          <p:cNvPr id="1048690" name="Text 2"/>
          <p:cNvSpPr/>
          <p:nvPr/>
        </p:nvSpPr>
        <p:spPr>
          <a:xfrm>
            <a:off x="1645920" y="914400"/>
            <a:ext cx="86868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Challenge: Fix the Prompt</a:t>
            </a:r>
            <a:endParaRPr dirty="0" sz="4800" lang="en-US"/>
          </a:p>
        </p:txBody>
      </p:sp>
      <p:sp>
        <p:nvSpPr>
          <p:cNvPr id="1048691" name="Shape 3"/>
          <p:cNvSpPr/>
          <p:nvPr/>
        </p:nvSpPr>
        <p:spPr>
          <a:xfrm>
            <a:off x="640080" y="1965960"/>
            <a:ext cx="502920" cy="502920"/>
          </a:xfrm>
          <a:prstGeom prst="ellipse"/>
          <a:solidFill>
            <a:srgbClr val="F2A65A"/>
          </a:solidFill>
        </p:spPr>
      </p:sp>
      <p:sp>
        <p:nvSpPr>
          <p:cNvPr id="1048692" name="Text 4"/>
          <p:cNvSpPr/>
          <p:nvPr/>
        </p:nvSpPr>
        <p:spPr>
          <a:xfrm>
            <a:off x="640080" y="196596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2000" lang="en-US"/>
          </a:p>
        </p:txBody>
      </p:sp>
      <p:sp>
        <p:nvSpPr>
          <p:cNvPr id="1048693" name="Text 5"/>
          <p:cNvSpPr/>
          <p:nvPr/>
        </p:nvSpPr>
        <p:spPr>
          <a:xfrm>
            <a:off x="1371600" y="1920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up. Pick one weak prompt from the shared list (photosynthesis, product description, article summary...).</a:t>
            </a:r>
            <a:endParaRPr dirty="0" sz="2000" lang="en-US"/>
          </a:p>
        </p:txBody>
      </p:sp>
      <p:sp>
        <p:nvSpPr>
          <p:cNvPr id="1048694" name="Shape 6"/>
          <p:cNvSpPr/>
          <p:nvPr/>
        </p:nvSpPr>
        <p:spPr>
          <a:xfrm>
            <a:off x="640080" y="2862072"/>
            <a:ext cx="502920" cy="502920"/>
          </a:xfrm>
          <a:prstGeom prst="ellipse"/>
          <a:solidFill>
            <a:srgbClr val="F2A65A"/>
          </a:solidFill>
        </p:spPr>
      </p:sp>
      <p:sp>
        <p:nvSpPr>
          <p:cNvPr id="1048695" name="Text 7"/>
          <p:cNvSpPr/>
          <p:nvPr/>
        </p:nvSpPr>
        <p:spPr>
          <a:xfrm>
            <a:off x="640080" y="2862072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2000" lang="en-US"/>
          </a:p>
        </p:txBody>
      </p:sp>
      <p:sp>
        <p:nvSpPr>
          <p:cNvPr id="1048696" name="Text 8"/>
          <p:cNvSpPr/>
          <p:nvPr/>
        </p:nvSpPr>
        <p:spPr>
          <a:xfrm>
            <a:off x="1371600" y="2816352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it using Give Direction — add role, audience, length, tone.</a:t>
            </a:r>
            <a:endParaRPr dirty="0" sz="2000" lang="en-US"/>
          </a:p>
        </p:txBody>
      </p:sp>
      <p:sp>
        <p:nvSpPr>
          <p:cNvPr id="1048697" name="Shape 9"/>
          <p:cNvSpPr/>
          <p:nvPr/>
        </p:nvSpPr>
        <p:spPr>
          <a:xfrm>
            <a:off x="640080" y="3758184"/>
            <a:ext cx="502920" cy="502920"/>
          </a:xfrm>
          <a:prstGeom prst="ellipse"/>
          <a:solidFill>
            <a:srgbClr val="F2A65A"/>
          </a:solidFill>
        </p:spPr>
      </p:sp>
      <p:sp>
        <p:nvSpPr>
          <p:cNvPr id="1048698" name="Text 10"/>
          <p:cNvSpPr/>
          <p:nvPr/>
        </p:nvSpPr>
        <p:spPr>
          <a:xfrm>
            <a:off x="640080" y="3758184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2000" lang="en-US"/>
          </a:p>
        </p:txBody>
      </p:sp>
      <p:sp>
        <p:nvSpPr>
          <p:cNvPr id="1048699" name="Text 11"/>
          <p:cNvSpPr/>
          <p:nvPr/>
        </p:nvSpPr>
        <p:spPr>
          <a:xfrm>
            <a:off x="1371600" y="3712464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Provide Examples — include 1–2 sample outputs.</a:t>
            </a:r>
            <a:endParaRPr dirty="0" sz="2000" lang="en-US"/>
          </a:p>
        </p:txBody>
      </p:sp>
      <p:sp>
        <p:nvSpPr>
          <p:cNvPr id="1048700" name="Shape 12"/>
          <p:cNvSpPr/>
          <p:nvPr/>
        </p:nvSpPr>
        <p:spPr>
          <a:xfrm>
            <a:off x="640080" y="4654296"/>
            <a:ext cx="502920" cy="502920"/>
          </a:xfrm>
          <a:prstGeom prst="ellipse"/>
          <a:solidFill>
            <a:srgbClr val="F2A65A"/>
          </a:solidFill>
        </p:spPr>
      </p:sp>
      <p:sp>
        <p:nvSpPr>
          <p:cNvPr id="1048701" name="Text 13"/>
          <p:cNvSpPr/>
          <p:nvPr/>
        </p:nvSpPr>
        <p:spPr>
          <a:xfrm>
            <a:off x="640080" y="4654296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2000" lang="en-US"/>
          </a:p>
        </p:txBody>
      </p:sp>
      <p:sp>
        <p:nvSpPr>
          <p:cNvPr id="1048702" name="Text 14"/>
          <p:cNvSpPr/>
          <p:nvPr/>
        </p:nvSpPr>
        <p:spPr>
          <a:xfrm>
            <a:off x="1371600" y="4608576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versions on the same LLM. Compare the outputs side by side.</a:t>
            </a:r>
            <a:endParaRPr dirty="0" sz="2000" lang="en-US"/>
          </a:p>
        </p:txBody>
      </p:sp>
      <p:sp>
        <p:nvSpPr>
          <p:cNvPr id="1048703" name="Shape 15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4365F"/>
          </a:solidFill>
        </p:spPr>
      </p:sp>
      <p:sp>
        <p:nvSpPr>
          <p:cNvPr id="1048704" name="Text 16"/>
          <p:cNvSpPr/>
          <p:nvPr/>
        </p:nvSpPr>
        <p:spPr>
          <a:xfrm>
            <a:off x="914400" y="5623560"/>
            <a:ext cx="1033272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i="1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be ready to share your before/after in 2 minutes. What actually changed?</a:t>
            </a:r>
            <a:endParaRPr dirty="0" lang="en-US"/>
          </a:p>
        </p:txBody>
      </p:sp>
      <p:sp>
        <p:nvSpPr>
          <p:cNvPr id="1048705" name="Text 18"/>
          <p:cNvSpPr/>
          <p:nvPr/>
        </p:nvSpPr>
        <p:spPr>
          <a:xfrm>
            <a:off x="11338560" y="653796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14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ext 1"/>
          <p:cNvSpPr/>
          <p:nvPr/>
        </p:nvSpPr>
        <p:spPr>
          <a:xfrm>
            <a:off x="502920" y="777240"/>
            <a:ext cx="100584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800" lang="en-US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Down, Three To Go</a:t>
            </a:r>
            <a:endParaRPr dirty="0" sz="4800" lang="en-US"/>
          </a:p>
        </p:txBody>
      </p:sp>
      <p:sp>
        <p:nvSpPr>
          <p:cNvPr id="1048710" name="Shape 2"/>
          <p:cNvSpPr/>
          <p:nvPr/>
        </p:nvSpPr>
        <p:spPr>
          <a:xfrm>
            <a:off x="548640" y="17830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11" name="Shape 3"/>
          <p:cNvSpPr/>
          <p:nvPr/>
        </p:nvSpPr>
        <p:spPr>
          <a:xfrm>
            <a:off x="822960" y="2057400"/>
            <a:ext cx="914400" cy="914400"/>
          </a:xfrm>
          <a:prstGeom prst="ellipse"/>
          <a:solidFill>
            <a:srgbClr val="1B2A4A"/>
          </a:solidFill>
        </p:spPr>
      </p:sp>
      <p:pic>
        <p:nvPicPr>
          <p:cNvPr id="2097163" name="Image 0" descr="/home/claude/pptx/icons/compass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42416" y="2276856"/>
            <a:ext cx="475488" cy="475488"/>
          </a:xfrm>
          <a:prstGeom prst="rect"/>
        </p:spPr>
      </p:pic>
      <p:sp>
        <p:nvSpPr>
          <p:cNvPr id="1048712" name="Text 4"/>
          <p:cNvSpPr/>
          <p:nvPr/>
        </p:nvSpPr>
        <p:spPr>
          <a:xfrm>
            <a:off x="1920240" y="1965960"/>
            <a:ext cx="38404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Direction</a:t>
            </a:r>
            <a:endParaRPr dirty="0" sz="2000" lang="en-US"/>
          </a:p>
        </p:txBody>
      </p:sp>
      <p:sp>
        <p:nvSpPr>
          <p:cNvPr id="1048713" name="Text 5"/>
          <p:cNvSpPr/>
          <p:nvPr/>
        </p:nvSpPr>
        <p:spPr>
          <a:xfrm>
            <a:off x="1920240" y="2423160"/>
            <a:ext cx="384048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audience, tone, goal</a:t>
            </a:r>
            <a:endParaRPr dirty="0" lang="en-US"/>
          </a:p>
        </p:txBody>
      </p:sp>
      <p:sp>
        <p:nvSpPr>
          <p:cNvPr id="1048714" name="Shape 6"/>
          <p:cNvSpPr/>
          <p:nvPr/>
        </p:nvSpPr>
        <p:spPr>
          <a:xfrm>
            <a:off x="6309360" y="17830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48715" name="Shape 7"/>
          <p:cNvSpPr/>
          <p:nvPr/>
        </p:nvSpPr>
        <p:spPr>
          <a:xfrm>
            <a:off x="6583680" y="2057400"/>
            <a:ext cx="914400" cy="914400"/>
          </a:xfrm>
          <a:prstGeom prst="ellipse"/>
          <a:solidFill>
            <a:srgbClr val="1B2A4A"/>
          </a:solidFill>
        </p:spPr>
      </p:sp>
      <p:pic>
        <p:nvPicPr>
          <p:cNvPr id="2097164" name="Image 1" descr="/home/claude/pptx/icons/filetext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03136" y="2276856"/>
            <a:ext cx="475488" cy="475488"/>
          </a:xfrm>
          <a:prstGeom prst="rect"/>
        </p:spPr>
      </p:pic>
      <p:sp>
        <p:nvSpPr>
          <p:cNvPr id="1048716" name="Text 8"/>
          <p:cNvSpPr/>
          <p:nvPr/>
        </p:nvSpPr>
        <p:spPr>
          <a:xfrm>
            <a:off x="7680960" y="1965960"/>
            <a:ext cx="38404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Examples</a:t>
            </a:r>
            <a:endParaRPr dirty="0" sz="2000" lang="en-US"/>
          </a:p>
        </p:txBody>
      </p:sp>
      <p:sp>
        <p:nvSpPr>
          <p:cNvPr id="1048717" name="Text 9"/>
          <p:cNvSpPr/>
          <p:nvPr/>
        </p:nvSpPr>
        <p:spPr>
          <a:xfrm>
            <a:off x="7680960" y="2423160"/>
            <a:ext cx="3840480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sample, get the pattern back</a:t>
            </a:r>
            <a:endParaRPr dirty="0" lang="en-US"/>
          </a:p>
        </p:txBody>
      </p:sp>
      <p:sp>
        <p:nvSpPr>
          <p:cNvPr id="1048718" name="Text 10"/>
          <p:cNvSpPr/>
          <p:nvPr/>
        </p:nvSpPr>
        <p:spPr>
          <a:xfrm>
            <a:off x="548640" y="3794760"/>
            <a:ext cx="54864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kern="0" lang="en-US" spc="2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SESSION</a:t>
            </a:r>
            <a:endParaRPr dirty="0" lang="en-US"/>
          </a:p>
        </p:txBody>
      </p:sp>
      <p:sp>
        <p:nvSpPr>
          <p:cNvPr id="1048719" name="Shape 11"/>
          <p:cNvSpPr/>
          <p:nvPr/>
        </p:nvSpPr>
        <p:spPr>
          <a:xfrm>
            <a:off x="548640" y="4206240"/>
            <a:ext cx="3502152" cy="1691640"/>
          </a:xfrm>
          <a:prstGeom prst="roundRect">
            <a:avLst>
              <a:gd name="adj" fmla="val 6486"/>
            </a:avLst>
          </a:prstGeom>
          <a:solidFill>
            <a:srgbClr val="F2A65A"/>
          </a:solidFill>
        </p:spPr>
      </p:sp>
      <p:sp>
        <p:nvSpPr>
          <p:cNvPr id="1048720" name="Shape 12"/>
          <p:cNvSpPr/>
          <p:nvPr/>
        </p:nvSpPr>
        <p:spPr>
          <a:xfrm>
            <a:off x="1888236" y="4434840"/>
            <a:ext cx="822960" cy="822960"/>
          </a:xfrm>
          <a:prstGeom prst="ellipse"/>
          <a:solidFill>
            <a:srgbClr val="1B2A4A"/>
          </a:solidFill>
        </p:spPr>
      </p:sp>
      <p:pic>
        <p:nvPicPr>
          <p:cNvPr id="2097165" name="Image 2" descr="/home/claude/pptx/icons/layers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2085746" y="4632350"/>
            <a:ext cx="427939" cy="427939"/>
          </a:xfrm>
          <a:prstGeom prst="rect"/>
        </p:spPr>
      </p:pic>
      <p:sp>
        <p:nvSpPr>
          <p:cNvPr id="1048721" name="Text 13"/>
          <p:cNvSpPr/>
          <p:nvPr/>
        </p:nvSpPr>
        <p:spPr>
          <a:xfrm>
            <a:off x="685800" y="5349240"/>
            <a:ext cx="322783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Format</a:t>
            </a:r>
            <a:endParaRPr dirty="0" lang="en-US"/>
          </a:p>
        </p:txBody>
      </p:sp>
      <p:sp>
        <p:nvSpPr>
          <p:cNvPr id="1048722" name="Shape 14"/>
          <p:cNvSpPr/>
          <p:nvPr/>
        </p:nvSpPr>
        <p:spPr>
          <a:xfrm>
            <a:off x="4251960" y="4206240"/>
            <a:ext cx="3502152" cy="1691640"/>
          </a:xfrm>
          <a:prstGeom prst="roundRect">
            <a:avLst>
              <a:gd name="adj" fmla="val 6486"/>
            </a:avLst>
          </a:prstGeom>
          <a:solidFill>
            <a:srgbClr val="F2A65A"/>
          </a:solidFill>
        </p:spPr>
      </p:sp>
      <p:sp>
        <p:nvSpPr>
          <p:cNvPr id="1048723" name="Shape 15"/>
          <p:cNvSpPr/>
          <p:nvPr/>
        </p:nvSpPr>
        <p:spPr>
          <a:xfrm>
            <a:off x="5591556" y="4434840"/>
            <a:ext cx="822960" cy="822960"/>
          </a:xfrm>
          <a:prstGeom prst="ellipse"/>
          <a:solidFill>
            <a:srgbClr val="1B2A4A"/>
          </a:solidFill>
        </p:spPr>
      </p:sp>
      <p:pic>
        <p:nvPicPr>
          <p:cNvPr id="2097166" name="Image 3" descr="/home/claude/pptx/icons/checkcircl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789066" y="4632350"/>
            <a:ext cx="427939" cy="427939"/>
          </a:xfrm>
          <a:prstGeom prst="rect"/>
        </p:spPr>
      </p:pic>
      <p:sp>
        <p:nvSpPr>
          <p:cNvPr id="1048724" name="Text 16"/>
          <p:cNvSpPr/>
          <p:nvPr/>
        </p:nvSpPr>
        <p:spPr>
          <a:xfrm>
            <a:off x="4389120" y="5349240"/>
            <a:ext cx="322783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Quality</a:t>
            </a:r>
            <a:endParaRPr dirty="0" lang="en-US"/>
          </a:p>
        </p:txBody>
      </p:sp>
      <p:sp>
        <p:nvSpPr>
          <p:cNvPr id="1048725" name="Shape 17"/>
          <p:cNvSpPr/>
          <p:nvPr/>
        </p:nvSpPr>
        <p:spPr>
          <a:xfrm>
            <a:off x="7955280" y="4206240"/>
            <a:ext cx="3502152" cy="1691640"/>
          </a:xfrm>
          <a:prstGeom prst="roundRect">
            <a:avLst>
              <a:gd name="adj" fmla="val 6486"/>
            </a:avLst>
          </a:prstGeom>
          <a:solidFill>
            <a:srgbClr val="F2A65A"/>
          </a:solidFill>
        </p:spPr>
      </p:sp>
      <p:sp>
        <p:nvSpPr>
          <p:cNvPr id="1048726" name="Shape 18"/>
          <p:cNvSpPr/>
          <p:nvPr/>
        </p:nvSpPr>
        <p:spPr>
          <a:xfrm>
            <a:off x="9294876" y="4434840"/>
            <a:ext cx="822960" cy="822960"/>
          </a:xfrm>
          <a:prstGeom prst="ellipse"/>
          <a:solidFill>
            <a:srgbClr val="1B2A4A"/>
          </a:solidFill>
        </p:spPr>
      </p:sp>
      <p:pic>
        <p:nvPicPr>
          <p:cNvPr id="2097167" name="Image 4" descr="/home/claude/pptx/icons/users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492386" y="4632350"/>
            <a:ext cx="427939" cy="427939"/>
          </a:xfrm>
          <a:prstGeom prst="rect"/>
        </p:spPr>
      </p:pic>
      <p:sp>
        <p:nvSpPr>
          <p:cNvPr id="1048727" name="Text 19"/>
          <p:cNvSpPr/>
          <p:nvPr/>
        </p:nvSpPr>
        <p:spPr>
          <a:xfrm>
            <a:off x="8092440" y="5349240"/>
            <a:ext cx="3227832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Labour</a:t>
            </a:r>
            <a:endParaRPr dirty="0" lang="en-US"/>
          </a:p>
        </p:txBody>
      </p:sp>
      <p:sp>
        <p:nvSpPr>
          <p:cNvPr id="1048728" name="Text 21"/>
          <p:cNvSpPr/>
          <p:nvPr/>
        </p:nvSpPr>
        <p:spPr>
          <a:xfrm>
            <a:off x="11338560" y="653796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dirty="0" sz="14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ext 2"/>
          <p:cNvSpPr/>
          <p:nvPr/>
        </p:nvSpPr>
        <p:spPr>
          <a:xfrm>
            <a:off x="777240" y="2606040"/>
            <a:ext cx="1005840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8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one prompt of your own.</a:t>
            </a:r>
            <a:endParaRPr dirty="0" sz="4800" lang="en-US"/>
          </a:p>
        </p:txBody>
      </p:sp>
      <p:sp>
        <p:nvSpPr>
          <p:cNvPr id="1048733" name="Text 3"/>
          <p:cNvSpPr/>
          <p:nvPr/>
        </p:nvSpPr>
        <p:spPr>
          <a:xfrm>
            <a:off x="822960" y="3520440"/>
            <a:ext cx="86868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coursework or project — we'll apply Specify Format, Evaluate Quality, and Divide Labour to it live in Session 7.</a:t>
            </a:r>
            <a:endParaRPr dirty="0" sz="2000" lang="en-US"/>
          </a:p>
        </p:txBody>
      </p:sp>
      <p:sp>
        <p:nvSpPr>
          <p:cNvPr id="1048734" name="Shape 4"/>
          <p:cNvSpPr/>
          <p:nvPr/>
        </p:nvSpPr>
        <p:spPr>
          <a:xfrm>
            <a:off x="822960" y="4663440"/>
            <a:ext cx="731520" cy="731520"/>
          </a:xfrm>
          <a:prstGeom prst="ellipse"/>
          <a:solidFill>
            <a:srgbClr val="F2A65A"/>
          </a:solidFill>
        </p:spPr>
      </p:sp>
      <p:pic>
        <p:nvPicPr>
          <p:cNvPr id="2097168" name="Image 0" descr="/home/claude/pptx/icons/zap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98525" y="4839005"/>
            <a:ext cx="380390" cy="380390"/>
          </a:xfrm>
          <a:prstGeom prst="rect"/>
        </p:spPr>
      </p:pic>
      <p:sp>
        <p:nvSpPr>
          <p:cNvPr id="1048735" name="Text 5"/>
          <p:cNvSpPr/>
          <p:nvPr/>
        </p:nvSpPr>
        <p:spPr>
          <a:xfrm>
            <a:off x="1737360" y="4754880"/>
            <a:ext cx="86868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i="1" lang="en-US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apply Give Direction + Provide Examples to that prompt before you arrive.</a:t>
            </a:r>
            <a:endParaRPr dirty="0" lang="en-US"/>
          </a:p>
        </p:txBody>
      </p:sp>
      <p:sp>
        <p:nvSpPr>
          <p:cNvPr id="1048736" name="Text 7"/>
          <p:cNvSpPr/>
          <p:nvPr/>
        </p:nvSpPr>
        <p:spPr>
          <a:xfrm>
            <a:off x="11338560" y="6537960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400" lang="en-US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dirty="0" sz="14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admin</cp:lastModifiedBy>
  <dcterms:created xsi:type="dcterms:W3CDTF">2026-08-11T15:04:56Z</dcterms:created>
  <dcterms:modified xsi:type="dcterms:W3CDTF">2026-08-12T05:26:37Z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f047ccb5f9b74f53a529755488495110_23</vt:lpwstr>
  </property>
</Properties>
</file>