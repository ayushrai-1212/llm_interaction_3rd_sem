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type="screen16x9" cy="6858000" cx="12192000"/>
  <p:notesSz cx="6858000" cy="12192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82" y="7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tableStyles" Target="tableStyle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3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5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8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1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3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6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8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8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1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1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3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6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6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8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8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1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91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4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94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4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95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ext 2"/>
          <p:cNvSpPr/>
          <p:nvPr/>
        </p:nvSpPr>
        <p:spPr>
          <a:xfrm>
            <a:off x="731520" y="1965960"/>
            <a:ext cx="91440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kern="0" lang="en-US" spc="30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dirty="0" lang="en-US"/>
          </a:p>
        </p:txBody>
      </p:sp>
      <p:sp>
        <p:nvSpPr>
          <p:cNvPr id="1048577" name="Text 3"/>
          <p:cNvSpPr/>
          <p:nvPr/>
        </p:nvSpPr>
        <p:spPr>
          <a:xfrm>
            <a:off x="731520" y="2423160"/>
            <a:ext cx="9601200" cy="1828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5000"/>
              </a:lnSpc>
              <a:buNone/>
            </a:pPr>
            <a:r>
              <a:rPr b="1" dirty="0" sz="4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1: Introduction to LLMs</a:t>
            </a:r>
            <a:endParaRPr dirty="0" sz="4800" lang="en-US"/>
          </a:p>
          <a:p>
            <a:pPr indent="0" marL="0">
              <a:lnSpc>
                <a:spcPct val="105000"/>
              </a:lnSpc>
              <a:buNone/>
            </a:pPr>
            <a:r>
              <a:rPr b="1" dirty="0" sz="4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Prompt Engineering</a:t>
            </a:r>
            <a:endParaRPr dirty="0" sz="4800" lang="en-US"/>
          </a:p>
        </p:txBody>
      </p:sp>
      <p:sp>
        <p:nvSpPr>
          <p:cNvPr id="1048578" name="Text 4"/>
          <p:cNvSpPr/>
          <p:nvPr/>
        </p:nvSpPr>
        <p:spPr>
          <a:xfrm>
            <a:off x="731520" y="4343400"/>
            <a:ext cx="82296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0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Introduction to LLM and Prompt Engineering</a:t>
            </a:r>
            <a:endParaRPr dirty="0" sz="2000" lang="en-US"/>
          </a:p>
        </p:txBody>
      </p:sp>
      <p:sp>
        <p:nvSpPr>
          <p:cNvPr id="1048579" name="Shape 5"/>
          <p:cNvSpPr/>
          <p:nvPr/>
        </p:nvSpPr>
        <p:spPr>
          <a:xfrm>
            <a:off x="10972754" y="6034994"/>
            <a:ext cx="91" cy="91"/>
          </a:xfrm>
          <a:prstGeom prst="ellipse"/>
          <a:solidFill>
            <a:srgbClr val="1B2A4A"/>
          </a:solidFill>
        </p:spPr>
      </p:sp>
      <p:pic>
        <p:nvPicPr>
          <p:cNvPr id="2097152" name="Image 0" descr="icons/robot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972777" y="6035017"/>
            <a:ext cx="46" cy="46"/>
          </a:xfrm>
          <a:prstGeom prst="rect"/>
        </p:spPr>
      </p:pic>
      <p:sp>
        <p:nvSpPr>
          <p:cNvPr id="1048580" name="Shape 6"/>
          <p:cNvSpPr/>
          <p:nvPr/>
        </p:nvSpPr>
        <p:spPr>
          <a:xfrm>
            <a:off x="777240" y="4892040"/>
            <a:ext cx="2011680" cy="0"/>
          </a:xfrm>
          <a:prstGeom prst="line"/>
          <a:noFill/>
          <a:ln w="25400">
            <a:solidFill>
              <a:srgbClr val="F2A65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Prompt Engineering</a:t>
            </a:r>
            <a:endParaRPr dirty="0" sz="4000" lang="en-US"/>
          </a:p>
        </p:txBody>
      </p:sp>
      <p:sp>
        <p:nvSpPr>
          <p:cNvPr id="1048585" name="Shape 2"/>
          <p:cNvSpPr/>
          <p:nvPr/>
        </p:nvSpPr>
        <p:spPr>
          <a:xfrm>
            <a:off x="640080" y="1920240"/>
            <a:ext cx="822960" cy="822960"/>
          </a:xfrm>
          <a:prstGeom prst="ellipse"/>
          <a:solidFill>
            <a:srgbClr val="1B2A4A"/>
          </a:solidFill>
        </p:spPr>
      </p:sp>
      <p:pic>
        <p:nvPicPr>
          <p:cNvPr id="2097153" name="Image 0" descr="icons/graduationcap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45820" y="2125980"/>
            <a:ext cx="411480" cy="411480"/>
          </a:xfrm>
          <a:prstGeom prst="rect"/>
        </p:spPr>
      </p:pic>
      <p:sp>
        <p:nvSpPr>
          <p:cNvPr id="1048586" name="Text 3"/>
          <p:cNvSpPr/>
          <p:nvPr/>
        </p:nvSpPr>
        <p:spPr>
          <a:xfrm>
            <a:off x="1691640" y="1920240"/>
            <a:ext cx="420624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shape</a:t>
            </a:r>
            <a:endParaRPr dirty="0" sz="2000" lang="en-US"/>
          </a:p>
        </p:txBody>
      </p:sp>
      <p:sp>
        <p:nvSpPr>
          <p:cNvPr id="1048587" name="Text 4"/>
          <p:cNvSpPr/>
          <p:nvPr/>
        </p:nvSpPr>
        <p:spPr>
          <a:xfrm>
            <a:off x="1691640" y="2304288"/>
            <a:ext cx="4297680" cy="7772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modules, 15 hands-on experiments — this is a practical, build-as-you-go course, not a theory-only class.</a:t>
            </a:r>
            <a:endParaRPr dirty="0" sz="1600" lang="en-US"/>
          </a:p>
        </p:txBody>
      </p:sp>
      <p:sp>
        <p:nvSpPr>
          <p:cNvPr id="1048588" name="Shape 5"/>
          <p:cNvSpPr/>
          <p:nvPr/>
        </p:nvSpPr>
        <p:spPr>
          <a:xfrm>
            <a:off x="640080" y="3337560"/>
            <a:ext cx="822960" cy="822960"/>
          </a:xfrm>
          <a:prstGeom prst="ellipse"/>
          <a:solidFill>
            <a:srgbClr val="1B2A4A"/>
          </a:solidFill>
        </p:spPr>
      </p:sp>
      <p:pic>
        <p:nvPicPr>
          <p:cNvPr id="2097154" name="Image 1" descr="icons/clipboardlist_FFFFFF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45820" y="3543300"/>
            <a:ext cx="411480" cy="411480"/>
          </a:xfrm>
          <a:prstGeom prst="rect"/>
        </p:spPr>
      </p:pic>
      <p:sp>
        <p:nvSpPr>
          <p:cNvPr id="1048589" name="Text 6"/>
          <p:cNvSpPr/>
          <p:nvPr/>
        </p:nvSpPr>
        <p:spPr>
          <a:xfrm>
            <a:off x="1691640" y="3337560"/>
            <a:ext cx="420624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scheme</a:t>
            </a:r>
            <a:endParaRPr dirty="0" sz="2000" lang="en-US"/>
          </a:p>
        </p:txBody>
      </p:sp>
      <p:sp>
        <p:nvSpPr>
          <p:cNvPr id="1048590" name="Text 7"/>
          <p:cNvSpPr/>
          <p:nvPr/>
        </p:nvSpPr>
        <p:spPr>
          <a:xfrm>
            <a:off x="1691640" y="3721608"/>
            <a:ext cx="4297680" cy="7772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+ assessments across the semester. (Instructor: insert your exact weightage from the syllabus.)</a:t>
            </a:r>
            <a:endParaRPr dirty="0" sz="1600" lang="en-US"/>
          </a:p>
        </p:txBody>
      </p:sp>
      <p:sp>
        <p:nvSpPr>
          <p:cNvPr id="1048591" name="Shape 8"/>
          <p:cNvSpPr/>
          <p:nvPr/>
        </p:nvSpPr>
        <p:spPr>
          <a:xfrm>
            <a:off x="640080" y="4754880"/>
            <a:ext cx="822960" cy="822960"/>
          </a:xfrm>
          <a:prstGeom prst="ellipse"/>
          <a:solidFill>
            <a:srgbClr val="1B2A4A"/>
          </a:solidFill>
        </p:spPr>
      </p:sp>
      <p:pic>
        <p:nvPicPr>
          <p:cNvPr id="2097155" name="Image 2" descr="icons/lightbulb_FFFFFF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845820" y="4960620"/>
            <a:ext cx="411480" cy="411480"/>
          </a:xfrm>
          <a:prstGeom prst="rect"/>
        </p:spPr>
      </p:pic>
      <p:sp>
        <p:nvSpPr>
          <p:cNvPr id="1048592" name="Text 9"/>
          <p:cNvSpPr/>
          <p:nvPr/>
        </p:nvSpPr>
        <p:spPr>
          <a:xfrm>
            <a:off x="1691640" y="4754880"/>
            <a:ext cx="420624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</a:t>
            </a:r>
            <a:endParaRPr dirty="0" sz="2000" lang="en-US"/>
          </a:p>
        </p:txBody>
      </p:sp>
      <p:sp>
        <p:nvSpPr>
          <p:cNvPr id="1048593" name="Text 10"/>
          <p:cNvSpPr/>
          <p:nvPr/>
        </p:nvSpPr>
        <p:spPr>
          <a:xfrm>
            <a:off x="1691640" y="5138928"/>
            <a:ext cx="4297680" cy="7772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laptop / phone to every session — most classes involve live interaction with an LLM.</a:t>
            </a:r>
            <a:endParaRPr dirty="0" sz="1600" lang="en-US"/>
          </a:p>
        </p:txBody>
      </p:sp>
      <p:sp>
        <p:nvSpPr>
          <p:cNvPr id="1048594" name="Shape 11"/>
          <p:cNvSpPr/>
          <p:nvPr/>
        </p:nvSpPr>
        <p:spPr>
          <a:xfrm>
            <a:off x="6675120" y="182880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1B2A4A"/>
          </a:solidFill>
        </p:spPr>
      </p:sp>
      <p:sp>
        <p:nvSpPr>
          <p:cNvPr id="1048595" name="Text 12"/>
          <p:cNvSpPr/>
          <p:nvPr/>
        </p:nvSpPr>
        <p:spPr>
          <a:xfrm>
            <a:off x="7040880" y="2057400"/>
            <a:ext cx="420624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kern="0" lang="en-US" spc="20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dirty="0" sz="1600" lang="en-US"/>
          </a:p>
        </p:txBody>
      </p:sp>
      <p:sp>
        <p:nvSpPr>
          <p:cNvPr id="1048596" name="Text 13"/>
          <p:cNvSpPr/>
          <p:nvPr/>
        </p:nvSpPr>
        <p:spPr>
          <a:xfrm>
            <a:off x="7040880" y="2514600"/>
            <a:ext cx="36576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dirty="0" sz="1600" lang="en-US"/>
          </a:p>
        </p:txBody>
      </p:sp>
      <p:sp>
        <p:nvSpPr>
          <p:cNvPr id="1048597" name="Text 14"/>
          <p:cNvSpPr/>
          <p:nvPr/>
        </p:nvSpPr>
        <p:spPr>
          <a:xfrm>
            <a:off x="7498080" y="2514600"/>
            <a:ext cx="393192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Hook: live LLM demo</a:t>
            </a:r>
            <a:endParaRPr dirty="0" sz="1600" lang="en-US"/>
          </a:p>
        </p:txBody>
      </p:sp>
      <p:sp>
        <p:nvSpPr>
          <p:cNvPr id="1048598" name="Text 15"/>
          <p:cNvSpPr/>
          <p:nvPr/>
        </p:nvSpPr>
        <p:spPr>
          <a:xfrm>
            <a:off x="7040880" y="3081528"/>
            <a:ext cx="36576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1600" lang="en-US"/>
          </a:p>
        </p:txBody>
      </p:sp>
      <p:sp>
        <p:nvSpPr>
          <p:cNvPr id="1048599" name="Text 16"/>
          <p:cNvSpPr/>
          <p:nvPr/>
        </p:nvSpPr>
        <p:spPr>
          <a:xfrm>
            <a:off x="7498080" y="3081528"/>
            <a:ext cx="393192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NLP?</a:t>
            </a:r>
            <a:endParaRPr dirty="0" sz="1600" lang="en-US"/>
          </a:p>
        </p:txBody>
      </p:sp>
      <p:sp>
        <p:nvSpPr>
          <p:cNvPr id="1048600" name="Text 17"/>
          <p:cNvSpPr/>
          <p:nvPr/>
        </p:nvSpPr>
        <p:spPr>
          <a:xfrm>
            <a:off x="7040880" y="3648456"/>
            <a:ext cx="36576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1600" lang="en-US"/>
          </a:p>
        </p:txBody>
      </p:sp>
      <p:sp>
        <p:nvSpPr>
          <p:cNvPr id="1048601" name="Text 18"/>
          <p:cNvSpPr/>
          <p:nvPr/>
        </p:nvSpPr>
        <p:spPr>
          <a:xfrm>
            <a:off x="7498080" y="3648456"/>
            <a:ext cx="393192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 rule-based → transformers</a:t>
            </a:r>
            <a:endParaRPr dirty="0" sz="1600" lang="en-US"/>
          </a:p>
        </p:txBody>
      </p:sp>
      <p:sp>
        <p:nvSpPr>
          <p:cNvPr id="1048602" name="Text 19"/>
          <p:cNvSpPr/>
          <p:nvPr/>
        </p:nvSpPr>
        <p:spPr>
          <a:xfrm>
            <a:off x="7040880" y="4215384"/>
            <a:ext cx="36576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1600" lang="en-US"/>
          </a:p>
        </p:txBody>
      </p:sp>
      <p:sp>
        <p:nvSpPr>
          <p:cNvPr id="1048603" name="Text 20"/>
          <p:cNvSpPr/>
          <p:nvPr/>
        </p:nvSpPr>
        <p:spPr>
          <a:xfrm>
            <a:off x="7498080" y="4215384"/>
            <a:ext cx="393192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 &amp; popular LLMs</a:t>
            </a:r>
            <a:endParaRPr dirty="0" sz="1600" lang="en-US"/>
          </a:p>
        </p:txBody>
      </p:sp>
      <p:sp>
        <p:nvSpPr>
          <p:cNvPr id="1048604" name="Text 21"/>
          <p:cNvSpPr/>
          <p:nvPr/>
        </p:nvSpPr>
        <p:spPr>
          <a:xfrm>
            <a:off x="7040880" y="4782312"/>
            <a:ext cx="36576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1600" lang="en-US"/>
          </a:p>
        </p:txBody>
      </p:sp>
      <p:sp>
        <p:nvSpPr>
          <p:cNvPr id="1048605" name="Text 22"/>
          <p:cNvSpPr/>
          <p:nvPr/>
        </p:nvSpPr>
        <p:spPr>
          <a:xfrm>
            <a:off x="7498080" y="4782312"/>
            <a:ext cx="393192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prompt engineering matters</a:t>
            </a:r>
            <a:endParaRPr dirty="0" sz="1600" lang="en-US"/>
          </a:p>
        </p:txBody>
      </p:sp>
      <p:sp>
        <p:nvSpPr>
          <p:cNvPr id="1048606" name="Text 23"/>
          <p:cNvSpPr/>
          <p:nvPr/>
        </p:nvSpPr>
        <p:spPr>
          <a:xfrm>
            <a:off x="7040880" y="5349240"/>
            <a:ext cx="36576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dirty="0" sz="1600" lang="en-US"/>
          </a:p>
        </p:txBody>
      </p:sp>
      <p:sp>
        <p:nvSpPr>
          <p:cNvPr id="1048607" name="Text 24"/>
          <p:cNvSpPr/>
          <p:nvPr/>
        </p:nvSpPr>
        <p:spPr>
          <a:xfrm>
            <a:off x="7498080" y="5349240"/>
            <a:ext cx="393192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Experiment 1</a:t>
            </a:r>
            <a:endParaRPr dirty="0" sz="1600" lang="en-US"/>
          </a:p>
        </p:txBody>
      </p:sp>
      <p:sp>
        <p:nvSpPr>
          <p:cNvPr id="1048608" name="Text 26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11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ext 2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Same Prompt, Real Time</a:t>
            </a:r>
            <a:endParaRPr dirty="0" sz="4000" lang="en-US"/>
          </a:p>
        </p:txBody>
      </p:sp>
      <p:sp>
        <p:nvSpPr>
          <p:cNvPr id="1048613" name="Shape 3"/>
          <p:cNvSpPr/>
          <p:nvPr/>
        </p:nvSpPr>
        <p:spPr>
          <a:xfrm>
            <a:off x="731520" y="1965960"/>
            <a:ext cx="57607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</p:spPr>
      </p:sp>
      <p:sp>
        <p:nvSpPr>
          <p:cNvPr id="1048614" name="Shape 4"/>
          <p:cNvSpPr/>
          <p:nvPr/>
        </p:nvSpPr>
        <p:spPr>
          <a:xfrm>
            <a:off x="1051560" y="2377440"/>
            <a:ext cx="731520" cy="731520"/>
          </a:xfrm>
          <a:prstGeom prst="ellipse"/>
          <a:solidFill>
            <a:srgbClr val="F2A65A"/>
          </a:solidFill>
        </p:spPr>
      </p:sp>
      <p:pic>
        <p:nvPicPr>
          <p:cNvPr id="2097156" name="Image 0" descr="icons/bullhorn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234440" y="2560320"/>
            <a:ext cx="365760" cy="365760"/>
          </a:xfrm>
          <a:prstGeom prst="rect"/>
        </p:spPr>
      </p:pic>
      <p:sp>
        <p:nvSpPr>
          <p:cNvPr id="1048615" name="Text 5"/>
          <p:cNvSpPr/>
          <p:nvPr/>
        </p:nvSpPr>
        <p:spPr>
          <a:xfrm>
            <a:off x="1965960" y="2331720"/>
            <a:ext cx="434340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800" i="1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"Tell me about India"</a:t>
            </a:r>
            <a:endParaRPr dirty="0" sz="2800" lang="en-US"/>
          </a:p>
        </p:txBody>
      </p:sp>
      <p:sp>
        <p:nvSpPr>
          <p:cNvPr id="1048616" name="Text 6"/>
          <p:cNvSpPr/>
          <p:nvPr/>
        </p:nvSpPr>
        <p:spPr>
          <a:xfrm>
            <a:off x="731520" y="3703320"/>
            <a:ext cx="5760720" cy="82296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6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this exact prompt into an LLM in front of the class and read the response together.</a:t>
            </a:r>
            <a:endParaRPr dirty="0" sz="1600" lang="en-US"/>
          </a:p>
        </p:txBody>
      </p:sp>
      <p:sp>
        <p:nvSpPr>
          <p:cNvPr id="1048617" name="Shape 7"/>
          <p:cNvSpPr/>
          <p:nvPr/>
        </p:nvSpPr>
        <p:spPr>
          <a:xfrm>
            <a:off x="6858000" y="1965960"/>
            <a:ext cx="4754880" cy="4114800"/>
          </a:xfrm>
          <a:prstGeom prst="roundRect">
            <a:avLst>
              <a:gd name="adj" fmla="val 2667"/>
            </a:avLst>
          </a:prstGeom>
          <a:solidFill>
            <a:srgbClr val="24365F"/>
          </a:solidFill>
        </p:spPr>
      </p:sp>
      <p:sp>
        <p:nvSpPr>
          <p:cNvPr id="1048618" name="Text 8"/>
          <p:cNvSpPr/>
          <p:nvPr/>
        </p:nvSpPr>
        <p:spPr>
          <a:xfrm>
            <a:off x="7178040" y="2194560"/>
            <a:ext cx="41148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kern="0" lang="en-US" spc="20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CLASS</a:t>
            </a:r>
            <a:endParaRPr dirty="0" sz="1600" lang="en-US"/>
          </a:p>
        </p:txBody>
      </p:sp>
      <p:sp>
        <p:nvSpPr>
          <p:cNvPr id="1048619" name="Text 9"/>
          <p:cNvSpPr/>
          <p:nvPr/>
        </p:nvSpPr>
        <p:spPr>
          <a:xfrm>
            <a:off x="7178040" y="2651760"/>
            <a:ext cx="32004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dirty="0" sz="2000" lang="en-US"/>
          </a:p>
        </p:txBody>
      </p:sp>
      <p:sp>
        <p:nvSpPr>
          <p:cNvPr id="1048620" name="Text 10"/>
          <p:cNvSpPr/>
          <p:nvPr/>
        </p:nvSpPr>
        <p:spPr>
          <a:xfrm>
            <a:off x="7589520" y="2651760"/>
            <a:ext cx="384048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this answer good or bad?</a:t>
            </a:r>
            <a:endParaRPr dirty="0" sz="1600" lang="en-US"/>
          </a:p>
        </p:txBody>
      </p:sp>
      <p:sp>
        <p:nvSpPr>
          <p:cNvPr id="1048621" name="Text 11"/>
          <p:cNvSpPr/>
          <p:nvPr/>
        </p:nvSpPr>
        <p:spPr>
          <a:xfrm>
            <a:off x="7178040" y="3429000"/>
            <a:ext cx="32004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dirty="0" sz="2000" lang="en-US"/>
          </a:p>
        </p:txBody>
      </p:sp>
      <p:sp>
        <p:nvSpPr>
          <p:cNvPr id="1048622" name="Text 12"/>
          <p:cNvSpPr/>
          <p:nvPr/>
        </p:nvSpPr>
        <p:spPr>
          <a:xfrm>
            <a:off x="7589520" y="3429000"/>
            <a:ext cx="384048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— facts, structure, tone?</a:t>
            </a:r>
            <a:endParaRPr dirty="0" sz="1600" lang="en-US"/>
          </a:p>
        </p:txBody>
      </p:sp>
      <p:sp>
        <p:nvSpPr>
          <p:cNvPr id="1048623" name="Text 13"/>
          <p:cNvSpPr/>
          <p:nvPr/>
        </p:nvSpPr>
        <p:spPr>
          <a:xfrm>
            <a:off x="7178040" y="4206240"/>
            <a:ext cx="32004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dirty="0" sz="2000" lang="en-US"/>
          </a:p>
        </p:txBody>
      </p:sp>
      <p:sp>
        <p:nvSpPr>
          <p:cNvPr id="1048624" name="Text 14"/>
          <p:cNvSpPr/>
          <p:nvPr/>
        </p:nvSpPr>
        <p:spPr>
          <a:xfrm>
            <a:off x="7589520" y="4206240"/>
            <a:ext cx="384048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change about the prompt to get a better answer?</a:t>
            </a:r>
            <a:endParaRPr dirty="0" sz="1600" lang="en-US"/>
          </a:p>
        </p:txBody>
      </p:sp>
      <p:sp>
        <p:nvSpPr>
          <p:cNvPr id="1048625" name="Text 15"/>
          <p:cNvSpPr/>
          <p:nvPr/>
        </p:nvSpPr>
        <p:spPr>
          <a:xfrm>
            <a:off x="7178040" y="4983480"/>
            <a:ext cx="32004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dirty="0" sz="2000" lang="en-US"/>
          </a:p>
        </p:txBody>
      </p:sp>
      <p:sp>
        <p:nvSpPr>
          <p:cNvPr id="1048626" name="Text 16"/>
          <p:cNvSpPr/>
          <p:nvPr/>
        </p:nvSpPr>
        <p:spPr>
          <a:xfrm>
            <a:off x="7589520" y="4983480"/>
            <a:ext cx="384048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asked a friend the same question, would they answer differently than the model did?</a:t>
            </a:r>
            <a:endParaRPr dirty="0" sz="1600" lang="en-US"/>
          </a:p>
        </p:txBody>
      </p:sp>
      <p:sp>
        <p:nvSpPr>
          <p:cNvPr id="1048627" name="Text 18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11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NLP?</a:t>
            </a:r>
            <a:endParaRPr dirty="0" sz="4000" lang="en-US"/>
          </a:p>
        </p:txBody>
      </p:sp>
      <p:sp>
        <p:nvSpPr>
          <p:cNvPr id="1048632" name="Shape 2"/>
          <p:cNvSpPr/>
          <p:nvPr/>
        </p:nvSpPr>
        <p:spPr>
          <a:xfrm>
            <a:off x="1005840" y="1874520"/>
            <a:ext cx="1737360" cy="1737360"/>
          </a:xfrm>
          <a:prstGeom prst="ellipse"/>
          <a:solidFill>
            <a:srgbClr val="1B2A4A"/>
          </a:solidFill>
        </p:spPr>
      </p:sp>
      <p:pic>
        <p:nvPicPr>
          <p:cNvPr id="2097157" name="Image 0" descr="icons/globe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440180" y="2308860"/>
            <a:ext cx="868680" cy="868680"/>
          </a:xfrm>
          <a:prstGeom prst="rect"/>
        </p:spPr>
      </p:pic>
      <p:sp>
        <p:nvSpPr>
          <p:cNvPr id="1048633" name="Shape 3"/>
          <p:cNvSpPr/>
          <p:nvPr/>
        </p:nvSpPr>
        <p:spPr>
          <a:xfrm>
            <a:off x="3108960" y="1874520"/>
            <a:ext cx="85039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634" name="Text 4"/>
          <p:cNvSpPr/>
          <p:nvPr/>
        </p:nvSpPr>
        <p:spPr>
          <a:xfrm>
            <a:off x="3429000" y="2057400"/>
            <a:ext cx="79552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(NLP)</a:t>
            </a:r>
            <a:endParaRPr dirty="0" sz="2000" lang="en-US"/>
          </a:p>
        </p:txBody>
      </p:sp>
      <p:sp>
        <p:nvSpPr>
          <p:cNvPr id="1048635" name="Text 5"/>
          <p:cNvSpPr/>
          <p:nvPr/>
        </p:nvSpPr>
        <p:spPr>
          <a:xfrm>
            <a:off x="3429000" y="2423160"/>
            <a:ext cx="7955280" cy="109728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5000"/>
              </a:lnSpc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branch of AI concerned with enabling computers to read, understand, interpret, and generate human language — text and speech — in a way that is useful and (ideally) humanlike.</a:t>
            </a:r>
            <a:endParaRPr dirty="0" sz="1600" lang="en-US"/>
          </a:p>
        </p:txBody>
      </p:sp>
      <p:sp>
        <p:nvSpPr>
          <p:cNvPr id="1048636" name="Text 6"/>
          <p:cNvSpPr/>
          <p:nvPr/>
        </p:nvSpPr>
        <p:spPr>
          <a:xfrm>
            <a:off x="548640" y="3977640"/>
            <a:ext cx="9144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kern="0" lang="en-US" spc="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IN YOUR POCKET — EXAMPLES YOU ALREADY USE</a:t>
            </a:r>
            <a:endParaRPr dirty="0" sz="1600" lang="en-US"/>
          </a:p>
        </p:txBody>
      </p:sp>
      <p:sp>
        <p:nvSpPr>
          <p:cNvPr id="1048637" name="Shape 7"/>
          <p:cNvSpPr/>
          <p:nvPr/>
        </p:nvSpPr>
        <p:spPr>
          <a:xfrm>
            <a:off x="548640" y="43891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638" name="Shape 8"/>
          <p:cNvSpPr/>
          <p:nvPr/>
        </p:nvSpPr>
        <p:spPr>
          <a:xfrm>
            <a:off x="1527048" y="4572000"/>
            <a:ext cx="640080" cy="640080"/>
          </a:xfrm>
          <a:prstGeom prst="ellipse"/>
          <a:solidFill>
            <a:srgbClr val="EAF0FF"/>
          </a:solidFill>
        </p:spPr>
      </p:sp>
      <p:pic>
        <p:nvPicPr>
          <p:cNvPr id="2097158" name="Image 1" descr="icons/language_1B2A4A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687068" y="4732020"/>
            <a:ext cx="320040" cy="320040"/>
          </a:xfrm>
          <a:prstGeom prst="rect"/>
        </p:spPr>
      </p:pic>
      <p:sp>
        <p:nvSpPr>
          <p:cNvPr id="1048639" name="Text 9"/>
          <p:cNvSpPr/>
          <p:nvPr/>
        </p:nvSpPr>
        <p:spPr>
          <a:xfrm>
            <a:off x="685800" y="5349240"/>
            <a:ext cx="233172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</a:t>
            </a:r>
            <a:endParaRPr dirty="0" sz="1600" lang="en-US"/>
          </a:p>
        </p:txBody>
      </p:sp>
      <p:sp>
        <p:nvSpPr>
          <p:cNvPr id="1048640" name="Text 10"/>
          <p:cNvSpPr/>
          <p:nvPr/>
        </p:nvSpPr>
        <p:spPr>
          <a:xfrm>
            <a:off x="685800" y="5650992"/>
            <a:ext cx="233172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dirty="0" sz="1200" lang="en-US"/>
          </a:p>
        </p:txBody>
      </p:sp>
      <p:sp>
        <p:nvSpPr>
          <p:cNvPr id="1048641" name="Shape 11"/>
          <p:cNvSpPr/>
          <p:nvPr/>
        </p:nvSpPr>
        <p:spPr>
          <a:xfrm>
            <a:off x="3337560" y="43891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642" name="Shape 12"/>
          <p:cNvSpPr/>
          <p:nvPr/>
        </p:nvSpPr>
        <p:spPr>
          <a:xfrm>
            <a:off x="4315968" y="4572000"/>
            <a:ext cx="640080" cy="640080"/>
          </a:xfrm>
          <a:prstGeom prst="ellipse"/>
          <a:solidFill>
            <a:srgbClr val="EAF0FF"/>
          </a:solidFill>
        </p:spPr>
      </p:sp>
      <p:pic>
        <p:nvPicPr>
          <p:cNvPr id="2097159" name="Image 2" descr="icons/comments_1B2A4A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4475988" y="4732020"/>
            <a:ext cx="320040" cy="320040"/>
          </a:xfrm>
          <a:prstGeom prst="rect"/>
        </p:spPr>
      </p:pic>
      <p:sp>
        <p:nvSpPr>
          <p:cNvPr id="1048643" name="Text 13"/>
          <p:cNvSpPr/>
          <p:nvPr/>
        </p:nvSpPr>
        <p:spPr>
          <a:xfrm>
            <a:off x="3474720" y="5349240"/>
            <a:ext cx="233172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/ Alexa</a:t>
            </a:r>
            <a:endParaRPr dirty="0" sz="1600" lang="en-US"/>
          </a:p>
        </p:txBody>
      </p:sp>
      <p:sp>
        <p:nvSpPr>
          <p:cNvPr id="1048644" name="Text 14"/>
          <p:cNvSpPr/>
          <p:nvPr/>
        </p:nvSpPr>
        <p:spPr>
          <a:xfrm>
            <a:off x="3474720" y="5650992"/>
            <a:ext cx="233172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understanding</a:t>
            </a:r>
            <a:endParaRPr dirty="0" sz="1200" lang="en-US"/>
          </a:p>
        </p:txBody>
      </p:sp>
      <p:sp>
        <p:nvSpPr>
          <p:cNvPr id="1048645" name="Shape 15"/>
          <p:cNvSpPr/>
          <p:nvPr/>
        </p:nvSpPr>
        <p:spPr>
          <a:xfrm>
            <a:off x="6126480" y="43891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646" name="Shape 16"/>
          <p:cNvSpPr/>
          <p:nvPr/>
        </p:nvSpPr>
        <p:spPr>
          <a:xfrm>
            <a:off x="7104888" y="4572000"/>
            <a:ext cx="640080" cy="640080"/>
          </a:xfrm>
          <a:prstGeom prst="ellipse"/>
          <a:solidFill>
            <a:srgbClr val="EAF0FF"/>
          </a:solidFill>
        </p:spPr>
      </p:sp>
      <p:pic>
        <p:nvPicPr>
          <p:cNvPr id="2097160" name="Image 3" descr="icons/checkcircle_1B2A4A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7264908" y="4732020"/>
            <a:ext cx="320040" cy="320040"/>
          </a:xfrm>
          <a:prstGeom prst="rect"/>
        </p:spPr>
      </p:pic>
      <p:sp>
        <p:nvSpPr>
          <p:cNvPr id="1048647" name="Text 17"/>
          <p:cNvSpPr/>
          <p:nvPr/>
        </p:nvSpPr>
        <p:spPr>
          <a:xfrm>
            <a:off x="6263640" y="5349240"/>
            <a:ext cx="233172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Smart Reply</a:t>
            </a:r>
            <a:endParaRPr dirty="0" sz="1600" lang="en-US"/>
          </a:p>
        </p:txBody>
      </p:sp>
      <p:sp>
        <p:nvSpPr>
          <p:cNvPr id="1048648" name="Text 18"/>
          <p:cNvSpPr/>
          <p:nvPr/>
        </p:nvSpPr>
        <p:spPr>
          <a:xfrm>
            <a:off x="6263640" y="5650992"/>
            <a:ext cx="233172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</a:t>
            </a:r>
            <a:endParaRPr dirty="0" sz="1200" lang="en-US"/>
          </a:p>
        </p:txBody>
      </p:sp>
      <p:sp>
        <p:nvSpPr>
          <p:cNvPr id="1048649" name="Shape 19"/>
          <p:cNvSpPr/>
          <p:nvPr/>
        </p:nvSpPr>
        <p:spPr>
          <a:xfrm>
            <a:off x="8915400" y="43891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650" name="Shape 20"/>
          <p:cNvSpPr/>
          <p:nvPr/>
        </p:nvSpPr>
        <p:spPr>
          <a:xfrm>
            <a:off x="9893808" y="4572000"/>
            <a:ext cx="640080" cy="640080"/>
          </a:xfrm>
          <a:prstGeom prst="ellipse"/>
          <a:solidFill>
            <a:srgbClr val="EAF0FF"/>
          </a:solidFill>
        </p:spPr>
      </p:sp>
      <p:pic>
        <p:nvPicPr>
          <p:cNvPr id="2097161" name="Image 4" descr="icons/smile_1B2A4A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10053828" y="4732020"/>
            <a:ext cx="320040" cy="320040"/>
          </a:xfrm>
          <a:prstGeom prst="rect"/>
        </p:spPr>
      </p:pic>
      <p:sp>
        <p:nvSpPr>
          <p:cNvPr id="1048651" name="Text 21"/>
          <p:cNvSpPr/>
          <p:nvPr/>
        </p:nvSpPr>
        <p:spPr>
          <a:xfrm>
            <a:off x="9052560" y="5349240"/>
            <a:ext cx="233172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filters</a:t>
            </a:r>
            <a:endParaRPr dirty="0" sz="1600" lang="en-US"/>
          </a:p>
        </p:txBody>
      </p:sp>
      <p:sp>
        <p:nvSpPr>
          <p:cNvPr id="1048652" name="Text 22"/>
          <p:cNvSpPr/>
          <p:nvPr/>
        </p:nvSpPr>
        <p:spPr>
          <a:xfrm>
            <a:off x="9052560" y="5650992"/>
            <a:ext cx="233172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dirty="0" sz="1200" lang="en-US"/>
          </a:p>
        </p:txBody>
      </p:sp>
      <p:sp>
        <p:nvSpPr>
          <p:cNvPr id="1048653" name="Text 24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11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NLP Tasks</a:t>
            </a:r>
            <a:endParaRPr dirty="0" sz="4000" lang="en-US"/>
          </a:p>
        </p:txBody>
      </p:sp>
      <p:sp>
        <p:nvSpPr>
          <p:cNvPr id="1048658" name="Shape 2"/>
          <p:cNvSpPr/>
          <p:nvPr/>
        </p:nvSpPr>
        <p:spPr>
          <a:xfrm>
            <a:off x="548640" y="196596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659" name="Shape 3"/>
          <p:cNvSpPr/>
          <p:nvPr/>
        </p:nvSpPr>
        <p:spPr>
          <a:xfrm>
            <a:off x="845820" y="2171700"/>
            <a:ext cx="777240" cy="777240"/>
          </a:xfrm>
          <a:prstGeom prst="ellipse"/>
          <a:solidFill>
            <a:srgbClr val="1B2A4A"/>
          </a:solidFill>
        </p:spPr>
      </p:sp>
      <p:pic>
        <p:nvPicPr>
          <p:cNvPr id="2097162" name="Image 0" descr="icons/language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40130" y="2366010"/>
            <a:ext cx="388620" cy="388620"/>
          </a:xfrm>
          <a:prstGeom prst="rect"/>
        </p:spPr>
      </p:pic>
      <p:sp>
        <p:nvSpPr>
          <p:cNvPr id="1048660" name="Text 4"/>
          <p:cNvSpPr/>
          <p:nvPr/>
        </p:nvSpPr>
        <p:spPr>
          <a:xfrm>
            <a:off x="777240" y="3017520"/>
            <a:ext cx="30175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dirty="0" lang="en-US"/>
          </a:p>
        </p:txBody>
      </p:sp>
      <p:sp>
        <p:nvSpPr>
          <p:cNvPr id="1048661" name="Text 5"/>
          <p:cNvSpPr/>
          <p:nvPr/>
        </p:nvSpPr>
        <p:spPr>
          <a:xfrm>
            <a:off x="777240" y="3383280"/>
            <a:ext cx="301752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400" i="1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"Translate this email into Hindi."</a:t>
            </a:r>
            <a:endParaRPr dirty="0" sz="1400" lang="en-US"/>
          </a:p>
        </p:txBody>
      </p:sp>
      <p:sp>
        <p:nvSpPr>
          <p:cNvPr id="1048662" name="Shape 6"/>
          <p:cNvSpPr/>
          <p:nvPr/>
        </p:nvSpPr>
        <p:spPr>
          <a:xfrm>
            <a:off x="4251960" y="196596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663" name="Shape 7"/>
          <p:cNvSpPr/>
          <p:nvPr/>
        </p:nvSpPr>
        <p:spPr>
          <a:xfrm>
            <a:off x="4549140" y="2171700"/>
            <a:ext cx="777240" cy="777240"/>
          </a:xfrm>
          <a:prstGeom prst="ellipse"/>
          <a:solidFill>
            <a:srgbClr val="1B2A4A"/>
          </a:solidFill>
        </p:spPr>
      </p:sp>
      <p:pic>
        <p:nvPicPr>
          <p:cNvPr id="2097163" name="Image 1" descr="icons/pen_FFFFFF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743450" y="2366010"/>
            <a:ext cx="388620" cy="388620"/>
          </a:xfrm>
          <a:prstGeom prst="rect"/>
        </p:spPr>
      </p:pic>
      <p:sp>
        <p:nvSpPr>
          <p:cNvPr id="1048664" name="Text 8"/>
          <p:cNvSpPr/>
          <p:nvPr/>
        </p:nvSpPr>
        <p:spPr>
          <a:xfrm>
            <a:off x="4480560" y="3017520"/>
            <a:ext cx="30175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dirty="0" lang="en-US"/>
          </a:p>
        </p:txBody>
      </p:sp>
      <p:sp>
        <p:nvSpPr>
          <p:cNvPr id="1048665" name="Text 9"/>
          <p:cNvSpPr/>
          <p:nvPr/>
        </p:nvSpPr>
        <p:spPr>
          <a:xfrm>
            <a:off x="4480560" y="3383280"/>
            <a:ext cx="301752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400" i="1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this article in 3 bullet points."</a:t>
            </a:r>
            <a:endParaRPr dirty="0" sz="1400" lang="en-US"/>
          </a:p>
        </p:txBody>
      </p:sp>
      <p:sp>
        <p:nvSpPr>
          <p:cNvPr id="1048666" name="Shape 10"/>
          <p:cNvSpPr/>
          <p:nvPr/>
        </p:nvSpPr>
        <p:spPr>
          <a:xfrm>
            <a:off x="7955280" y="196596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667" name="Shape 11"/>
          <p:cNvSpPr/>
          <p:nvPr/>
        </p:nvSpPr>
        <p:spPr>
          <a:xfrm>
            <a:off x="8252460" y="2171700"/>
            <a:ext cx="777240" cy="777240"/>
          </a:xfrm>
          <a:prstGeom prst="ellipse"/>
          <a:solidFill>
            <a:srgbClr val="1B2A4A"/>
          </a:solidFill>
        </p:spPr>
      </p:sp>
      <p:pic>
        <p:nvPicPr>
          <p:cNvPr id="2097164" name="Image 2" descr="icons/questioncircle_FFFFFF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8446770" y="2366010"/>
            <a:ext cx="388620" cy="388620"/>
          </a:xfrm>
          <a:prstGeom prst="rect"/>
        </p:spPr>
      </p:pic>
      <p:sp>
        <p:nvSpPr>
          <p:cNvPr id="1048668" name="Text 12"/>
          <p:cNvSpPr/>
          <p:nvPr/>
        </p:nvSpPr>
        <p:spPr>
          <a:xfrm>
            <a:off x="8183880" y="3017520"/>
            <a:ext cx="30175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Answering</a:t>
            </a:r>
            <a:endParaRPr dirty="0" lang="en-US"/>
          </a:p>
        </p:txBody>
      </p:sp>
      <p:sp>
        <p:nvSpPr>
          <p:cNvPr id="1048669" name="Text 13"/>
          <p:cNvSpPr/>
          <p:nvPr/>
        </p:nvSpPr>
        <p:spPr>
          <a:xfrm>
            <a:off x="8183880" y="3383280"/>
            <a:ext cx="301752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400" i="1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year did India gain independence?"</a:t>
            </a:r>
            <a:endParaRPr dirty="0" sz="1400" lang="en-US"/>
          </a:p>
        </p:txBody>
      </p:sp>
      <p:sp>
        <p:nvSpPr>
          <p:cNvPr id="1048670" name="Shape 14"/>
          <p:cNvSpPr/>
          <p:nvPr/>
        </p:nvSpPr>
        <p:spPr>
          <a:xfrm>
            <a:off x="2377440" y="416052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671" name="Shape 15"/>
          <p:cNvSpPr/>
          <p:nvPr/>
        </p:nvSpPr>
        <p:spPr>
          <a:xfrm>
            <a:off x="2674620" y="4366260"/>
            <a:ext cx="777240" cy="777240"/>
          </a:xfrm>
          <a:prstGeom prst="ellipse"/>
          <a:solidFill>
            <a:srgbClr val="1B2A4A"/>
          </a:solidFill>
        </p:spPr>
      </p:sp>
      <p:pic>
        <p:nvPicPr>
          <p:cNvPr id="2097165" name="Image 3" descr="icons/smile_FFFFFF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2868930" y="4560570"/>
            <a:ext cx="388620" cy="388620"/>
          </a:xfrm>
          <a:prstGeom prst="rect"/>
        </p:spPr>
      </p:pic>
      <p:sp>
        <p:nvSpPr>
          <p:cNvPr id="1048672" name="Text 16"/>
          <p:cNvSpPr/>
          <p:nvPr/>
        </p:nvSpPr>
        <p:spPr>
          <a:xfrm>
            <a:off x="2606040" y="5212080"/>
            <a:ext cx="30175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dirty="0" lang="en-US"/>
          </a:p>
        </p:txBody>
      </p:sp>
      <p:sp>
        <p:nvSpPr>
          <p:cNvPr id="1048673" name="Text 17"/>
          <p:cNvSpPr/>
          <p:nvPr/>
        </p:nvSpPr>
        <p:spPr>
          <a:xfrm>
            <a:off x="2606040" y="5577840"/>
            <a:ext cx="301752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400" i="1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product review positive or negative?"</a:t>
            </a:r>
            <a:endParaRPr dirty="0" sz="1400" lang="en-US"/>
          </a:p>
        </p:txBody>
      </p:sp>
      <p:sp>
        <p:nvSpPr>
          <p:cNvPr id="1048674" name="Shape 18"/>
          <p:cNvSpPr/>
          <p:nvPr/>
        </p:nvSpPr>
        <p:spPr>
          <a:xfrm>
            <a:off x="6080760" y="416052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675" name="Shape 19"/>
          <p:cNvSpPr/>
          <p:nvPr/>
        </p:nvSpPr>
        <p:spPr>
          <a:xfrm>
            <a:off x="6377940" y="4366260"/>
            <a:ext cx="777240" cy="777240"/>
          </a:xfrm>
          <a:prstGeom prst="ellipse"/>
          <a:solidFill>
            <a:srgbClr val="1B2A4A"/>
          </a:solidFill>
        </p:spPr>
      </p:sp>
      <p:pic>
        <p:nvPicPr>
          <p:cNvPr id="2097166" name="Image 4" descr="icons/magic_FFFFFF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6572250" y="4560570"/>
            <a:ext cx="388620" cy="388620"/>
          </a:xfrm>
          <a:prstGeom prst="rect"/>
        </p:spPr>
      </p:pic>
      <p:sp>
        <p:nvSpPr>
          <p:cNvPr id="1048676" name="Text 20"/>
          <p:cNvSpPr/>
          <p:nvPr/>
        </p:nvSpPr>
        <p:spPr>
          <a:xfrm>
            <a:off x="6309360" y="5212080"/>
            <a:ext cx="30175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</a:t>
            </a:r>
            <a:endParaRPr dirty="0" lang="en-US"/>
          </a:p>
        </p:txBody>
      </p:sp>
      <p:sp>
        <p:nvSpPr>
          <p:cNvPr id="1048677" name="Text 21"/>
          <p:cNvSpPr/>
          <p:nvPr/>
        </p:nvSpPr>
        <p:spPr>
          <a:xfrm>
            <a:off x="6309360" y="5577840"/>
            <a:ext cx="301752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400" i="1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short poem about the monsoon."</a:t>
            </a:r>
            <a:endParaRPr dirty="0" sz="1400" lang="en-US"/>
          </a:p>
        </p:txBody>
      </p:sp>
      <p:sp>
        <p:nvSpPr>
          <p:cNvPr id="1048678" name="Text 23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11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 to Modern LLMs</a:t>
            </a:r>
            <a:endParaRPr dirty="0" sz="4000" lang="en-US"/>
          </a:p>
        </p:txBody>
      </p:sp>
      <p:sp>
        <p:nvSpPr>
          <p:cNvPr id="1048683" name="Shape 2"/>
          <p:cNvSpPr/>
          <p:nvPr/>
        </p:nvSpPr>
        <p:spPr>
          <a:xfrm>
            <a:off x="822960" y="3566160"/>
            <a:ext cx="10698480" cy="0"/>
          </a:xfrm>
          <a:prstGeom prst="line"/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1048684" name="Shape 3"/>
          <p:cNvSpPr/>
          <p:nvPr/>
        </p:nvSpPr>
        <p:spPr>
          <a:xfrm>
            <a:off x="722376" y="3465576"/>
            <a:ext cx="201168" cy="201168"/>
          </a:xfrm>
          <a:prstGeom prst="ellipse"/>
          <a:solidFill>
            <a:srgbClr val="F2A65A"/>
          </a:solidFill>
        </p:spPr>
      </p:sp>
      <p:sp>
        <p:nvSpPr>
          <p:cNvPr id="1048685" name="Text 4"/>
          <p:cNvSpPr/>
          <p:nvPr/>
        </p:nvSpPr>
        <p:spPr>
          <a:xfrm>
            <a:off x="45720" y="2148840"/>
            <a:ext cx="1554480" cy="1005840"/>
          </a:xfrm>
          <a:prstGeom prst="rect"/>
          <a:noFill/>
        </p:spPr>
        <p:txBody>
          <a:bodyPr anchor="b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dirty="0" sz="1400" lang="en-US"/>
          </a:p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dirty="0" sz="1400" lang="en-US"/>
          </a:p>
        </p:txBody>
      </p:sp>
      <p:sp>
        <p:nvSpPr>
          <p:cNvPr id="1048686" name="Text 5"/>
          <p:cNvSpPr/>
          <p:nvPr/>
        </p:nvSpPr>
        <p:spPr>
          <a:xfrm>
            <a:off x="45720" y="1828800"/>
            <a:ext cx="155448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1950s–80s</a:t>
            </a:r>
            <a:endParaRPr dirty="0" sz="1400" lang="en-US"/>
          </a:p>
        </p:txBody>
      </p:sp>
      <p:sp>
        <p:nvSpPr>
          <p:cNvPr id="1048687" name="Shape 6"/>
          <p:cNvSpPr/>
          <p:nvPr/>
        </p:nvSpPr>
        <p:spPr>
          <a:xfrm>
            <a:off x="822960" y="3154680"/>
            <a:ext cx="0" cy="411480"/>
          </a:xfrm>
          <a:prstGeom prst="line"/>
          <a:noFill/>
          <a:ln w="12700">
            <a:solidFill>
              <a:srgbClr val="3D5A80"/>
            </a:solidFill>
            <a:prstDash val="dash"/>
          </a:ln>
        </p:spPr>
      </p:sp>
      <p:sp>
        <p:nvSpPr>
          <p:cNvPr id="1048688" name="Shape 7"/>
          <p:cNvSpPr/>
          <p:nvPr/>
        </p:nvSpPr>
        <p:spPr>
          <a:xfrm>
            <a:off x="2505456" y="3465576"/>
            <a:ext cx="201168" cy="201168"/>
          </a:xfrm>
          <a:prstGeom prst="ellipse"/>
          <a:solidFill>
            <a:srgbClr val="F2A65A"/>
          </a:solidFill>
        </p:spPr>
      </p:sp>
      <p:sp>
        <p:nvSpPr>
          <p:cNvPr id="1048689" name="Text 8"/>
          <p:cNvSpPr/>
          <p:nvPr/>
        </p:nvSpPr>
        <p:spPr>
          <a:xfrm>
            <a:off x="1828800" y="3886200"/>
            <a:ext cx="1554480" cy="1005840"/>
          </a:xfrm>
          <a:prstGeom prst="rect"/>
          <a:noFill/>
        </p:spPr>
        <p:txBody>
          <a:bodyPr anchor="t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NLP</a:t>
            </a:r>
            <a:endParaRPr dirty="0" sz="1400" lang="en-US"/>
          </a:p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n-grams</a:t>
            </a:r>
            <a:endParaRPr dirty="0" sz="1400" lang="en-US"/>
          </a:p>
        </p:txBody>
      </p:sp>
      <p:sp>
        <p:nvSpPr>
          <p:cNvPr id="1048690" name="Text 9"/>
          <p:cNvSpPr/>
          <p:nvPr/>
        </p:nvSpPr>
        <p:spPr>
          <a:xfrm>
            <a:off x="1828800" y="5074920"/>
            <a:ext cx="155448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1990s–2000s</a:t>
            </a:r>
            <a:endParaRPr dirty="0" sz="1400" lang="en-US"/>
          </a:p>
        </p:txBody>
      </p:sp>
      <p:sp>
        <p:nvSpPr>
          <p:cNvPr id="1048691" name="Shape 10"/>
          <p:cNvSpPr/>
          <p:nvPr/>
        </p:nvSpPr>
        <p:spPr>
          <a:xfrm>
            <a:off x="2606040" y="3566160"/>
            <a:ext cx="0" cy="320040"/>
          </a:xfrm>
          <a:prstGeom prst="line"/>
          <a:noFill/>
          <a:ln w="12700">
            <a:solidFill>
              <a:srgbClr val="3D5A80"/>
            </a:solidFill>
            <a:prstDash val="dash"/>
          </a:ln>
        </p:spPr>
      </p:sp>
      <p:sp>
        <p:nvSpPr>
          <p:cNvPr id="1048692" name="Shape 11"/>
          <p:cNvSpPr/>
          <p:nvPr/>
        </p:nvSpPr>
        <p:spPr>
          <a:xfrm>
            <a:off x="4288536" y="3465576"/>
            <a:ext cx="201168" cy="201168"/>
          </a:xfrm>
          <a:prstGeom prst="ellipse"/>
          <a:solidFill>
            <a:srgbClr val="F2A65A"/>
          </a:solidFill>
        </p:spPr>
      </p:sp>
      <p:sp>
        <p:nvSpPr>
          <p:cNvPr id="1048693" name="Text 12"/>
          <p:cNvSpPr/>
          <p:nvPr/>
        </p:nvSpPr>
        <p:spPr>
          <a:xfrm>
            <a:off x="3611880" y="2148840"/>
            <a:ext cx="1554480" cy="1005840"/>
          </a:xfrm>
          <a:prstGeom prst="rect"/>
          <a:noFill/>
        </p:spPr>
        <p:txBody>
          <a:bodyPr anchor="b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 &amp;</a:t>
            </a:r>
            <a:endParaRPr dirty="0" sz="1400" lang="en-US"/>
          </a:p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</a:t>
            </a:r>
            <a:endParaRPr dirty="0" sz="1400" lang="en-US"/>
          </a:p>
        </p:txBody>
      </p:sp>
      <p:sp>
        <p:nvSpPr>
          <p:cNvPr id="1048694" name="Text 13"/>
          <p:cNvSpPr/>
          <p:nvPr/>
        </p:nvSpPr>
        <p:spPr>
          <a:xfrm>
            <a:off x="3611880" y="1828800"/>
            <a:ext cx="155448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dirty="0" sz="1400" lang="en-US"/>
          </a:p>
        </p:txBody>
      </p:sp>
      <p:sp>
        <p:nvSpPr>
          <p:cNvPr id="1048695" name="Shape 14"/>
          <p:cNvSpPr/>
          <p:nvPr/>
        </p:nvSpPr>
        <p:spPr>
          <a:xfrm>
            <a:off x="4389120" y="3154680"/>
            <a:ext cx="0" cy="411480"/>
          </a:xfrm>
          <a:prstGeom prst="line"/>
          <a:noFill/>
          <a:ln w="12700">
            <a:solidFill>
              <a:srgbClr val="3D5A80"/>
            </a:solidFill>
            <a:prstDash val="dash"/>
          </a:ln>
        </p:spPr>
      </p:sp>
      <p:sp>
        <p:nvSpPr>
          <p:cNvPr id="1048696" name="Shape 15"/>
          <p:cNvSpPr/>
          <p:nvPr/>
        </p:nvSpPr>
        <p:spPr>
          <a:xfrm>
            <a:off x="6071616" y="3465576"/>
            <a:ext cx="201168" cy="201168"/>
          </a:xfrm>
          <a:prstGeom prst="ellipse"/>
          <a:solidFill>
            <a:srgbClr val="F2A65A"/>
          </a:solidFill>
        </p:spPr>
      </p:sp>
      <p:sp>
        <p:nvSpPr>
          <p:cNvPr id="1048697" name="Text 16"/>
          <p:cNvSpPr/>
          <p:nvPr/>
        </p:nvSpPr>
        <p:spPr>
          <a:xfrm>
            <a:off x="5394960" y="3886200"/>
            <a:ext cx="1554480" cy="1005840"/>
          </a:xfrm>
          <a:prstGeom prst="rect"/>
          <a:noFill/>
        </p:spPr>
        <p:txBody>
          <a:bodyPr anchor="t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Models</a:t>
            </a:r>
            <a:endParaRPr dirty="0" sz="1400" lang="en-US"/>
          </a:p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(RNN / LSTM)</a:t>
            </a:r>
            <a:endParaRPr dirty="0" sz="1400" lang="en-US"/>
          </a:p>
        </p:txBody>
      </p:sp>
      <p:sp>
        <p:nvSpPr>
          <p:cNvPr id="1048698" name="Text 17"/>
          <p:cNvSpPr/>
          <p:nvPr/>
        </p:nvSpPr>
        <p:spPr>
          <a:xfrm>
            <a:off x="5394960" y="5074920"/>
            <a:ext cx="155448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2014–16</a:t>
            </a:r>
            <a:endParaRPr dirty="0" sz="1400" lang="en-US"/>
          </a:p>
        </p:txBody>
      </p:sp>
      <p:sp>
        <p:nvSpPr>
          <p:cNvPr id="1048699" name="Shape 18"/>
          <p:cNvSpPr/>
          <p:nvPr/>
        </p:nvSpPr>
        <p:spPr>
          <a:xfrm>
            <a:off x="6172200" y="3566160"/>
            <a:ext cx="0" cy="320040"/>
          </a:xfrm>
          <a:prstGeom prst="line"/>
          <a:noFill/>
          <a:ln w="12700">
            <a:solidFill>
              <a:srgbClr val="3D5A80"/>
            </a:solidFill>
            <a:prstDash val="dash"/>
          </a:ln>
        </p:spPr>
      </p:sp>
      <p:sp>
        <p:nvSpPr>
          <p:cNvPr id="1048700" name="Shape 19"/>
          <p:cNvSpPr/>
          <p:nvPr/>
        </p:nvSpPr>
        <p:spPr>
          <a:xfrm>
            <a:off x="7854696" y="3465576"/>
            <a:ext cx="201168" cy="201168"/>
          </a:xfrm>
          <a:prstGeom prst="ellipse"/>
          <a:solidFill>
            <a:srgbClr val="F2A65A"/>
          </a:solidFill>
        </p:spPr>
      </p:sp>
      <p:sp>
        <p:nvSpPr>
          <p:cNvPr id="1048701" name="Text 20"/>
          <p:cNvSpPr/>
          <p:nvPr/>
        </p:nvSpPr>
        <p:spPr>
          <a:xfrm>
            <a:off x="7178040" y="2148840"/>
            <a:ext cx="1554480" cy="1005840"/>
          </a:xfrm>
          <a:prstGeom prst="rect"/>
          <a:noFill/>
        </p:spPr>
        <p:txBody>
          <a:bodyPr anchor="b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dirty="0" sz="1400" lang="en-US"/>
          </a:p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"Attention Is All</a:t>
            </a:r>
            <a:endParaRPr dirty="0" sz="1400" lang="en-US"/>
          </a:p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Need"</a:t>
            </a:r>
            <a:endParaRPr dirty="0" sz="1400" lang="en-US"/>
          </a:p>
        </p:txBody>
      </p:sp>
      <p:sp>
        <p:nvSpPr>
          <p:cNvPr id="1048702" name="Text 21"/>
          <p:cNvSpPr/>
          <p:nvPr/>
        </p:nvSpPr>
        <p:spPr>
          <a:xfrm>
            <a:off x="7178040" y="1828800"/>
            <a:ext cx="155448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dirty="0" sz="1400" lang="en-US"/>
          </a:p>
        </p:txBody>
      </p:sp>
      <p:sp>
        <p:nvSpPr>
          <p:cNvPr id="1048703" name="Shape 22"/>
          <p:cNvSpPr/>
          <p:nvPr/>
        </p:nvSpPr>
        <p:spPr>
          <a:xfrm>
            <a:off x="7955280" y="3154680"/>
            <a:ext cx="0" cy="411480"/>
          </a:xfrm>
          <a:prstGeom prst="line"/>
          <a:noFill/>
          <a:ln w="12700">
            <a:solidFill>
              <a:srgbClr val="3D5A80"/>
            </a:solidFill>
            <a:prstDash val="dash"/>
          </a:ln>
        </p:spPr>
      </p:sp>
      <p:sp>
        <p:nvSpPr>
          <p:cNvPr id="1048704" name="Shape 23"/>
          <p:cNvSpPr/>
          <p:nvPr/>
        </p:nvSpPr>
        <p:spPr>
          <a:xfrm>
            <a:off x="9637776" y="3465576"/>
            <a:ext cx="201168" cy="201168"/>
          </a:xfrm>
          <a:prstGeom prst="ellipse"/>
          <a:solidFill>
            <a:srgbClr val="F2A65A"/>
          </a:solidFill>
        </p:spPr>
      </p:sp>
      <p:sp>
        <p:nvSpPr>
          <p:cNvPr id="1048705" name="Text 24"/>
          <p:cNvSpPr/>
          <p:nvPr/>
        </p:nvSpPr>
        <p:spPr>
          <a:xfrm>
            <a:off x="8961120" y="3886200"/>
            <a:ext cx="1554480" cy="1005840"/>
          </a:xfrm>
          <a:prstGeom prst="rect"/>
          <a:noFill/>
        </p:spPr>
        <p:txBody>
          <a:bodyPr anchor="t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&amp; GPT</a:t>
            </a:r>
            <a:endParaRPr dirty="0" sz="1400" lang="en-US"/>
          </a:p>
        </p:txBody>
      </p:sp>
      <p:sp>
        <p:nvSpPr>
          <p:cNvPr id="1048706" name="Text 25"/>
          <p:cNvSpPr/>
          <p:nvPr/>
        </p:nvSpPr>
        <p:spPr>
          <a:xfrm>
            <a:off x="8961120" y="5074920"/>
            <a:ext cx="155448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2018+</a:t>
            </a:r>
            <a:endParaRPr dirty="0" sz="1400" lang="en-US"/>
          </a:p>
        </p:txBody>
      </p:sp>
      <p:sp>
        <p:nvSpPr>
          <p:cNvPr id="1048707" name="Shape 26"/>
          <p:cNvSpPr/>
          <p:nvPr/>
        </p:nvSpPr>
        <p:spPr>
          <a:xfrm>
            <a:off x="9738360" y="3566160"/>
            <a:ext cx="0" cy="320040"/>
          </a:xfrm>
          <a:prstGeom prst="line"/>
          <a:noFill/>
          <a:ln w="12700">
            <a:solidFill>
              <a:srgbClr val="3D5A80"/>
            </a:solidFill>
            <a:prstDash val="dash"/>
          </a:ln>
        </p:spPr>
      </p:sp>
      <p:sp>
        <p:nvSpPr>
          <p:cNvPr id="1048708" name="Shape 27"/>
          <p:cNvSpPr/>
          <p:nvPr/>
        </p:nvSpPr>
        <p:spPr>
          <a:xfrm>
            <a:off x="11420856" y="3465576"/>
            <a:ext cx="201168" cy="201168"/>
          </a:xfrm>
          <a:prstGeom prst="ellipse"/>
          <a:solidFill>
            <a:srgbClr val="F2A65A"/>
          </a:solidFill>
        </p:spPr>
      </p:sp>
      <p:sp>
        <p:nvSpPr>
          <p:cNvPr id="1048709" name="Text 28"/>
          <p:cNvSpPr/>
          <p:nvPr/>
        </p:nvSpPr>
        <p:spPr>
          <a:xfrm>
            <a:off x="10744200" y="2148840"/>
            <a:ext cx="1554480" cy="1005840"/>
          </a:xfrm>
          <a:prstGeom prst="rect"/>
          <a:noFill/>
        </p:spPr>
        <p:txBody>
          <a:bodyPr anchor="b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Modern</a:t>
            </a:r>
            <a:endParaRPr dirty="0" sz="1400" lang="en-US"/>
          </a:p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dirty="0" sz="1400" lang="en-US"/>
          </a:p>
        </p:txBody>
      </p:sp>
      <p:sp>
        <p:nvSpPr>
          <p:cNvPr id="1048710" name="Text 29"/>
          <p:cNvSpPr/>
          <p:nvPr/>
        </p:nvSpPr>
        <p:spPr>
          <a:xfrm>
            <a:off x="10744200" y="1828800"/>
            <a:ext cx="155448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dirty="0" sz="1400" lang="en-US"/>
          </a:p>
        </p:txBody>
      </p:sp>
      <p:sp>
        <p:nvSpPr>
          <p:cNvPr id="1048711" name="Shape 30"/>
          <p:cNvSpPr/>
          <p:nvPr/>
        </p:nvSpPr>
        <p:spPr>
          <a:xfrm>
            <a:off x="11521440" y="3154680"/>
            <a:ext cx="0" cy="411480"/>
          </a:xfrm>
          <a:prstGeom prst="line"/>
          <a:noFill/>
          <a:ln w="12700">
            <a:solidFill>
              <a:srgbClr val="3D5A80"/>
            </a:solidFill>
            <a:prstDash val="dash"/>
          </a:ln>
        </p:spPr>
      </p:sp>
      <p:sp>
        <p:nvSpPr>
          <p:cNvPr id="1048712" name="Text 32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dirty="0" sz="11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→ Statistical NLP</a:t>
            </a:r>
            <a:endParaRPr dirty="0" sz="4000" lang="en-US"/>
          </a:p>
        </p:txBody>
      </p:sp>
      <p:sp>
        <p:nvSpPr>
          <p:cNvPr id="1048717" name="Shape 2"/>
          <p:cNvSpPr/>
          <p:nvPr/>
        </p:nvSpPr>
        <p:spPr>
          <a:xfrm>
            <a:off x="548640" y="192024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718" name="Shape 3"/>
          <p:cNvSpPr/>
          <p:nvPr/>
        </p:nvSpPr>
        <p:spPr>
          <a:xfrm>
            <a:off x="914400" y="2148840"/>
            <a:ext cx="914400" cy="914400"/>
          </a:xfrm>
          <a:prstGeom prst="ellipse"/>
          <a:solidFill>
            <a:srgbClr val="1B2A4A"/>
          </a:solidFill>
        </p:spPr>
      </p:sp>
      <p:pic>
        <p:nvPicPr>
          <p:cNvPr id="2097167" name="Image 0" descr="icons/sitemap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43000" y="2377440"/>
            <a:ext cx="457200" cy="457200"/>
          </a:xfrm>
          <a:prstGeom prst="rect"/>
        </p:spPr>
      </p:pic>
      <p:sp>
        <p:nvSpPr>
          <p:cNvPr id="1048719" name="Text 4"/>
          <p:cNvSpPr/>
          <p:nvPr/>
        </p:nvSpPr>
        <p:spPr>
          <a:xfrm>
            <a:off x="914400" y="3200400"/>
            <a:ext cx="466344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</a:t>
            </a:r>
            <a:endParaRPr dirty="0" sz="2000" lang="en-US"/>
          </a:p>
        </p:txBody>
      </p:sp>
      <p:sp>
        <p:nvSpPr>
          <p:cNvPr id="1048720" name="Text 5"/>
          <p:cNvSpPr/>
          <p:nvPr/>
        </p:nvSpPr>
        <p:spPr>
          <a:xfrm>
            <a:off x="914400" y="3566160"/>
            <a:ext cx="466344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 – 1980s</a:t>
            </a:r>
            <a:endParaRPr dirty="0" sz="1400" lang="en-US"/>
          </a:p>
        </p:txBody>
      </p:sp>
      <p:sp>
        <p:nvSpPr>
          <p:cNvPr id="1048721" name="Text 6"/>
          <p:cNvSpPr/>
          <p:nvPr/>
        </p:nvSpPr>
        <p:spPr>
          <a:xfrm>
            <a:off x="960120" y="3977640"/>
            <a:ext cx="4572000" cy="1005840"/>
          </a:xfrm>
          <a:prstGeom prst="rect"/>
          <a:noFill/>
        </p:spPr>
        <p:txBody>
          <a:bodyPr anchor="ctr" rtlCol="0" wrap="square"/>
          <a:p>
            <a:pPr algn="ctr" indent="0" marL="0">
              <a:lnSpc>
                <a:spcPct val="120000"/>
              </a:lnSpc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grammar rules and pattern-matching dictionaries. Every response had to be explicitly programmed.</a:t>
            </a:r>
            <a:endParaRPr dirty="0" sz="1600" lang="en-US"/>
          </a:p>
        </p:txBody>
      </p:sp>
      <p:sp>
        <p:nvSpPr>
          <p:cNvPr id="1048722" name="Shape 7"/>
          <p:cNvSpPr/>
          <p:nvPr/>
        </p:nvSpPr>
        <p:spPr>
          <a:xfrm>
            <a:off x="914400" y="5029200"/>
            <a:ext cx="4663440" cy="822960"/>
          </a:xfrm>
          <a:prstGeom prst="roundRect">
            <a:avLst>
              <a:gd name="adj" fmla="val 8889"/>
            </a:avLst>
          </a:prstGeom>
          <a:solidFill>
            <a:srgbClr val="EAF0FF"/>
          </a:solidFill>
        </p:spPr>
      </p:sp>
      <p:sp>
        <p:nvSpPr>
          <p:cNvPr id="1048723" name="Text 8"/>
          <p:cNvSpPr/>
          <p:nvPr/>
        </p:nvSpPr>
        <p:spPr>
          <a:xfrm>
            <a:off x="1097280" y="5074920"/>
            <a:ext cx="429768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i="1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ELIZA (1966) — a therapist chatbot that matched keywords to scripted replies.</a:t>
            </a:r>
            <a:endParaRPr dirty="0" sz="1200" lang="en-US"/>
          </a:p>
        </p:txBody>
      </p:sp>
      <p:sp>
        <p:nvSpPr>
          <p:cNvPr id="1048724" name="Shape 9"/>
          <p:cNvSpPr/>
          <p:nvPr/>
        </p:nvSpPr>
        <p:spPr>
          <a:xfrm>
            <a:off x="6263640" y="192024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725" name="Shape 10"/>
          <p:cNvSpPr/>
          <p:nvPr/>
        </p:nvSpPr>
        <p:spPr>
          <a:xfrm>
            <a:off x="6629400" y="2148840"/>
            <a:ext cx="914400" cy="914400"/>
          </a:xfrm>
          <a:prstGeom prst="ellipse"/>
          <a:solidFill>
            <a:srgbClr val="1B2A4A"/>
          </a:solidFill>
        </p:spPr>
      </p:sp>
      <p:pic>
        <p:nvPicPr>
          <p:cNvPr id="2097168" name="Image 1" descr="icons/chartline_FFFFFF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858000" y="2377440"/>
            <a:ext cx="457200" cy="457200"/>
          </a:xfrm>
          <a:prstGeom prst="rect"/>
        </p:spPr>
      </p:pic>
      <p:sp>
        <p:nvSpPr>
          <p:cNvPr id="1048726" name="Text 11"/>
          <p:cNvSpPr/>
          <p:nvPr/>
        </p:nvSpPr>
        <p:spPr>
          <a:xfrm>
            <a:off x="6629400" y="3200400"/>
            <a:ext cx="466344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NLP &amp; n-grams</a:t>
            </a:r>
            <a:endParaRPr dirty="0" sz="2000" lang="en-US"/>
          </a:p>
        </p:txBody>
      </p:sp>
      <p:sp>
        <p:nvSpPr>
          <p:cNvPr id="1048727" name="Text 12"/>
          <p:cNvSpPr/>
          <p:nvPr/>
        </p:nvSpPr>
        <p:spPr>
          <a:xfrm>
            <a:off x="6629400" y="3566160"/>
            <a:ext cx="466344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 – 2000s</a:t>
            </a:r>
            <a:endParaRPr dirty="0" sz="1400" lang="en-US"/>
          </a:p>
        </p:txBody>
      </p:sp>
      <p:sp>
        <p:nvSpPr>
          <p:cNvPr id="1048728" name="Text 13"/>
          <p:cNvSpPr/>
          <p:nvPr/>
        </p:nvSpPr>
        <p:spPr>
          <a:xfrm>
            <a:off x="6675120" y="3977640"/>
            <a:ext cx="4572000" cy="1005840"/>
          </a:xfrm>
          <a:prstGeom prst="rect"/>
          <a:noFill/>
        </p:spPr>
        <p:txBody>
          <a:bodyPr anchor="ctr" rtlCol="0" wrap="square"/>
          <a:p>
            <a:pPr algn="ctr" indent="0" marL="0">
              <a:lnSpc>
                <a:spcPct val="120000"/>
              </a:lnSpc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learned probabilities from large text corpora instead of hard-coded rules — e.g. "which word is most likely to follow this one?"</a:t>
            </a:r>
            <a:endParaRPr dirty="0" sz="1600" lang="en-US"/>
          </a:p>
        </p:txBody>
      </p:sp>
      <p:sp>
        <p:nvSpPr>
          <p:cNvPr id="1048729" name="Shape 14"/>
          <p:cNvSpPr/>
          <p:nvPr/>
        </p:nvSpPr>
        <p:spPr>
          <a:xfrm>
            <a:off x="6629400" y="5029200"/>
            <a:ext cx="4663440" cy="822960"/>
          </a:xfrm>
          <a:prstGeom prst="roundRect">
            <a:avLst>
              <a:gd name="adj" fmla="val 8889"/>
            </a:avLst>
          </a:prstGeom>
          <a:solidFill>
            <a:srgbClr val="EAF0FF"/>
          </a:solidFill>
        </p:spPr>
      </p:sp>
      <p:sp>
        <p:nvSpPr>
          <p:cNvPr id="1048730" name="Text 15"/>
          <p:cNvSpPr/>
          <p:nvPr/>
        </p:nvSpPr>
        <p:spPr>
          <a:xfrm>
            <a:off x="6812280" y="5074920"/>
            <a:ext cx="429768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i="1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early statistical machine translation systems (pre-Google Translate neural era).</a:t>
            </a:r>
            <a:endParaRPr dirty="0" sz="1200" lang="en-US"/>
          </a:p>
        </p:txBody>
      </p:sp>
      <p:sp>
        <p:nvSpPr>
          <p:cNvPr id="1048731" name="Text 17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dirty="0" sz="11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Neural Revolution</a:t>
            </a:r>
            <a:endParaRPr dirty="0" sz="4000" lang="en-US"/>
          </a:p>
        </p:txBody>
      </p:sp>
      <p:sp>
        <p:nvSpPr>
          <p:cNvPr id="1048736" name="Shape 2"/>
          <p:cNvSpPr/>
          <p:nvPr/>
        </p:nvSpPr>
        <p:spPr>
          <a:xfrm>
            <a:off x="777240" y="1965960"/>
            <a:ext cx="1371600" cy="1371600"/>
          </a:xfrm>
          <a:prstGeom prst="ellipse"/>
          <a:solidFill>
            <a:srgbClr val="1B2A4A"/>
          </a:solidFill>
        </p:spPr>
      </p:sp>
      <p:pic>
        <p:nvPicPr>
          <p:cNvPr id="2097169" name="Image 0" descr="icons/brain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20140" y="2308860"/>
            <a:ext cx="685800" cy="685800"/>
          </a:xfrm>
          <a:prstGeom prst="rect"/>
        </p:spPr>
      </p:pic>
      <p:sp>
        <p:nvSpPr>
          <p:cNvPr id="1048737" name="Text 3"/>
          <p:cNvSpPr/>
          <p:nvPr/>
        </p:nvSpPr>
        <p:spPr>
          <a:xfrm>
            <a:off x="2377440" y="1965960"/>
            <a:ext cx="89611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 — Word2Vec (2013)</a:t>
            </a:r>
            <a:endParaRPr dirty="0" sz="2000" lang="en-US"/>
          </a:p>
        </p:txBody>
      </p:sp>
      <p:sp>
        <p:nvSpPr>
          <p:cNvPr id="1048738" name="Text 4"/>
          <p:cNvSpPr/>
          <p:nvPr/>
        </p:nvSpPr>
        <p:spPr>
          <a:xfrm>
            <a:off x="2377440" y="2377440"/>
            <a:ext cx="8961120" cy="86868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5000"/>
              </a:lnSpc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are represented as vectors (lists of numbers) in space, positioned so that words with similar meaning sit close together. This let machines capture meaning mathematically for the first time.</a:t>
            </a:r>
            <a:endParaRPr dirty="0" sz="1600" lang="en-US"/>
          </a:p>
        </p:txBody>
      </p:sp>
      <p:sp>
        <p:nvSpPr>
          <p:cNvPr id="1048739" name="Shape 5"/>
          <p:cNvSpPr/>
          <p:nvPr/>
        </p:nvSpPr>
        <p:spPr>
          <a:xfrm>
            <a:off x="2377440" y="3337560"/>
            <a:ext cx="8961120" cy="822960"/>
          </a:xfrm>
          <a:prstGeom prst="roundRect">
            <a:avLst>
              <a:gd name="adj" fmla="val 11111"/>
            </a:avLst>
          </a:prstGeom>
          <a:solidFill>
            <a:srgbClr val="1B2A4A"/>
          </a:solidFill>
        </p:spPr>
      </p:sp>
      <p:sp>
        <p:nvSpPr>
          <p:cNvPr id="1048740" name="Text 6"/>
          <p:cNvSpPr/>
          <p:nvPr/>
        </p:nvSpPr>
        <p:spPr>
          <a:xfrm>
            <a:off x="2377440" y="3337560"/>
            <a:ext cx="8961120" cy="8229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400" lang="en-US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  −  man  +  woman  ≈  queen</a:t>
            </a:r>
            <a:endParaRPr dirty="0" sz="2400" lang="en-US"/>
          </a:p>
        </p:txBody>
      </p:sp>
      <p:sp>
        <p:nvSpPr>
          <p:cNvPr id="1048741" name="Shape 7"/>
          <p:cNvSpPr/>
          <p:nvPr/>
        </p:nvSpPr>
        <p:spPr>
          <a:xfrm>
            <a:off x="548640" y="4434840"/>
            <a:ext cx="11064240" cy="0"/>
          </a:xfrm>
          <a:prstGeom prst="line"/>
          <a:noFill/>
          <a:ln w="12700">
            <a:solidFill>
              <a:srgbClr val="E2E6F0"/>
            </a:solidFill>
            <a:prstDash val="solid"/>
          </a:ln>
        </p:spPr>
      </p:sp>
      <p:sp>
        <p:nvSpPr>
          <p:cNvPr id="1048742" name="Shape 8"/>
          <p:cNvSpPr/>
          <p:nvPr/>
        </p:nvSpPr>
        <p:spPr>
          <a:xfrm>
            <a:off x="868680" y="4754880"/>
            <a:ext cx="1188720" cy="1188720"/>
          </a:xfrm>
          <a:prstGeom prst="ellipse"/>
          <a:solidFill>
            <a:srgbClr val="3D5A80"/>
          </a:solidFill>
        </p:spPr>
      </p:sp>
      <p:pic>
        <p:nvPicPr>
          <p:cNvPr id="2097170" name="Image 1" descr="icons/history_FFFFFF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165860" y="5052060"/>
            <a:ext cx="594360" cy="594360"/>
          </a:xfrm>
          <a:prstGeom prst="rect"/>
        </p:spPr>
      </p:pic>
      <p:sp>
        <p:nvSpPr>
          <p:cNvPr id="1048743" name="Text 9"/>
          <p:cNvSpPr/>
          <p:nvPr/>
        </p:nvSpPr>
        <p:spPr>
          <a:xfrm>
            <a:off x="2377440" y="4709160"/>
            <a:ext cx="89611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Models — RNN / LSTM (2014–16)</a:t>
            </a:r>
            <a:endParaRPr dirty="0" lang="en-US"/>
          </a:p>
        </p:txBody>
      </p:sp>
      <p:sp>
        <p:nvSpPr>
          <p:cNvPr id="1048744" name="Text 10"/>
          <p:cNvSpPr/>
          <p:nvPr/>
        </p:nvSpPr>
        <p:spPr>
          <a:xfrm>
            <a:off x="2377440" y="5074920"/>
            <a:ext cx="8961120" cy="86868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(and their improved form, LSTMs) read text one word at a time, carrying a memory of what came before — a first attempt at handling context and sequence.</a:t>
            </a:r>
            <a:endParaRPr dirty="0" sz="1600" lang="en-US"/>
          </a:p>
        </p:txBody>
      </p:sp>
      <p:sp>
        <p:nvSpPr>
          <p:cNvPr id="1048745" name="Text 12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dirty="0" sz="11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2017: The Transformer Breakthrough</a:t>
            </a:r>
            <a:endParaRPr dirty="0" sz="3600" lang="en-US"/>
          </a:p>
        </p:txBody>
      </p:sp>
      <p:sp>
        <p:nvSpPr>
          <p:cNvPr id="1048750" name="Shape 2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24365F"/>
          </a:solidFill>
        </p:spPr>
      </p:sp>
      <p:sp>
        <p:nvSpPr>
          <p:cNvPr id="1048751" name="Shape 3"/>
          <p:cNvSpPr/>
          <p:nvPr/>
        </p:nvSpPr>
        <p:spPr>
          <a:xfrm>
            <a:off x="845820" y="1874520"/>
            <a:ext cx="777240" cy="777240"/>
          </a:xfrm>
          <a:prstGeom prst="ellipse"/>
          <a:solidFill>
            <a:srgbClr val="F2A65A"/>
          </a:solidFill>
        </p:spPr>
      </p:sp>
      <p:pic>
        <p:nvPicPr>
          <p:cNvPr id="2097171" name="Image 0" descr="icons/projectdiagram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40130" y="2068830"/>
            <a:ext cx="388620" cy="388620"/>
          </a:xfrm>
          <a:prstGeom prst="rect"/>
        </p:spPr>
      </p:pic>
      <p:sp>
        <p:nvSpPr>
          <p:cNvPr id="1048752" name="Text 4"/>
          <p:cNvSpPr/>
          <p:nvPr/>
        </p:nvSpPr>
        <p:spPr>
          <a:xfrm>
            <a:off x="1783080" y="1783080"/>
            <a:ext cx="9601200" cy="9601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i="1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"Attention Is All You Need" — Vaswani et al., Google, 2017</a:t>
            </a:r>
            <a:endParaRPr dirty="0" sz="2000" lang="en-US"/>
          </a:p>
        </p:txBody>
      </p:sp>
      <p:sp>
        <p:nvSpPr>
          <p:cNvPr id="1048753" name="Shape 5"/>
          <p:cNvSpPr/>
          <p:nvPr/>
        </p:nvSpPr>
        <p:spPr>
          <a:xfrm>
            <a:off x="640080" y="3090672"/>
            <a:ext cx="146304" cy="146304"/>
          </a:xfrm>
          <a:prstGeom prst="ellipse"/>
          <a:solidFill>
            <a:srgbClr val="F2A65A"/>
          </a:solidFill>
        </p:spPr>
      </p:sp>
      <p:sp>
        <p:nvSpPr>
          <p:cNvPr id="1048754" name="Text 6"/>
          <p:cNvSpPr/>
          <p:nvPr/>
        </p:nvSpPr>
        <p:spPr>
          <a:xfrm>
            <a:off x="960120" y="2907792"/>
            <a:ext cx="274320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dirty="0" lang="en-US"/>
          </a:p>
        </p:txBody>
      </p:sp>
      <p:sp>
        <p:nvSpPr>
          <p:cNvPr id="1048755" name="Text 7"/>
          <p:cNvSpPr/>
          <p:nvPr/>
        </p:nvSpPr>
        <p:spPr>
          <a:xfrm>
            <a:off x="3749040" y="2880360"/>
            <a:ext cx="7772400" cy="86868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6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looks directly at every other word in the input at once, and learns which ones matter most to it — no more reading strictly left to right.</a:t>
            </a:r>
            <a:endParaRPr dirty="0" sz="1600" lang="en-US"/>
          </a:p>
        </p:txBody>
      </p:sp>
      <p:sp>
        <p:nvSpPr>
          <p:cNvPr id="1048756" name="Shape 8"/>
          <p:cNvSpPr/>
          <p:nvPr/>
        </p:nvSpPr>
        <p:spPr>
          <a:xfrm>
            <a:off x="640080" y="4142232"/>
            <a:ext cx="146304" cy="146304"/>
          </a:xfrm>
          <a:prstGeom prst="ellipse"/>
          <a:solidFill>
            <a:srgbClr val="F2A65A"/>
          </a:solidFill>
        </p:spPr>
      </p:sp>
      <p:sp>
        <p:nvSpPr>
          <p:cNvPr id="1048757" name="Text 9"/>
          <p:cNvSpPr/>
          <p:nvPr/>
        </p:nvSpPr>
        <p:spPr>
          <a:xfrm>
            <a:off x="960120" y="3959352"/>
            <a:ext cx="274320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Parallelization</a:t>
            </a:r>
            <a:endParaRPr dirty="0" lang="en-US"/>
          </a:p>
        </p:txBody>
      </p:sp>
      <p:sp>
        <p:nvSpPr>
          <p:cNvPr id="1048758" name="Text 10"/>
          <p:cNvSpPr/>
          <p:nvPr/>
        </p:nvSpPr>
        <p:spPr>
          <a:xfrm>
            <a:off x="3749040" y="3931920"/>
            <a:ext cx="7772400" cy="86868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6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doesn't process word-by-word in sequence, training can happen massively in parallel on GPUs — this is what made scaling to huge models feasible.</a:t>
            </a:r>
            <a:endParaRPr dirty="0" sz="1600" lang="en-US"/>
          </a:p>
        </p:txBody>
      </p:sp>
      <p:sp>
        <p:nvSpPr>
          <p:cNvPr id="1048759" name="Shape 11"/>
          <p:cNvSpPr/>
          <p:nvPr/>
        </p:nvSpPr>
        <p:spPr>
          <a:xfrm>
            <a:off x="640080" y="5193792"/>
            <a:ext cx="146304" cy="146304"/>
          </a:xfrm>
          <a:prstGeom prst="ellipse"/>
          <a:solidFill>
            <a:srgbClr val="F2A65A"/>
          </a:solidFill>
        </p:spPr>
      </p:sp>
      <p:sp>
        <p:nvSpPr>
          <p:cNvPr id="1048760" name="Text 12"/>
          <p:cNvSpPr/>
          <p:nvPr/>
        </p:nvSpPr>
        <p:spPr>
          <a:xfrm>
            <a:off x="960120" y="5010912"/>
            <a:ext cx="274320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context</a:t>
            </a:r>
            <a:endParaRPr dirty="0" lang="en-US"/>
          </a:p>
        </p:txBody>
      </p:sp>
      <p:sp>
        <p:nvSpPr>
          <p:cNvPr id="1048761" name="Text 13"/>
          <p:cNvSpPr/>
          <p:nvPr/>
        </p:nvSpPr>
        <p:spPr>
          <a:xfrm>
            <a:off x="3749040" y="4983480"/>
            <a:ext cx="7772400" cy="86868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6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 at the end of a long passage can directly 'attend to' a word at the very start — solving the RNN's forgetting problem.</a:t>
            </a:r>
            <a:endParaRPr dirty="0" sz="1600" lang="en-US"/>
          </a:p>
        </p:txBody>
      </p:sp>
      <p:sp>
        <p:nvSpPr>
          <p:cNvPr id="1048762" name="Text 15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dirty="0" sz="110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 vs. GPT (2018 onward)</a:t>
            </a:r>
            <a:endParaRPr dirty="0" sz="4000" lang="en-US"/>
          </a:p>
        </p:txBody>
      </p:sp>
      <p:sp>
        <p:nvSpPr>
          <p:cNvPr id="1048767" name="Shape 2"/>
          <p:cNvSpPr/>
          <p:nvPr/>
        </p:nvSpPr>
        <p:spPr>
          <a:xfrm>
            <a:off x="6080760" y="1691640"/>
            <a:ext cx="0" cy="0"/>
          </a:xfrm>
          <a:prstGeom prst="ellipse"/>
          <a:solidFill>
            <a:srgbClr val="1B2A4A"/>
          </a:solidFill>
        </p:spPr>
      </p:sp>
      <p:sp>
        <p:nvSpPr>
          <p:cNvPr id="1048768" name="Shape 3"/>
          <p:cNvSpPr/>
          <p:nvPr/>
        </p:nvSpPr>
        <p:spPr>
          <a:xfrm>
            <a:off x="731519" y="1998617"/>
            <a:ext cx="5316583" cy="4447903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769" name="Text 4"/>
          <p:cNvSpPr/>
          <p:nvPr/>
        </p:nvSpPr>
        <p:spPr>
          <a:xfrm>
            <a:off x="914400" y="2098224"/>
            <a:ext cx="4846320" cy="98951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 smtClean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BERT(Bidirectional Encoder Representation from </a:t>
            </a:r>
            <a:r>
              <a:rPr b="1" dirty="0" sz="2000" lang="en-US" smtClean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b="1" dirty="0" sz="2000" lang="en-US" smtClean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ransformer)</a:t>
            </a:r>
            <a:endParaRPr dirty="0" sz="2000" lang="en-US"/>
          </a:p>
        </p:txBody>
      </p:sp>
      <p:sp>
        <p:nvSpPr>
          <p:cNvPr id="1048770" name="Text 5"/>
          <p:cNvSpPr/>
          <p:nvPr/>
        </p:nvSpPr>
        <p:spPr>
          <a:xfrm>
            <a:off x="914400" y="3044952"/>
            <a:ext cx="466344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2018  ·  Encoder-only</a:t>
            </a:r>
            <a:endParaRPr dirty="0" sz="1400" lang="en-US"/>
          </a:p>
        </p:txBody>
      </p:sp>
      <p:sp>
        <p:nvSpPr>
          <p:cNvPr id="1048771" name="Text 6"/>
          <p:cNvSpPr/>
          <p:nvPr/>
        </p:nvSpPr>
        <p:spPr>
          <a:xfrm>
            <a:off x="914400" y="3335927"/>
            <a:ext cx="4663440" cy="9144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entire sentence at once (both directions) to build deep UNDERSTANDING of text.</a:t>
            </a:r>
            <a:endParaRPr dirty="0" sz="1600" lang="en-US"/>
          </a:p>
        </p:txBody>
      </p:sp>
      <p:sp>
        <p:nvSpPr>
          <p:cNvPr id="1048772" name="Text 7"/>
          <p:cNvSpPr/>
          <p:nvPr/>
        </p:nvSpPr>
        <p:spPr>
          <a:xfrm>
            <a:off x="914400" y="4387487"/>
            <a:ext cx="466344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b="1"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at: classification, fill-in-the-blank, search relevance</a:t>
            </a:r>
            <a:endParaRPr dirty="0" sz="1600" lang="en-US"/>
          </a:p>
        </p:txBody>
      </p:sp>
      <p:sp>
        <p:nvSpPr>
          <p:cNvPr id="1048773" name="Shape 8"/>
          <p:cNvSpPr/>
          <p:nvPr/>
        </p:nvSpPr>
        <p:spPr>
          <a:xfrm>
            <a:off x="914400" y="509778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EAF0FF"/>
          </a:solidFill>
        </p:spPr>
      </p:sp>
      <p:sp>
        <p:nvSpPr>
          <p:cNvPr id="1048774" name="Text 9"/>
          <p:cNvSpPr/>
          <p:nvPr/>
        </p:nvSpPr>
        <p:spPr>
          <a:xfrm>
            <a:off x="1097280" y="5185954"/>
            <a:ext cx="4297680" cy="11430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i="1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[MASK] sat on the mat" → predicts "cat"</a:t>
            </a:r>
            <a:endParaRPr dirty="0" sz="1600" lang="en-US"/>
          </a:p>
        </p:txBody>
      </p:sp>
      <p:sp>
        <p:nvSpPr>
          <p:cNvPr id="1048775" name="Shape 10"/>
          <p:cNvSpPr/>
          <p:nvPr/>
        </p:nvSpPr>
        <p:spPr>
          <a:xfrm>
            <a:off x="6348550" y="1998617"/>
            <a:ext cx="5394960" cy="4447903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776" name="Text 11"/>
          <p:cNvSpPr/>
          <p:nvPr/>
        </p:nvSpPr>
        <p:spPr>
          <a:xfrm>
            <a:off x="6498773" y="2276205"/>
            <a:ext cx="535577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 smtClean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GPT(Generative Pre-Trained Model)</a:t>
            </a:r>
            <a:endParaRPr dirty="0" sz="2000" lang="en-US"/>
          </a:p>
        </p:txBody>
      </p:sp>
      <p:sp>
        <p:nvSpPr>
          <p:cNvPr id="1048777" name="Text 12"/>
          <p:cNvSpPr/>
          <p:nvPr/>
        </p:nvSpPr>
        <p:spPr>
          <a:xfrm>
            <a:off x="6611112" y="3082835"/>
            <a:ext cx="466344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2018 onward  ·  Decoder-only</a:t>
            </a:r>
            <a:endParaRPr dirty="0" sz="1400" lang="en-US"/>
          </a:p>
        </p:txBody>
      </p:sp>
      <p:sp>
        <p:nvSpPr>
          <p:cNvPr id="1048778" name="Text 13"/>
          <p:cNvSpPr/>
          <p:nvPr/>
        </p:nvSpPr>
        <p:spPr>
          <a:xfrm>
            <a:off x="6611112" y="3389812"/>
            <a:ext cx="4663440" cy="9144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left to right and predicts the NEXT word, one token at a time — built for GENERATION.</a:t>
            </a:r>
            <a:endParaRPr dirty="0" sz="1600" lang="en-US"/>
          </a:p>
        </p:txBody>
      </p:sp>
      <p:sp>
        <p:nvSpPr>
          <p:cNvPr id="1048779" name="Text 14"/>
          <p:cNvSpPr/>
          <p:nvPr/>
        </p:nvSpPr>
        <p:spPr>
          <a:xfrm>
            <a:off x="6629400" y="4209505"/>
            <a:ext cx="466344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b="1"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at: writing, chatting, completing text</a:t>
            </a:r>
            <a:endParaRPr dirty="0" sz="1600" lang="en-US"/>
          </a:p>
        </p:txBody>
      </p:sp>
      <p:sp>
        <p:nvSpPr>
          <p:cNvPr id="1048780" name="Shape 15"/>
          <p:cNvSpPr/>
          <p:nvPr/>
        </p:nvSpPr>
        <p:spPr>
          <a:xfrm>
            <a:off x="6611112" y="5101045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EAF0FF"/>
          </a:solidFill>
        </p:spPr>
      </p:sp>
      <p:sp>
        <p:nvSpPr>
          <p:cNvPr id="1048781" name="Text 16"/>
          <p:cNvSpPr/>
          <p:nvPr/>
        </p:nvSpPr>
        <p:spPr>
          <a:xfrm>
            <a:off x="7205472" y="5185954"/>
            <a:ext cx="4297680" cy="11430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i="1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cat sat on the" → predicts "mat"</a:t>
            </a:r>
            <a:endParaRPr dirty="0" sz="1600" lang="en-US"/>
          </a:p>
        </p:txBody>
      </p:sp>
      <p:sp>
        <p:nvSpPr>
          <p:cNvPr id="1048782" name="Text 18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dirty="0" sz="110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  <a:effectLst/>
      </p:bgPr>
    </p:bg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Up: The Modern LLM Era</a:t>
            </a:r>
            <a:endParaRPr dirty="0" sz="4000" lang="en-US"/>
          </a:p>
        </p:txBody>
      </p:sp>
      <p:sp>
        <p:nvSpPr>
          <p:cNvPr id="1048787" name="Text 2"/>
          <p:cNvSpPr/>
          <p:nvPr/>
        </p:nvSpPr>
        <p:spPr>
          <a:xfrm>
            <a:off x="548640" y="1600200"/>
            <a:ext cx="11064240" cy="64008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2018 onward, the SAME transformer idea was scaled up — more data, more parameters, more compute — giving rise to today's large language models.</a:t>
            </a:r>
            <a:endParaRPr dirty="0" sz="1600" lang="en-US"/>
          </a:p>
        </p:txBody>
      </p:sp>
      <p:sp>
        <p:nvSpPr>
          <p:cNvPr id="1048788" name="Shape 3"/>
          <p:cNvSpPr/>
          <p:nvPr/>
        </p:nvSpPr>
        <p:spPr>
          <a:xfrm>
            <a:off x="548640" y="2514600"/>
            <a:ext cx="1993392" cy="1920240"/>
          </a:xfrm>
          <a:prstGeom prst="roundRect">
            <a:avLst>
              <a:gd name="adj" fmla="val 5714"/>
            </a:avLst>
          </a:prstGeom>
          <a:solidFill>
            <a:srgbClr val="1B2A4A"/>
          </a:solidFill>
        </p:spPr>
      </p:sp>
      <p:sp>
        <p:nvSpPr>
          <p:cNvPr id="1048789" name="Shape 4"/>
          <p:cNvSpPr/>
          <p:nvPr/>
        </p:nvSpPr>
        <p:spPr>
          <a:xfrm>
            <a:off x="1202436" y="2720340"/>
            <a:ext cx="685800" cy="685800"/>
          </a:xfrm>
          <a:prstGeom prst="ellipse"/>
          <a:solidFill>
            <a:srgbClr val="3D5A80"/>
          </a:solidFill>
        </p:spPr>
      </p:sp>
      <p:pic>
        <p:nvPicPr>
          <p:cNvPr id="2097172" name="Image 0" descr="icons/robot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356741" y="2874645"/>
            <a:ext cx="377190" cy="377190"/>
          </a:xfrm>
          <a:prstGeom prst="rect"/>
        </p:spPr>
      </p:pic>
      <p:sp>
        <p:nvSpPr>
          <p:cNvPr id="1048790" name="Text 5"/>
          <p:cNvSpPr/>
          <p:nvPr/>
        </p:nvSpPr>
        <p:spPr>
          <a:xfrm>
            <a:off x="640080" y="3520440"/>
            <a:ext cx="1810512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/ GPT-4</a:t>
            </a:r>
            <a:endParaRPr dirty="0" sz="1600" lang="en-US"/>
          </a:p>
        </p:txBody>
      </p:sp>
      <p:sp>
        <p:nvSpPr>
          <p:cNvPr id="1048791" name="Text 6"/>
          <p:cNvSpPr/>
          <p:nvPr/>
        </p:nvSpPr>
        <p:spPr>
          <a:xfrm>
            <a:off x="640080" y="3977640"/>
            <a:ext cx="1810512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dirty="0" sz="1200" lang="en-US"/>
          </a:p>
        </p:txBody>
      </p:sp>
      <p:sp>
        <p:nvSpPr>
          <p:cNvPr id="1048792" name="Shape 7"/>
          <p:cNvSpPr/>
          <p:nvPr/>
        </p:nvSpPr>
        <p:spPr>
          <a:xfrm>
            <a:off x="2816352" y="2514600"/>
            <a:ext cx="1993392" cy="1920240"/>
          </a:xfrm>
          <a:prstGeom prst="roundRect">
            <a:avLst>
              <a:gd name="adj" fmla="val 5714"/>
            </a:avLst>
          </a:prstGeom>
          <a:solidFill>
            <a:srgbClr val="1B2A4A"/>
          </a:solidFill>
        </p:spPr>
      </p:sp>
      <p:sp>
        <p:nvSpPr>
          <p:cNvPr id="1048793" name="Shape 8"/>
          <p:cNvSpPr/>
          <p:nvPr/>
        </p:nvSpPr>
        <p:spPr>
          <a:xfrm>
            <a:off x="3470148" y="2720340"/>
            <a:ext cx="685800" cy="685800"/>
          </a:xfrm>
          <a:prstGeom prst="ellipse"/>
          <a:solidFill>
            <a:srgbClr val="3D5A80"/>
          </a:solidFill>
        </p:spPr>
      </p:sp>
      <p:pic>
        <p:nvPicPr>
          <p:cNvPr id="2097173" name="Image 1" descr="icons/robot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624453" y="2874645"/>
            <a:ext cx="377190" cy="377190"/>
          </a:xfrm>
          <a:prstGeom prst="rect"/>
        </p:spPr>
      </p:pic>
      <p:sp>
        <p:nvSpPr>
          <p:cNvPr id="1048794" name="Text 9"/>
          <p:cNvSpPr/>
          <p:nvPr/>
        </p:nvSpPr>
        <p:spPr>
          <a:xfrm>
            <a:off x="2907792" y="3520440"/>
            <a:ext cx="1810512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dirty="0" sz="1600" lang="en-US"/>
          </a:p>
        </p:txBody>
      </p:sp>
      <p:sp>
        <p:nvSpPr>
          <p:cNvPr id="1048795" name="Text 10"/>
          <p:cNvSpPr/>
          <p:nvPr/>
        </p:nvSpPr>
        <p:spPr>
          <a:xfrm>
            <a:off x="2907792" y="3977640"/>
            <a:ext cx="1810512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</a:t>
            </a:r>
            <a:endParaRPr dirty="0" sz="1200" lang="en-US"/>
          </a:p>
        </p:txBody>
      </p:sp>
      <p:sp>
        <p:nvSpPr>
          <p:cNvPr id="1048796" name="Shape 11"/>
          <p:cNvSpPr/>
          <p:nvPr/>
        </p:nvSpPr>
        <p:spPr>
          <a:xfrm>
            <a:off x="5084064" y="2514600"/>
            <a:ext cx="1993392" cy="1920240"/>
          </a:xfrm>
          <a:prstGeom prst="roundRect">
            <a:avLst>
              <a:gd name="adj" fmla="val 5714"/>
            </a:avLst>
          </a:prstGeom>
          <a:solidFill>
            <a:srgbClr val="1B2A4A"/>
          </a:solidFill>
        </p:spPr>
      </p:sp>
      <p:sp>
        <p:nvSpPr>
          <p:cNvPr id="1048797" name="Shape 12"/>
          <p:cNvSpPr/>
          <p:nvPr/>
        </p:nvSpPr>
        <p:spPr>
          <a:xfrm>
            <a:off x="5737860" y="2720340"/>
            <a:ext cx="685800" cy="685800"/>
          </a:xfrm>
          <a:prstGeom prst="ellipse"/>
          <a:solidFill>
            <a:srgbClr val="3D5A80"/>
          </a:solidFill>
        </p:spPr>
      </p:sp>
      <p:pic>
        <p:nvPicPr>
          <p:cNvPr id="2097174" name="Image 2" descr="icons/robot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892165" y="2874645"/>
            <a:ext cx="377190" cy="377190"/>
          </a:xfrm>
          <a:prstGeom prst="rect"/>
        </p:spPr>
      </p:pic>
      <p:sp>
        <p:nvSpPr>
          <p:cNvPr id="1048798" name="Text 13"/>
          <p:cNvSpPr/>
          <p:nvPr/>
        </p:nvSpPr>
        <p:spPr>
          <a:xfrm>
            <a:off x="5175504" y="3520440"/>
            <a:ext cx="1810512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</a:t>
            </a:r>
            <a:endParaRPr dirty="0" sz="1600" lang="en-US"/>
          </a:p>
        </p:txBody>
      </p:sp>
      <p:sp>
        <p:nvSpPr>
          <p:cNvPr id="1048799" name="Text 14"/>
          <p:cNvSpPr/>
          <p:nvPr/>
        </p:nvSpPr>
        <p:spPr>
          <a:xfrm>
            <a:off x="5175504" y="3977640"/>
            <a:ext cx="1810512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dirty="0" sz="1200" lang="en-US"/>
          </a:p>
        </p:txBody>
      </p:sp>
      <p:sp>
        <p:nvSpPr>
          <p:cNvPr id="1048800" name="Shape 15"/>
          <p:cNvSpPr/>
          <p:nvPr/>
        </p:nvSpPr>
        <p:spPr>
          <a:xfrm>
            <a:off x="7351776" y="2514600"/>
            <a:ext cx="1993392" cy="1920240"/>
          </a:xfrm>
          <a:prstGeom prst="roundRect">
            <a:avLst>
              <a:gd name="adj" fmla="val 5714"/>
            </a:avLst>
          </a:prstGeom>
          <a:solidFill>
            <a:srgbClr val="1B2A4A"/>
          </a:solidFill>
        </p:spPr>
      </p:sp>
      <p:sp>
        <p:nvSpPr>
          <p:cNvPr id="1048801" name="Shape 16"/>
          <p:cNvSpPr/>
          <p:nvPr/>
        </p:nvSpPr>
        <p:spPr>
          <a:xfrm>
            <a:off x="8005572" y="2720340"/>
            <a:ext cx="685800" cy="685800"/>
          </a:xfrm>
          <a:prstGeom prst="ellipse"/>
          <a:solidFill>
            <a:srgbClr val="3D5A80"/>
          </a:solidFill>
        </p:spPr>
      </p:sp>
      <p:pic>
        <p:nvPicPr>
          <p:cNvPr id="2097175" name="Image 3" descr="icons/robot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159877" y="2874645"/>
            <a:ext cx="377190" cy="377190"/>
          </a:xfrm>
          <a:prstGeom prst="rect"/>
        </p:spPr>
      </p:pic>
      <p:sp>
        <p:nvSpPr>
          <p:cNvPr id="1048802" name="Text 17"/>
          <p:cNvSpPr/>
          <p:nvPr/>
        </p:nvSpPr>
        <p:spPr>
          <a:xfrm>
            <a:off x="7443216" y="3520440"/>
            <a:ext cx="1810512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dirty="0" sz="1600" lang="en-US"/>
          </a:p>
        </p:txBody>
      </p:sp>
      <p:sp>
        <p:nvSpPr>
          <p:cNvPr id="1048803" name="Text 18"/>
          <p:cNvSpPr/>
          <p:nvPr/>
        </p:nvSpPr>
        <p:spPr>
          <a:xfrm>
            <a:off x="7443216" y="3977640"/>
            <a:ext cx="1810512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dirty="0" sz="1200" lang="en-US"/>
          </a:p>
        </p:txBody>
      </p:sp>
      <p:sp>
        <p:nvSpPr>
          <p:cNvPr id="1048804" name="Shape 19"/>
          <p:cNvSpPr/>
          <p:nvPr/>
        </p:nvSpPr>
        <p:spPr>
          <a:xfrm>
            <a:off x="9619488" y="2514600"/>
            <a:ext cx="1993392" cy="1920240"/>
          </a:xfrm>
          <a:prstGeom prst="roundRect">
            <a:avLst>
              <a:gd name="adj" fmla="val 5714"/>
            </a:avLst>
          </a:prstGeom>
          <a:solidFill>
            <a:srgbClr val="1B2A4A"/>
          </a:solidFill>
        </p:spPr>
      </p:sp>
      <p:sp>
        <p:nvSpPr>
          <p:cNvPr id="1048805" name="Shape 20"/>
          <p:cNvSpPr/>
          <p:nvPr/>
        </p:nvSpPr>
        <p:spPr>
          <a:xfrm>
            <a:off x="10273284" y="2720340"/>
            <a:ext cx="685800" cy="685800"/>
          </a:xfrm>
          <a:prstGeom prst="ellipse"/>
          <a:solidFill>
            <a:srgbClr val="3D5A80"/>
          </a:solidFill>
        </p:spPr>
      </p:sp>
      <p:pic>
        <p:nvPicPr>
          <p:cNvPr id="2097176" name="Image 4" descr="icons/robot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427589" y="2874645"/>
            <a:ext cx="377190" cy="377190"/>
          </a:xfrm>
          <a:prstGeom prst="rect"/>
        </p:spPr>
      </p:pic>
      <p:sp>
        <p:nvSpPr>
          <p:cNvPr id="1048806" name="Text 21"/>
          <p:cNvSpPr/>
          <p:nvPr/>
        </p:nvSpPr>
        <p:spPr>
          <a:xfrm>
            <a:off x="9710928" y="3520440"/>
            <a:ext cx="1810512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dirty="0" sz="1600" lang="en-US"/>
          </a:p>
        </p:txBody>
      </p:sp>
      <p:sp>
        <p:nvSpPr>
          <p:cNvPr id="1048807" name="Text 22"/>
          <p:cNvSpPr/>
          <p:nvPr/>
        </p:nvSpPr>
        <p:spPr>
          <a:xfrm>
            <a:off x="9710928" y="3977640"/>
            <a:ext cx="1810512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dirty="0" sz="1200" lang="en-US"/>
          </a:p>
        </p:txBody>
      </p:sp>
      <p:sp>
        <p:nvSpPr>
          <p:cNvPr id="1048808" name="Shape 23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AF0FF"/>
          </a:solidFill>
        </p:spPr>
      </p:sp>
      <p:sp>
        <p:nvSpPr>
          <p:cNvPr id="1048809" name="Text 24"/>
          <p:cNvSpPr/>
          <p:nvPr/>
        </p:nvSpPr>
        <p:spPr>
          <a:xfrm>
            <a:off x="822960" y="4709160"/>
            <a:ext cx="10515600" cy="12344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600" i="1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scale (data + parameters + compute) + the transformer architecture is what turned a research idea (2017) into assistants used by hundreds of millions of people within a few years.</a:t>
            </a:r>
            <a:endParaRPr dirty="0" sz="1600" lang="en-US"/>
          </a:p>
        </p:txBody>
      </p:sp>
      <p:sp>
        <p:nvSpPr>
          <p:cNvPr id="1048810" name="Text 26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dirty="0" sz="110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4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"Generative" Mean?</a:t>
            </a:r>
            <a:endParaRPr dirty="0" sz="4000" lang="en-US"/>
          </a:p>
        </p:txBody>
      </p:sp>
      <p:sp>
        <p:nvSpPr>
          <p:cNvPr id="1048815" name="Shape 2"/>
          <p:cNvSpPr/>
          <p:nvPr/>
        </p:nvSpPr>
        <p:spPr>
          <a:xfrm>
            <a:off x="777240" y="1920240"/>
            <a:ext cx="1371600" cy="1371600"/>
          </a:xfrm>
          <a:prstGeom prst="ellipse"/>
          <a:solidFill>
            <a:srgbClr val="F2A65A"/>
          </a:solidFill>
        </p:spPr>
      </p:sp>
      <p:pic>
        <p:nvPicPr>
          <p:cNvPr id="2097177" name="Image 0" descr="icons/magic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20140" y="2263140"/>
            <a:ext cx="685800" cy="685800"/>
          </a:xfrm>
          <a:prstGeom prst="rect"/>
        </p:spPr>
      </p:pic>
      <p:sp>
        <p:nvSpPr>
          <p:cNvPr id="1048816" name="Text 3"/>
          <p:cNvSpPr/>
          <p:nvPr/>
        </p:nvSpPr>
        <p:spPr>
          <a:xfrm>
            <a:off x="2468880" y="1920240"/>
            <a:ext cx="8869680" cy="128016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5000"/>
              </a:lnSpc>
              <a:buNone/>
            </a:pPr>
            <a:r>
              <a:rPr dirty="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its core, a generative LLM does one thing, repeatedly:</a:t>
            </a:r>
            <a:endParaRPr dirty="0" lang="en-US"/>
          </a:p>
          <a:p>
            <a:pPr indent="0" marL="0">
              <a:lnSpc>
                <a:spcPct val="125000"/>
              </a:lnSpc>
              <a:buNone/>
            </a:pPr>
            <a:r>
              <a:rPr dirty="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most likely NEXT token, given everything so far.</a:t>
            </a:r>
            <a:endParaRPr dirty="0" lang="en-US"/>
          </a:p>
        </p:txBody>
      </p:sp>
      <p:sp>
        <p:nvSpPr>
          <p:cNvPr id="1048817" name="Shape 4"/>
          <p:cNvSpPr/>
          <p:nvPr/>
        </p:nvSpPr>
        <p:spPr>
          <a:xfrm>
            <a:off x="2468880" y="342900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24365F"/>
          </a:solidFill>
        </p:spPr>
      </p:sp>
      <p:sp>
        <p:nvSpPr>
          <p:cNvPr id="1048818" name="Text 5"/>
          <p:cNvSpPr/>
          <p:nvPr/>
        </p:nvSpPr>
        <p:spPr>
          <a:xfrm>
            <a:off x="2468880" y="3429000"/>
            <a:ext cx="105156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dirty="0" sz="1600" lang="en-US"/>
          </a:p>
        </p:txBody>
      </p:sp>
      <p:sp>
        <p:nvSpPr>
          <p:cNvPr id="1048819" name="Shape 6"/>
          <p:cNvSpPr/>
          <p:nvPr/>
        </p:nvSpPr>
        <p:spPr>
          <a:xfrm>
            <a:off x="3657600" y="342900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24365F"/>
          </a:solidFill>
        </p:spPr>
      </p:sp>
      <p:sp>
        <p:nvSpPr>
          <p:cNvPr id="1048820" name="Text 7"/>
          <p:cNvSpPr/>
          <p:nvPr/>
        </p:nvSpPr>
        <p:spPr>
          <a:xfrm>
            <a:off x="3657600" y="3429000"/>
            <a:ext cx="105156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dirty="0" sz="1600" lang="en-US"/>
          </a:p>
        </p:txBody>
      </p:sp>
      <p:sp>
        <p:nvSpPr>
          <p:cNvPr id="1048821" name="Shape 8"/>
          <p:cNvSpPr/>
          <p:nvPr/>
        </p:nvSpPr>
        <p:spPr>
          <a:xfrm>
            <a:off x="4846320" y="342900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24365F"/>
          </a:solidFill>
        </p:spPr>
      </p:sp>
      <p:sp>
        <p:nvSpPr>
          <p:cNvPr id="1048822" name="Text 9"/>
          <p:cNvSpPr/>
          <p:nvPr/>
        </p:nvSpPr>
        <p:spPr>
          <a:xfrm>
            <a:off x="4846320" y="3429000"/>
            <a:ext cx="105156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dirty="0" sz="1600" lang="en-US"/>
          </a:p>
        </p:txBody>
      </p:sp>
      <p:sp>
        <p:nvSpPr>
          <p:cNvPr id="1048823" name="Shape 10"/>
          <p:cNvSpPr/>
          <p:nvPr/>
        </p:nvSpPr>
        <p:spPr>
          <a:xfrm>
            <a:off x="6035040" y="342900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24365F"/>
          </a:solidFill>
        </p:spPr>
      </p:sp>
      <p:sp>
        <p:nvSpPr>
          <p:cNvPr id="1048824" name="Text 11"/>
          <p:cNvSpPr/>
          <p:nvPr/>
        </p:nvSpPr>
        <p:spPr>
          <a:xfrm>
            <a:off x="6035040" y="3429000"/>
            <a:ext cx="105156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dirty="0" sz="1600" lang="en-US"/>
          </a:p>
        </p:txBody>
      </p:sp>
      <p:sp>
        <p:nvSpPr>
          <p:cNvPr id="1048825" name="Shape 12"/>
          <p:cNvSpPr/>
          <p:nvPr/>
        </p:nvSpPr>
        <p:spPr>
          <a:xfrm>
            <a:off x="7223760" y="342900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24365F"/>
          </a:solidFill>
        </p:spPr>
      </p:sp>
      <p:sp>
        <p:nvSpPr>
          <p:cNvPr id="1048826" name="Text 13"/>
          <p:cNvSpPr/>
          <p:nvPr/>
        </p:nvSpPr>
        <p:spPr>
          <a:xfrm>
            <a:off x="7223760" y="3429000"/>
            <a:ext cx="105156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dirty="0" sz="1600" lang="en-US"/>
          </a:p>
        </p:txBody>
      </p:sp>
      <p:sp>
        <p:nvSpPr>
          <p:cNvPr id="1048827" name="Shape 14"/>
          <p:cNvSpPr/>
          <p:nvPr/>
        </p:nvSpPr>
        <p:spPr>
          <a:xfrm>
            <a:off x="8412480" y="33832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2A65A"/>
          </a:solidFill>
        </p:spPr>
      </p:sp>
      <p:sp>
        <p:nvSpPr>
          <p:cNvPr id="1048828" name="Text 15"/>
          <p:cNvSpPr/>
          <p:nvPr/>
        </p:nvSpPr>
        <p:spPr>
          <a:xfrm>
            <a:off x="8412480" y="3383280"/>
            <a:ext cx="1371600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?</a:t>
            </a:r>
            <a:endParaRPr dirty="0" sz="1600" lang="en-US"/>
          </a:p>
        </p:txBody>
      </p:sp>
      <p:sp>
        <p:nvSpPr>
          <p:cNvPr id="1048829" name="Text 16"/>
          <p:cNvSpPr/>
          <p:nvPr/>
        </p:nvSpPr>
        <p:spPr>
          <a:xfrm>
            <a:off x="2468880" y="4251960"/>
            <a:ext cx="8869680" cy="82296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5000"/>
              </a:lnSpc>
              <a:buNone/>
            </a:pPr>
            <a:r>
              <a:rPr dirty="0" sz="16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assigns a probability to every possible next token, then samples (or picks the top) one — and repeats, one token at a time, to build the full response.</a:t>
            </a:r>
            <a:endParaRPr dirty="0" sz="1600" lang="en-US"/>
          </a:p>
        </p:txBody>
      </p:sp>
      <p:sp>
        <p:nvSpPr>
          <p:cNvPr id="1048830" name="Text 18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dirty="0" sz="1100"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  <a:effectLst/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4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Conversational LLMs Today</a:t>
            </a:r>
            <a:endParaRPr dirty="0" sz="4000" lang="en-US"/>
          </a:p>
        </p:txBody>
      </p:sp>
      <p:sp>
        <p:nvSpPr>
          <p:cNvPr id="1048835" name="Shape 2"/>
          <p:cNvSpPr/>
          <p:nvPr/>
        </p:nvSpPr>
        <p:spPr>
          <a:xfrm>
            <a:off x="548640" y="18288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</p:spPr>
      </p:sp>
      <p:sp>
        <p:nvSpPr>
          <p:cNvPr id="1048836" name="Text 3"/>
          <p:cNvSpPr/>
          <p:nvPr/>
        </p:nvSpPr>
        <p:spPr>
          <a:xfrm>
            <a:off x="548640" y="1828800"/>
            <a:ext cx="388620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dirty="0" sz="1600" lang="en-US"/>
          </a:p>
        </p:txBody>
      </p:sp>
      <p:sp>
        <p:nvSpPr>
          <p:cNvPr id="1048837" name="Text 4"/>
          <p:cNvSpPr/>
          <p:nvPr/>
        </p:nvSpPr>
        <p:spPr>
          <a:xfrm>
            <a:off x="4663440" y="1828800"/>
            <a:ext cx="260604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</a:t>
            </a:r>
            <a:endParaRPr dirty="0" sz="1600" lang="en-US"/>
          </a:p>
        </p:txBody>
      </p:sp>
      <p:sp>
        <p:nvSpPr>
          <p:cNvPr id="1048838" name="Text 5"/>
          <p:cNvSpPr/>
          <p:nvPr/>
        </p:nvSpPr>
        <p:spPr>
          <a:xfrm>
            <a:off x="7498080" y="1828800"/>
            <a:ext cx="150876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dirty="0" sz="1600" lang="en-US"/>
          </a:p>
        </p:txBody>
      </p:sp>
      <p:sp>
        <p:nvSpPr>
          <p:cNvPr id="1048839" name="Text 6"/>
          <p:cNvSpPr/>
          <p:nvPr/>
        </p:nvSpPr>
        <p:spPr>
          <a:xfrm>
            <a:off x="9235440" y="1828800"/>
            <a:ext cx="224028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dirty="0" sz="1600" lang="en-US"/>
          </a:p>
        </p:txBody>
      </p:sp>
      <p:sp>
        <p:nvSpPr>
          <p:cNvPr id="1048840" name="Shape 7"/>
          <p:cNvSpPr/>
          <p:nvPr/>
        </p:nvSpPr>
        <p:spPr>
          <a:xfrm>
            <a:off x="548640" y="2487168"/>
            <a:ext cx="11064240" cy="658368"/>
          </a:xfrm>
          <a:prstGeom prst="rect"/>
          <a:solidFill>
            <a:srgbClr val="FFFFFF"/>
          </a:solidFill>
        </p:spPr>
      </p:sp>
      <p:sp>
        <p:nvSpPr>
          <p:cNvPr id="1048841" name="Text 8"/>
          <p:cNvSpPr/>
          <p:nvPr/>
        </p:nvSpPr>
        <p:spPr>
          <a:xfrm>
            <a:off x="548640" y="2487168"/>
            <a:ext cx="388620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(GPT-4 / GPT-5 family)</a:t>
            </a:r>
            <a:endParaRPr dirty="0" sz="1600" lang="en-US"/>
          </a:p>
        </p:txBody>
      </p:sp>
      <p:sp>
        <p:nvSpPr>
          <p:cNvPr id="1048842" name="Text 9"/>
          <p:cNvSpPr/>
          <p:nvPr/>
        </p:nvSpPr>
        <p:spPr>
          <a:xfrm>
            <a:off x="4663440" y="2487168"/>
            <a:ext cx="260604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dirty="0" sz="1600" lang="en-US"/>
          </a:p>
        </p:txBody>
      </p:sp>
      <p:sp>
        <p:nvSpPr>
          <p:cNvPr id="1048843" name="Text 10"/>
          <p:cNvSpPr/>
          <p:nvPr/>
        </p:nvSpPr>
        <p:spPr>
          <a:xfrm>
            <a:off x="7498080" y="2487168"/>
            <a:ext cx="150876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dirty="0" sz="1600" lang="en-US"/>
          </a:p>
        </p:txBody>
      </p:sp>
      <p:sp>
        <p:nvSpPr>
          <p:cNvPr id="1048844" name="Text 11"/>
          <p:cNvSpPr/>
          <p:nvPr/>
        </p:nvSpPr>
        <p:spPr>
          <a:xfrm>
            <a:off x="9235440" y="2487168"/>
            <a:ext cx="224028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assistant, coding, ChatGPT</a:t>
            </a:r>
            <a:endParaRPr dirty="0" sz="1600" lang="en-US"/>
          </a:p>
        </p:txBody>
      </p:sp>
      <p:sp>
        <p:nvSpPr>
          <p:cNvPr id="1048845" name="Shape 12"/>
          <p:cNvSpPr/>
          <p:nvPr/>
        </p:nvSpPr>
        <p:spPr>
          <a:xfrm>
            <a:off x="548640" y="3145536"/>
            <a:ext cx="11064240" cy="658368"/>
          </a:xfrm>
          <a:prstGeom prst="rect"/>
          <a:solidFill>
            <a:srgbClr val="F0F3FA"/>
          </a:solidFill>
        </p:spPr>
      </p:sp>
      <p:sp>
        <p:nvSpPr>
          <p:cNvPr id="1048846" name="Text 13"/>
          <p:cNvSpPr/>
          <p:nvPr/>
        </p:nvSpPr>
        <p:spPr>
          <a:xfrm>
            <a:off x="548640" y="3145536"/>
            <a:ext cx="388620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dirty="0" sz="1600" lang="en-US"/>
          </a:p>
        </p:txBody>
      </p:sp>
      <p:sp>
        <p:nvSpPr>
          <p:cNvPr id="1048847" name="Text 14"/>
          <p:cNvSpPr/>
          <p:nvPr/>
        </p:nvSpPr>
        <p:spPr>
          <a:xfrm>
            <a:off x="4663440" y="3145536"/>
            <a:ext cx="260604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</a:t>
            </a:r>
            <a:endParaRPr dirty="0" sz="1600" lang="en-US"/>
          </a:p>
        </p:txBody>
      </p:sp>
      <p:sp>
        <p:nvSpPr>
          <p:cNvPr id="1048848" name="Text 15"/>
          <p:cNvSpPr/>
          <p:nvPr/>
        </p:nvSpPr>
        <p:spPr>
          <a:xfrm>
            <a:off x="7498080" y="3145536"/>
            <a:ext cx="150876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dirty="0" sz="1600" lang="en-US"/>
          </a:p>
        </p:txBody>
      </p:sp>
      <p:sp>
        <p:nvSpPr>
          <p:cNvPr id="1048849" name="Text 16"/>
          <p:cNvSpPr/>
          <p:nvPr/>
        </p:nvSpPr>
        <p:spPr>
          <a:xfrm>
            <a:off x="9235440" y="3145536"/>
            <a:ext cx="224028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assistant, deep Google integration</a:t>
            </a:r>
            <a:endParaRPr dirty="0" sz="1600" lang="en-US"/>
          </a:p>
        </p:txBody>
      </p:sp>
      <p:sp>
        <p:nvSpPr>
          <p:cNvPr id="1048850" name="Shape 17"/>
          <p:cNvSpPr/>
          <p:nvPr/>
        </p:nvSpPr>
        <p:spPr>
          <a:xfrm>
            <a:off x="548640" y="3803904"/>
            <a:ext cx="11064240" cy="658368"/>
          </a:xfrm>
          <a:prstGeom prst="rect"/>
          <a:solidFill>
            <a:srgbClr val="FFFFFF"/>
          </a:solidFill>
        </p:spPr>
      </p:sp>
      <p:sp>
        <p:nvSpPr>
          <p:cNvPr id="1048851" name="Text 18"/>
          <p:cNvSpPr/>
          <p:nvPr/>
        </p:nvSpPr>
        <p:spPr>
          <a:xfrm>
            <a:off x="548640" y="3803904"/>
            <a:ext cx="388620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</a:t>
            </a:r>
            <a:endParaRPr dirty="0" sz="1600" lang="en-US"/>
          </a:p>
        </p:txBody>
      </p:sp>
      <p:sp>
        <p:nvSpPr>
          <p:cNvPr id="1048852" name="Text 19"/>
          <p:cNvSpPr/>
          <p:nvPr/>
        </p:nvSpPr>
        <p:spPr>
          <a:xfrm>
            <a:off x="4663440" y="3803904"/>
            <a:ext cx="260604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dirty="0" sz="1600" lang="en-US"/>
          </a:p>
        </p:txBody>
      </p:sp>
      <p:sp>
        <p:nvSpPr>
          <p:cNvPr id="1048853" name="Text 20"/>
          <p:cNvSpPr/>
          <p:nvPr/>
        </p:nvSpPr>
        <p:spPr>
          <a:xfrm>
            <a:off x="7498080" y="3803904"/>
            <a:ext cx="150876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dirty="0" sz="1600" lang="en-US"/>
          </a:p>
        </p:txBody>
      </p:sp>
      <p:sp>
        <p:nvSpPr>
          <p:cNvPr id="1048854" name="Text 21"/>
          <p:cNvSpPr/>
          <p:nvPr/>
        </p:nvSpPr>
        <p:spPr>
          <a:xfrm>
            <a:off x="9235440" y="3803904"/>
            <a:ext cx="224028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self-hosting, fine-tuning</a:t>
            </a:r>
            <a:endParaRPr dirty="0" sz="1600" lang="en-US"/>
          </a:p>
        </p:txBody>
      </p:sp>
      <p:sp>
        <p:nvSpPr>
          <p:cNvPr id="1048855" name="Shape 22"/>
          <p:cNvSpPr/>
          <p:nvPr/>
        </p:nvSpPr>
        <p:spPr>
          <a:xfrm>
            <a:off x="548640" y="4462272"/>
            <a:ext cx="11064240" cy="658368"/>
          </a:xfrm>
          <a:prstGeom prst="rect"/>
          <a:solidFill>
            <a:srgbClr val="F0F3FA"/>
          </a:solidFill>
        </p:spPr>
      </p:sp>
      <p:sp>
        <p:nvSpPr>
          <p:cNvPr id="1048856" name="Text 23"/>
          <p:cNvSpPr/>
          <p:nvPr/>
        </p:nvSpPr>
        <p:spPr>
          <a:xfrm>
            <a:off x="548640" y="4462272"/>
            <a:ext cx="388620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dirty="0" sz="1600" lang="en-US"/>
          </a:p>
        </p:txBody>
      </p:sp>
      <p:sp>
        <p:nvSpPr>
          <p:cNvPr id="1048857" name="Text 24"/>
          <p:cNvSpPr/>
          <p:nvPr/>
        </p:nvSpPr>
        <p:spPr>
          <a:xfrm>
            <a:off x="4663440" y="4462272"/>
            <a:ext cx="260604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dirty="0" sz="1600" lang="en-US"/>
          </a:p>
        </p:txBody>
      </p:sp>
      <p:sp>
        <p:nvSpPr>
          <p:cNvPr id="1048858" name="Text 25"/>
          <p:cNvSpPr/>
          <p:nvPr/>
        </p:nvSpPr>
        <p:spPr>
          <a:xfrm>
            <a:off x="7498080" y="4462272"/>
            <a:ext cx="150876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Closed mix</a:t>
            </a:r>
            <a:endParaRPr dirty="0" sz="1600" lang="en-US"/>
          </a:p>
        </p:txBody>
      </p:sp>
      <p:sp>
        <p:nvSpPr>
          <p:cNvPr id="1048859" name="Text 26"/>
          <p:cNvSpPr/>
          <p:nvPr/>
        </p:nvSpPr>
        <p:spPr>
          <a:xfrm>
            <a:off x="9235440" y="4462272"/>
            <a:ext cx="224028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models, self-hosting</a:t>
            </a:r>
            <a:endParaRPr dirty="0" sz="1600" lang="en-US"/>
          </a:p>
        </p:txBody>
      </p:sp>
      <p:sp>
        <p:nvSpPr>
          <p:cNvPr id="1048860" name="Shape 27"/>
          <p:cNvSpPr/>
          <p:nvPr/>
        </p:nvSpPr>
        <p:spPr>
          <a:xfrm>
            <a:off x="548640" y="5120640"/>
            <a:ext cx="11064240" cy="658368"/>
          </a:xfrm>
          <a:prstGeom prst="rect"/>
          <a:solidFill>
            <a:srgbClr val="FFFFFF"/>
          </a:solidFill>
        </p:spPr>
      </p:sp>
      <p:sp>
        <p:nvSpPr>
          <p:cNvPr id="1048861" name="Text 28"/>
          <p:cNvSpPr/>
          <p:nvPr/>
        </p:nvSpPr>
        <p:spPr>
          <a:xfrm>
            <a:off x="548640" y="5120640"/>
            <a:ext cx="388620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dirty="0" sz="1600" lang="en-US"/>
          </a:p>
        </p:txBody>
      </p:sp>
      <p:sp>
        <p:nvSpPr>
          <p:cNvPr id="1048862" name="Text 29"/>
          <p:cNvSpPr/>
          <p:nvPr/>
        </p:nvSpPr>
        <p:spPr>
          <a:xfrm>
            <a:off x="4663440" y="5120640"/>
            <a:ext cx="260604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dirty="0" sz="1600" lang="en-US"/>
          </a:p>
        </p:txBody>
      </p:sp>
      <p:sp>
        <p:nvSpPr>
          <p:cNvPr id="1048863" name="Text 30"/>
          <p:cNvSpPr/>
          <p:nvPr/>
        </p:nvSpPr>
        <p:spPr>
          <a:xfrm>
            <a:off x="7498080" y="5120640"/>
            <a:ext cx="150876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dirty="0" sz="1600" lang="en-US"/>
          </a:p>
        </p:txBody>
      </p:sp>
      <p:sp>
        <p:nvSpPr>
          <p:cNvPr id="1048864" name="Text 31"/>
          <p:cNvSpPr/>
          <p:nvPr/>
        </p:nvSpPr>
        <p:spPr>
          <a:xfrm>
            <a:off x="9235440" y="5120640"/>
            <a:ext cx="2240280" cy="65836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assistant, writing, coding, safety-focused</a:t>
            </a:r>
            <a:endParaRPr dirty="0" sz="1600" lang="en-US"/>
          </a:p>
        </p:txBody>
      </p:sp>
      <p:sp>
        <p:nvSpPr>
          <p:cNvPr id="1048865" name="Shape 32"/>
          <p:cNvSpPr/>
          <p:nvPr/>
        </p:nvSpPr>
        <p:spPr>
          <a:xfrm>
            <a:off x="548640" y="1828800"/>
            <a:ext cx="0" cy="3950208"/>
          </a:xfrm>
          <a:prstGeom prst="line"/>
          <a:noFill/>
          <a:ln w="12700">
            <a:solidFill>
              <a:srgbClr val="E2E6F0"/>
            </a:solidFill>
            <a:prstDash val="solid"/>
          </a:ln>
        </p:spPr>
      </p:sp>
      <p:sp>
        <p:nvSpPr>
          <p:cNvPr id="1048866" name="Text 34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dirty="0" sz="1100"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  <a:effectLst/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0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Prompt Engineering Matters</a:t>
            </a:r>
            <a:endParaRPr dirty="0" sz="4000" lang="en-US"/>
          </a:p>
        </p:txBody>
      </p:sp>
      <p:sp>
        <p:nvSpPr>
          <p:cNvPr id="1048871" name="Shape 2"/>
          <p:cNvSpPr/>
          <p:nvPr/>
        </p:nvSpPr>
        <p:spPr>
          <a:xfrm>
            <a:off x="800100" y="1714500"/>
            <a:ext cx="1234440" cy="1234440"/>
          </a:xfrm>
          <a:prstGeom prst="ellipse"/>
          <a:solidFill>
            <a:srgbClr val="F2A65A"/>
          </a:solidFill>
        </p:spPr>
      </p:sp>
      <p:pic>
        <p:nvPicPr>
          <p:cNvPr id="2097178" name="Image 0" descr="icons/lightbulb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77849" y="1992249"/>
            <a:ext cx="678942" cy="678942"/>
          </a:xfrm>
          <a:prstGeom prst="rect"/>
        </p:spPr>
      </p:pic>
      <p:sp>
        <p:nvSpPr>
          <p:cNvPr id="1048872" name="Text 3"/>
          <p:cNvSpPr/>
          <p:nvPr/>
        </p:nvSpPr>
        <p:spPr>
          <a:xfrm>
            <a:off x="2377440" y="1783080"/>
            <a:ext cx="8961120" cy="105156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b="1" dirty="0" sz="20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steer a model's behavior through how you design your INPUT — with no retraining required.</a:t>
            </a:r>
            <a:endParaRPr dirty="0" sz="2000" lang="en-US"/>
          </a:p>
        </p:txBody>
      </p:sp>
      <p:sp>
        <p:nvSpPr>
          <p:cNvPr id="1048873" name="Shape 4"/>
          <p:cNvSpPr/>
          <p:nvPr/>
        </p:nvSpPr>
        <p:spPr>
          <a:xfrm>
            <a:off x="548640" y="301752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0F3FA"/>
          </a:solidFill>
        </p:spPr>
      </p:sp>
      <p:sp>
        <p:nvSpPr>
          <p:cNvPr id="1048874" name="Text 5"/>
          <p:cNvSpPr/>
          <p:nvPr/>
        </p:nvSpPr>
        <p:spPr>
          <a:xfrm>
            <a:off x="777240" y="3127248"/>
            <a:ext cx="493776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kern="0" lang="en-US" spc="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dirty="0" sz="1400" lang="en-US"/>
          </a:p>
        </p:txBody>
      </p:sp>
      <p:sp>
        <p:nvSpPr>
          <p:cNvPr id="1048875" name="Text 6"/>
          <p:cNvSpPr/>
          <p:nvPr/>
        </p:nvSpPr>
        <p:spPr>
          <a:xfrm>
            <a:off x="777240" y="3401568"/>
            <a:ext cx="4937760" cy="7772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4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Retrains model weights on new examples. Powerful, but slow, costly, needs data &amp; compute.</a:t>
            </a:r>
            <a:endParaRPr dirty="0" sz="1400" lang="en-US"/>
          </a:p>
        </p:txBody>
      </p:sp>
      <p:sp>
        <p:nvSpPr>
          <p:cNvPr id="1048876" name="Shape 7"/>
          <p:cNvSpPr/>
          <p:nvPr/>
        </p:nvSpPr>
        <p:spPr>
          <a:xfrm>
            <a:off x="6217920" y="301752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B2A4A"/>
          </a:solidFill>
        </p:spPr>
      </p:sp>
      <p:sp>
        <p:nvSpPr>
          <p:cNvPr id="1048877" name="Text 8"/>
          <p:cNvSpPr/>
          <p:nvPr/>
        </p:nvSpPr>
        <p:spPr>
          <a:xfrm>
            <a:off x="6446520" y="3127248"/>
            <a:ext cx="493776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kern="0" lang="en-US" spc="15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dirty="0" sz="1400" lang="en-US"/>
          </a:p>
        </p:txBody>
      </p:sp>
      <p:sp>
        <p:nvSpPr>
          <p:cNvPr id="1048878" name="Text 9"/>
          <p:cNvSpPr/>
          <p:nvPr/>
        </p:nvSpPr>
        <p:spPr>
          <a:xfrm>
            <a:off x="6446520" y="3401568"/>
            <a:ext cx="4937760" cy="7772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only the input text. Fast, free, immediate — the skill this course builds.</a:t>
            </a:r>
            <a:endParaRPr dirty="0" sz="1400" lang="en-US"/>
          </a:p>
        </p:txBody>
      </p:sp>
      <p:sp>
        <p:nvSpPr>
          <p:cNvPr id="1048879" name="Shape 10"/>
          <p:cNvSpPr/>
          <p:nvPr/>
        </p:nvSpPr>
        <p:spPr>
          <a:xfrm>
            <a:off x="708660" y="4594860"/>
            <a:ext cx="685800" cy="685800"/>
          </a:xfrm>
          <a:prstGeom prst="ellipse"/>
          <a:solidFill>
            <a:srgbClr val="3D5A80"/>
          </a:solidFill>
        </p:spPr>
      </p:sp>
      <p:pic>
        <p:nvPicPr>
          <p:cNvPr id="2097179" name="Image 1" descr="icons/slidersh_FFFFFF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80110" y="4766310"/>
            <a:ext cx="342900" cy="342900"/>
          </a:xfrm>
          <a:prstGeom prst="rect"/>
        </p:spPr>
      </p:pic>
      <p:sp>
        <p:nvSpPr>
          <p:cNvPr id="1048880" name="Text 11"/>
          <p:cNvSpPr/>
          <p:nvPr/>
        </p:nvSpPr>
        <p:spPr>
          <a:xfrm>
            <a:off x="1600200" y="4617720"/>
            <a:ext cx="4572000" cy="82296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4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in Experiment 3: temperature, top-k, top-p — knobs that shape how the model chooses its next token.</a:t>
            </a:r>
            <a:endParaRPr dirty="0" sz="1400" lang="en-US"/>
          </a:p>
        </p:txBody>
      </p:sp>
      <p:sp>
        <p:nvSpPr>
          <p:cNvPr id="1048881" name="Shape 12"/>
          <p:cNvSpPr/>
          <p:nvPr/>
        </p:nvSpPr>
        <p:spPr>
          <a:xfrm>
            <a:off x="6560820" y="4594860"/>
            <a:ext cx="685800" cy="685800"/>
          </a:xfrm>
          <a:prstGeom prst="ellipse"/>
          <a:solidFill>
            <a:srgbClr val="F2A65A"/>
          </a:solidFill>
        </p:spPr>
      </p:sp>
      <p:pic>
        <p:nvPicPr>
          <p:cNvPr id="2097180" name="Image 2" descr="icons/exclamationtriangle_FFFFFF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732270" y="4766310"/>
            <a:ext cx="342900" cy="342900"/>
          </a:xfrm>
          <a:prstGeom prst="rect"/>
        </p:spPr>
      </p:pic>
      <p:sp>
        <p:nvSpPr>
          <p:cNvPr id="1048882" name="Text 13"/>
          <p:cNvSpPr/>
          <p:nvPr/>
        </p:nvSpPr>
        <p:spPr>
          <a:xfrm>
            <a:off x="7452360" y="4617720"/>
            <a:ext cx="4206240" cy="82296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4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only: ethical considerations — bias, misuse, and hallucination — revisited in depth later in Module 1.</a:t>
            </a:r>
            <a:endParaRPr dirty="0" sz="1400" lang="en-US"/>
          </a:p>
        </p:txBody>
      </p:sp>
      <p:sp>
        <p:nvSpPr>
          <p:cNvPr id="1048883" name="Text 15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dirty="0" sz="1100"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7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From Today</a:t>
            </a:r>
            <a:endParaRPr dirty="0" sz="4000" lang="en-US"/>
          </a:p>
        </p:txBody>
      </p:sp>
      <p:sp>
        <p:nvSpPr>
          <p:cNvPr id="1048888" name="Shape 2"/>
          <p:cNvSpPr/>
          <p:nvPr/>
        </p:nvSpPr>
        <p:spPr>
          <a:xfrm>
            <a:off x="548640" y="182880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24365F"/>
          </a:solidFill>
        </p:spPr>
      </p:sp>
      <p:sp>
        <p:nvSpPr>
          <p:cNvPr id="1048889" name="Text 3"/>
          <p:cNvSpPr/>
          <p:nvPr/>
        </p:nvSpPr>
        <p:spPr>
          <a:xfrm>
            <a:off x="777240" y="196596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dirty="0" lang="en-US"/>
          </a:p>
        </p:txBody>
      </p:sp>
      <p:sp>
        <p:nvSpPr>
          <p:cNvPr id="1048890" name="Text 4"/>
          <p:cNvSpPr/>
          <p:nvPr/>
        </p:nvSpPr>
        <p:spPr>
          <a:xfrm>
            <a:off x="777240" y="233172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field for processing human language</a:t>
            </a:r>
            <a:endParaRPr dirty="0" sz="1200" lang="en-US"/>
          </a:p>
        </p:txBody>
      </p:sp>
      <p:sp>
        <p:nvSpPr>
          <p:cNvPr id="1048891" name="Shape 5"/>
          <p:cNvSpPr/>
          <p:nvPr/>
        </p:nvSpPr>
        <p:spPr>
          <a:xfrm>
            <a:off x="4343400" y="182880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24365F"/>
          </a:solidFill>
        </p:spPr>
      </p:sp>
      <p:sp>
        <p:nvSpPr>
          <p:cNvPr id="1048892" name="Text 6"/>
          <p:cNvSpPr/>
          <p:nvPr/>
        </p:nvSpPr>
        <p:spPr>
          <a:xfrm>
            <a:off x="4572000" y="196596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dirty="0" lang="en-US"/>
          </a:p>
        </p:txBody>
      </p:sp>
      <p:sp>
        <p:nvSpPr>
          <p:cNvPr id="1048893" name="Text 7"/>
          <p:cNvSpPr/>
          <p:nvPr/>
        </p:nvSpPr>
        <p:spPr>
          <a:xfrm>
            <a:off x="4572000" y="233172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— huge transformer trained on text</a:t>
            </a:r>
            <a:endParaRPr dirty="0" sz="1200" lang="en-US"/>
          </a:p>
        </p:txBody>
      </p:sp>
      <p:sp>
        <p:nvSpPr>
          <p:cNvPr id="1048894" name="Shape 8"/>
          <p:cNvSpPr/>
          <p:nvPr/>
        </p:nvSpPr>
        <p:spPr>
          <a:xfrm>
            <a:off x="8138160" y="182880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24365F"/>
          </a:solidFill>
        </p:spPr>
      </p:sp>
      <p:sp>
        <p:nvSpPr>
          <p:cNvPr id="1048895" name="Text 9"/>
          <p:cNvSpPr/>
          <p:nvPr/>
        </p:nvSpPr>
        <p:spPr>
          <a:xfrm>
            <a:off x="8366760" y="196596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</a:t>
            </a:r>
            <a:endParaRPr dirty="0" lang="en-US"/>
          </a:p>
        </p:txBody>
      </p:sp>
      <p:sp>
        <p:nvSpPr>
          <p:cNvPr id="1048896" name="Text 10"/>
          <p:cNvSpPr/>
          <p:nvPr/>
        </p:nvSpPr>
        <p:spPr>
          <a:xfrm>
            <a:off x="8366760" y="233172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Predicts/generates the next token repeatedly</a:t>
            </a:r>
            <a:endParaRPr dirty="0" sz="1200" lang="en-US"/>
          </a:p>
        </p:txBody>
      </p:sp>
      <p:sp>
        <p:nvSpPr>
          <p:cNvPr id="1048897" name="Shape 11"/>
          <p:cNvSpPr/>
          <p:nvPr/>
        </p:nvSpPr>
        <p:spPr>
          <a:xfrm>
            <a:off x="548640" y="338328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24365F"/>
          </a:solidFill>
        </p:spPr>
      </p:sp>
      <p:sp>
        <p:nvSpPr>
          <p:cNvPr id="1048898" name="Text 12"/>
          <p:cNvSpPr/>
          <p:nvPr/>
        </p:nvSpPr>
        <p:spPr>
          <a:xfrm>
            <a:off x="777240" y="352044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dirty="0" lang="en-US"/>
          </a:p>
        </p:txBody>
      </p:sp>
      <p:sp>
        <p:nvSpPr>
          <p:cNvPr id="1048899" name="Text 13"/>
          <p:cNvSpPr/>
          <p:nvPr/>
        </p:nvSpPr>
        <p:spPr>
          <a:xfrm>
            <a:off x="777240" y="388620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architecture using self-attention</a:t>
            </a:r>
            <a:endParaRPr dirty="0" sz="1200" lang="en-US"/>
          </a:p>
        </p:txBody>
      </p:sp>
      <p:sp>
        <p:nvSpPr>
          <p:cNvPr id="1048900" name="Shape 14"/>
          <p:cNvSpPr/>
          <p:nvPr/>
        </p:nvSpPr>
        <p:spPr>
          <a:xfrm>
            <a:off x="4343400" y="338328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24365F"/>
          </a:solidFill>
        </p:spPr>
      </p:sp>
      <p:sp>
        <p:nvSpPr>
          <p:cNvPr id="1048901" name="Text 15"/>
          <p:cNvSpPr/>
          <p:nvPr/>
        </p:nvSpPr>
        <p:spPr>
          <a:xfrm>
            <a:off x="4572000" y="352044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dirty="0" lang="en-US"/>
          </a:p>
        </p:txBody>
      </p:sp>
      <p:sp>
        <p:nvSpPr>
          <p:cNvPr id="1048902" name="Text 16"/>
          <p:cNvSpPr/>
          <p:nvPr/>
        </p:nvSpPr>
        <p:spPr>
          <a:xfrm>
            <a:off x="4572000" y="388620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Encoder-only, built for understanding</a:t>
            </a:r>
            <a:endParaRPr dirty="0" sz="1200" lang="en-US"/>
          </a:p>
        </p:txBody>
      </p:sp>
      <p:sp>
        <p:nvSpPr>
          <p:cNvPr id="1048903" name="Shape 17"/>
          <p:cNvSpPr/>
          <p:nvPr/>
        </p:nvSpPr>
        <p:spPr>
          <a:xfrm>
            <a:off x="8138160" y="338328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24365F"/>
          </a:solidFill>
        </p:spPr>
      </p:sp>
      <p:sp>
        <p:nvSpPr>
          <p:cNvPr id="1048904" name="Text 18"/>
          <p:cNvSpPr/>
          <p:nvPr/>
        </p:nvSpPr>
        <p:spPr>
          <a:xfrm>
            <a:off x="8366760" y="352044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dirty="0" lang="en-US"/>
          </a:p>
        </p:txBody>
      </p:sp>
      <p:sp>
        <p:nvSpPr>
          <p:cNvPr id="1048905" name="Text 19"/>
          <p:cNvSpPr/>
          <p:nvPr/>
        </p:nvSpPr>
        <p:spPr>
          <a:xfrm>
            <a:off x="8366760" y="388620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Decoder-only, built for generation</a:t>
            </a:r>
            <a:endParaRPr dirty="0" sz="1200" lang="en-US"/>
          </a:p>
        </p:txBody>
      </p:sp>
      <p:sp>
        <p:nvSpPr>
          <p:cNvPr id="1048906" name="Shape 20"/>
          <p:cNvSpPr/>
          <p:nvPr/>
        </p:nvSpPr>
        <p:spPr>
          <a:xfrm>
            <a:off x="548640" y="493776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24365F"/>
          </a:solidFill>
        </p:spPr>
      </p:sp>
      <p:sp>
        <p:nvSpPr>
          <p:cNvPr id="1048907" name="Text 21"/>
          <p:cNvSpPr/>
          <p:nvPr/>
        </p:nvSpPr>
        <p:spPr>
          <a:xfrm>
            <a:off x="777240" y="507492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dirty="0" lang="en-US"/>
          </a:p>
        </p:txBody>
      </p:sp>
      <p:sp>
        <p:nvSpPr>
          <p:cNvPr id="1048908" name="Text 22"/>
          <p:cNvSpPr/>
          <p:nvPr/>
        </p:nvSpPr>
        <p:spPr>
          <a:xfrm>
            <a:off x="777240" y="544068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text into model-readable pieces</a:t>
            </a:r>
            <a:endParaRPr dirty="0" sz="1200" lang="en-US"/>
          </a:p>
        </p:txBody>
      </p:sp>
      <p:sp>
        <p:nvSpPr>
          <p:cNvPr id="1048909" name="Shape 23"/>
          <p:cNvSpPr/>
          <p:nvPr/>
        </p:nvSpPr>
        <p:spPr>
          <a:xfrm>
            <a:off x="4343400" y="493776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24365F"/>
          </a:solidFill>
        </p:spPr>
      </p:sp>
      <p:sp>
        <p:nvSpPr>
          <p:cNvPr id="1048910" name="Text 24"/>
          <p:cNvSpPr/>
          <p:nvPr/>
        </p:nvSpPr>
        <p:spPr>
          <a:xfrm>
            <a:off x="4572000" y="507492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dirty="0" lang="en-US"/>
          </a:p>
        </p:txBody>
      </p:sp>
      <p:sp>
        <p:nvSpPr>
          <p:cNvPr id="1048911" name="Text 25"/>
          <p:cNvSpPr/>
          <p:nvPr/>
        </p:nvSpPr>
        <p:spPr>
          <a:xfrm>
            <a:off x="4572000" y="544068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vector representation of meaning</a:t>
            </a:r>
            <a:endParaRPr dirty="0" sz="1200" lang="en-US"/>
          </a:p>
        </p:txBody>
      </p:sp>
      <p:sp>
        <p:nvSpPr>
          <p:cNvPr id="1048912" name="Shape 26"/>
          <p:cNvSpPr/>
          <p:nvPr/>
        </p:nvSpPr>
        <p:spPr>
          <a:xfrm>
            <a:off x="8138160" y="493776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24365F"/>
          </a:solidFill>
        </p:spPr>
      </p:sp>
      <p:sp>
        <p:nvSpPr>
          <p:cNvPr id="1048913" name="Text 27"/>
          <p:cNvSpPr/>
          <p:nvPr/>
        </p:nvSpPr>
        <p:spPr>
          <a:xfrm>
            <a:off x="8366760" y="507492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dirty="0" lang="en-US"/>
          </a:p>
        </p:txBody>
      </p:sp>
      <p:sp>
        <p:nvSpPr>
          <p:cNvPr id="1048914" name="Text 28"/>
          <p:cNvSpPr/>
          <p:nvPr/>
        </p:nvSpPr>
        <p:spPr>
          <a:xfrm>
            <a:off x="8366760" y="544068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input to steer model output</a:t>
            </a:r>
            <a:endParaRPr dirty="0" sz="1200" lang="en-US"/>
          </a:p>
        </p:txBody>
      </p:sp>
      <p:sp>
        <p:nvSpPr>
          <p:cNvPr id="1048915" name="Text 30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1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dirty="0" sz="1100"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  <a:effectLst/>
      </p:bgPr>
    </p:bg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9" name="Text 1"/>
          <p:cNvSpPr/>
          <p:nvPr/>
        </p:nvSpPr>
        <p:spPr>
          <a:xfrm>
            <a:off x="548640" y="658368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4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Assignment: Experiment 1</a:t>
            </a:r>
            <a:endParaRPr dirty="0" sz="4400" lang="en-US"/>
          </a:p>
        </p:txBody>
      </p:sp>
      <p:sp>
        <p:nvSpPr>
          <p:cNvPr id="1048920" name="Shape 2"/>
          <p:cNvSpPr/>
          <p:nvPr/>
        </p:nvSpPr>
        <p:spPr>
          <a:xfrm>
            <a:off x="777240" y="2057400"/>
            <a:ext cx="1554480" cy="1554480"/>
          </a:xfrm>
          <a:prstGeom prst="ellipse"/>
          <a:solidFill>
            <a:srgbClr val="1B2A4A"/>
          </a:solidFill>
        </p:spPr>
      </p:sp>
      <p:pic>
        <p:nvPicPr>
          <p:cNvPr id="2097181" name="Image 0" descr="icons/clipboardlist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65860" y="2446020"/>
            <a:ext cx="777240" cy="777240"/>
          </a:xfrm>
          <a:prstGeom prst="rect"/>
        </p:spPr>
      </p:pic>
      <p:sp>
        <p:nvSpPr>
          <p:cNvPr id="1048921" name="Shape 3"/>
          <p:cNvSpPr/>
          <p:nvPr/>
        </p:nvSpPr>
        <p:spPr>
          <a:xfrm>
            <a:off x="2834640" y="1783080"/>
            <a:ext cx="8778240" cy="2312126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922" name="Text 4"/>
          <p:cNvSpPr/>
          <p:nvPr/>
        </p:nvSpPr>
        <p:spPr>
          <a:xfrm>
            <a:off x="3108960" y="1965960"/>
            <a:ext cx="8229600" cy="7772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on any LLM platform (ChatGPT, Claude, or Gemini — free tier is fine) and run 5 prompts, one for EACH NLP task covered today:</a:t>
            </a:r>
            <a:endParaRPr dirty="0" lang="en-US"/>
          </a:p>
        </p:txBody>
      </p:sp>
      <p:sp>
        <p:nvSpPr>
          <p:cNvPr id="1048923" name="Shape 5"/>
          <p:cNvSpPr/>
          <p:nvPr/>
        </p:nvSpPr>
        <p:spPr>
          <a:xfrm>
            <a:off x="3108960" y="2880360"/>
            <a:ext cx="1600200" cy="502920"/>
          </a:xfrm>
          <a:prstGeom prst="roundRect">
            <a:avLst>
              <a:gd name="adj" fmla="val 54545"/>
            </a:avLst>
          </a:prstGeom>
          <a:solidFill>
            <a:srgbClr val="EAF0FF"/>
          </a:solidFill>
        </p:spPr>
      </p:sp>
      <p:sp>
        <p:nvSpPr>
          <p:cNvPr id="1048924" name="Text 6"/>
          <p:cNvSpPr/>
          <p:nvPr/>
        </p:nvSpPr>
        <p:spPr>
          <a:xfrm>
            <a:off x="3108960" y="2880360"/>
            <a:ext cx="160020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dirty="0" sz="1100" lang="en-US"/>
          </a:p>
        </p:txBody>
      </p:sp>
      <p:sp>
        <p:nvSpPr>
          <p:cNvPr id="1048925" name="Shape 7"/>
          <p:cNvSpPr/>
          <p:nvPr/>
        </p:nvSpPr>
        <p:spPr>
          <a:xfrm>
            <a:off x="4828032" y="2880360"/>
            <a:ext cx="1600200" cy="502920"/>
          </a:xfrm>
          <a:prstGeom prst="roundRect">
            <a:avLst>
              <a:gd name="adj" fmla="val 54545"/>
            </a:avLst>
          </a:prstGeom>
          <a:solidFill>
            <a:srgbClr val="EAF0FF"/>
          </a:solidFill>
        </p:spPr>
      </p:sp>
      <p:sp>
        <p:nvSpPr>
          <p:cNvPr id="1048926" name="Text 8"/>
          <p:cNvSpPr/>
          <p:nvPr/>
        </p:nvSpPr>
        <p:spPr>
          <a:xfrm>
            <a:off x="4828032" y="2880360"/>
            <a:ext cx="160020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dirty="0" sz="1100" lang="en-US"/>
          </a:p>
        </p:txBody>
      </p:sp>
      <p:sp>
        <p:nvSpPr>
          <p:cNvPr id="1048927" name="Shape 9"/>
          <p:cNvSpPr/>
          <p:nvPr/>
        </p:nvSpPr>
        <p:spPr>
          <a:xfrm>
            <a:off x="6547104" y="2880360"/>
            <a:ext cx="1600200" cy="502920"/>
          </a:xfrm>
          <a:prstGeom prst="roundRect">
            <a:avLst>
              <a:gd name="adj" fmla="val 54545"/>
            </a:avLst>
          </a:prstGeom>
          <a:solidFill>
            <a:srgbClr val="EAF0FF"/>
          </a:solidFill>
        </p:spPr>
      </p:sp>
      <p:sp>
        <p:nvSpPr>
          <p:cNvPr id="1048928" name="Text 10"/>
          <p:cNvSpPr/>
          <p:nvPr/>
        </p:nvSpPr>
        <p:spPr>
          <a:xfrm>
            <a:off x="6547104" y="2880360"/>
            <a:ext cx="160020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Answering</a:t>
            </a:r>
            <a:endParaRPr dirty="0" sz="1100" lang="en-US"/>
          </a:p>
        </p:txBody>
      </p:sp>
      <p:sp>
        <p:nvSpPr>
          <p:cNvPr id="1048929" name="Shape 11"/>
          <p:cNvSpPr/>
          <p:nvPr/>
        </p:nvSpPr>
        <p:spPr>
          <a:xfrm>
            <a:off x="8266176" y="2880360"/>
            <a:ext cx="1600200" cy="502920"/>
          </a:xfrm>
          <a:prstGeom prst="roundRect">
            <a:avLst>
              <a:gd name="adj" fmla="val 54545"/>
            </a:avLst>
          </a:prstGeom>
          <a:solidFill>
            <a:srgbClr val="EAF0FF"/>
          </a:solidFill>
        </p:spPr>
      </p:sp>
      <p:sp>
        <p:nvSpPr>
          <p:cNvPr id="1048930" name="Text 12"/>
          <p:cNvSpPr/>
          <p:nvPr/>
        </p:nvSpPr>
        <p:spPr>
          <a:xfrm>
            <a:off x="8266176" y="2880360"/>
            <a:ext cx="160020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dirty="0" sz="1100" lang="en-US"/>
          </a:p>
        </p:txBody>
      </p:sp>
      <p:sp>
        <p:nvSpPr>
          <p:cNvPr id="1048931" name="Shape 13"/>
          <p:cNvSpPr/>
          <p:nvPr/>
        </p:nvSpPr>
        <p:spPr>
          <a:xfrm>
            <a:off x="9985248" y="2880360"/>
            <a:ext cx="1600200" cy="502920"/>
          </a:xfrm>
          <a:prstGeom prst="roundRect">
            <a:avLst>
              <a:gd name="adj" fmla="val 54545"/>
            </a:avLst>
          </a:prstGeom>
          <a:solidFill>
            <a:srgbClr val="EAF0FF"/>
          </a:solidFill>
        </p:spPr>
      </p:sp>
      <p:sp>
        <p:nvSpPr>
          <p:cNvPr id="1048932" name="Text 14"/>
          <p:cNvSpPr/>
          <p:nvPr/>
        </p:nvSpPr>
        <p:spPr>
          <a:xfrm>
            <a:off x="9985248" y="2880360"/>
            <a:ext cx="160020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</a:t>
            </a:r>
            <a:endParaRPr dirty="0" sz="1100" lang="en-US"/>
          </a:p>
        </p:txBody>
      </p:sp>
      <p:sp>
        <p:nvSpPr>
          <p:cNvPr id="1048933" name="Text 15"/>
          <p:cNvSpPr/>
          <p:nvPr/>
        </p:nvSpPr>
        <p:spPr>
          <a:xfrm>
            <a:off x="3108960" y="3566160"/>
            <a:ext cx="82296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i="1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screenshots of each output and bring them (printed or digital) to the next lab session.</a:t>
            </a:r>
            <a:endParaRPr dirty="0" lang="en-US"/>
          </a:p>
        </p:txBody>
      </p:sp>
      <p:sp>
        <p:nvSpPr>
          <p:cNvPr id="1048934" name="Shape 16"/>
          <p:cNvSpPr/>
          <p:nvPr/>
        </p:nvSpPr>
        <p:spPr>
          <a:xfrm>
            <a:off x="2834640" y="4325112"/>
            <a:ext cx="8778240" cy="1463040"/>
          </a:xfrm>
          <a:prstGeom prst="roundRect">
            <a:avLst>
              <a:gd name="adj" fmla="val 7500"/>
            </a:avLst>
          </a:prstGeom>
          <a:solidFill>
            <a:srgbClr val="F2A65A"/>
          </a:solidFill>
        </p:spPr>
      </p:sp>
      <p:sp>
        <p:nvSpPr>
          <p:cNvPr id="1048935" name="Text 17"/>
          <p:cNvSpPr/>
          <p:nvPr/>
        </p:nvSpPr>
        <p:spPr>
          <a:xfrm>
            <a:off x="3108960" y="4434840"/>
            <a:ext cx="18288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kern="0" lang="en-US" spc="2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dirty="0" lang="en-US"/>
          </a:p>
        </p:txBody>
      </p:sp>
      <p:sp>
        <p:nvSpPr>
          <p:cNvPr id="1048936" name="Text 18"/>
          <p:cNvSpPr/>
          <p:nvPr/>
        </p:nvSpPr>
        <p:spPr>
          <a:xfrm>
            <a:off x="3108960" y="4728754"/>
            <a:ext cx="82296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8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next lab session</a:t>
            </a:r>
            <a:endParaRPr dirty="0" sz="2800" lang="en-US"/>
          </a:p>
        </p:txBody>
      </p:sp>
      <p:sp>
        <p:nvSpPr>
          <p:cNvPr id="1048937" name="Text 19"/>
          <p:cNvSpPr/>
          <p:nvPr/>
        </p:nvSpPr>
        <p:spPr>
          <a:xfrm>
            <a:off x="3108960" y="5172891"/>
            <a:ext cx="822960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ahead: skim "fine-tuning vs. prompting" and the "temperature parameter" sections before next lecture.</a:t>
            </a:r>
            <a:endParaRPr dirty="0" sz="1600" lang="en-US"/>
          </a:p>
        </p:txBody>
      </p:sp>
      <p:sp>
        <p:nvSpPr>
          <p:cNvPr id="1048938" name="Text 21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2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dirty="0" sz="1200"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2" name="Shape 2"/>
          <p:cNvSpPr/>
          <p:nvPr/>
        </p:nvSpPr>
        <p:spPr>
          <a:xfrm>
            <a:off x="5495544" y="1508760"/>
            <a:ext cx="1188720" cy="1188720"/>
          </a:xfrm>
          <a:prstGeom prst="ellipse"/>
          <a:solidFill>
            <a:srgbClr val="F2A65A"/>
          </a:solidFill>
        </p:spPr>
      </p:sp>
      <p:pic>
        <p:nvPicPr>
          <p:cNvPr id="2097182" name="Image 0" descr="icons/questioncircle_FFFFFF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763006" y="1776222"/>
            <a:ext cx="653796" cy="653796"/>
          </a:xfrm>
          <a:prstGeom prst="rect"/>
        </p:spPr>
      </p:pic>
      <p:sp>
        <p:nvSpPr>
          <p:cNvPr id="1048943" name="Text 3"/>
          <p:cNvSpPr/>
          <p:nvPr/>
        </p:nvSpPr>
        <p:spPr>
          <a:xfrm>
            <a:off x="914400" y="2743200"/>
            <a:ext cx="1033272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kern="0" lang="en-US" spc="20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Question</a:t>
            </a:r>
            <a:endParaRPr dirty="0" sz="1400" lang="en-US"/>
          </a:p>
        </p:txBody>
      </p:sp>
      <p:sp>
        <p:nvSpPr>
          <p:cNvPr id="1048944" name="Text 4"/>
          <p:cNvSpPr/>
          <p:nvPr/>
        </p:nvSpPr>
        <p:spPr>
          <a:xfrm>
            <a:off x="914400" y="3200400"/>
            <a:ext cx="10332720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600" i="1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 one sentence — what is prompt engineering?"</a:t>
            </a:r>
            <a:endParaRPr dirty="0" sz="2600" lang="en-US"/>
          </a:p>
        </p:txBody>
      </p:sp>
      <p:sp>
        <p:nvSpPr>
          <p:cNvPr id="1048945" name="Shape 5"/>
          <p:cNvSpPr/>
          <p:nvPr/>
        </p:nvSpPr>
        <p:spPr>
          <a:xfrm>
            <a:off x="5120640" y="4572000"/>
            <a:ext cx="1920240" cy="0"/>
          </a:xfrm>
          <a:prstGeom prst="line"/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1048946" name="Text 6"/>
          <p:cNvSpPr/>
          <p:nvPr/>
        </p:nvSpPr>
        <p:spPr>
          <a:xfrm>
            <a:off x="914400" y="4800600"/>
            <a:ext cx="1033272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5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dirty="0" sz="1500" lang="en-US"/>
          </a:p>
        </p:txBody>
      </p:sp>
      <p:sp>
        <p:nvSpPr>
          <p:cNvPr id="1048947" name="Text 8"/>
          <p:cNvSpPr/>
          <p:nvPr/>
        </p:nvSpPr>
        <p:spPr>
          <a:xfrm>
            <a:off x="11274552" y="6473952"/>
            <a:ext cx="4572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dirty="0" sz="10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admin</cp:lastModifiedBy>
  <dcterms:created xsi:type="dcterms:W3CDTF">2026-08-02T18:23:22Z</dcterms:created>
  <dcterms:modified xsi:type="dcterms:W3CDTF">2026-08-04T06:38:37Z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a407cd7bdb594814876bf9c5f9f3281b_23</vt:lpwstr>
  </property>
</Properties>
</file>