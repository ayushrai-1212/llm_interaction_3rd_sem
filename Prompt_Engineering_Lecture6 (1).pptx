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828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Voice, Role &amp; Reasoning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822960" y="28803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Control, Role Prompting &amp; Reasoning Tactics — Session 6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3794760"/>
            <a:ext cx="640080" cy="64008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5" name="Image 0" descr="/home/claude/work/icons/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3871570"/>
            <a:ext cx="486461" cy="4864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3877056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Controlling who's answering, and how carefully they think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80467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Tools Down, Onward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recap before we move into role and reasoning.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2057400"/>
            <a:ext cx="2606040" cy="3246120"/>
          </a:xfrm>
          <a:prstGeom prst="roundRect">
            <a:avLst>
              <a:gd name="adj" fmla="val 4211"/>
            </a:avLst>
          </a:prstGeom>
          <a:solidFill>
            <a:srgbClr val="E2E6F0"/>
          </a:solidFill>
          <a:ln/>
        </p:spPr>
      </p:sp>
      <p:sp>
        <p:nvSpPr>
          <p:cNvPr id="5" name="Shape 3"/>
          <p:cNvSpPr/>
          <p:nvPr/>
        </p:nvSpPr>
        <p:spPr>
          <a:xfrm>
            <a:off x="1440180" y="2468880"/>
            <a:ext cx="731520" cy="7315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/home/claude/work/icons/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7962" y="2556662"/>
            <a:ext cx="555955" cy="55595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2648" y="3474720"/>
            <a:ext cx="2386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Generation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12648" y="480060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91840" y="2057400"/>
            <a:ext cx="2606040" cy="3246120"/>
          </a:xfrm>
          <a:prstGeom prst="roundRect">
            <a:avLst>
              <a:gd name="adj" fmla="val 4211"/>
            </a:avLst>
          </a:prstGeom>
          <a:solidFill>
            <a:srgbClr val="E2E6F0"/>
          </a:solidFill>
          <a:ln/>
        </p:spPr>
      </p:sp>
      <p:sp>
        <p:nvSpPr>
          <p:cNvPr id="10" name="Shape 7"/>
          <p:cNvSpPr/>
          <p:nvPr/>
        </p:nvSpPr>
        <p:spPr>
          <a:xfrm>
            <a:off x="4229100" y="2468880"/>
            <a:ext cx="731520" cy="7315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1" name="Image 1" descr="/home/claude/work/icons/scisso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6882" y="2556662"/>
            <a:ext cx="555955" cy="55595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01568" y="3474720"/>
            <a:ext cx="2386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401568" y="480060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080760" y="2057400"/>
            <a:ext cx="2606040" cy="3246120"/>
          </a:xfrm>
          <a:prstGeom prst="roundRect">
            <a:avLst>
              <a:gd name="adj" fmla="val 4211"/>
            </a:avLst>
          </a:prstGeom>
          <a:solidFill>
            <a:srgbClr val="E2E6F0"/>
          </a:solidFill>
          <a:ln/>
        </p:spPr>
      </p:sp>
      <p:sp>
        <p:nvSpPr>
          <p:cNvPr id="15" name="Shape 11"/>
          <p:cNvSpPr/>
          <p:nvPr/>
        </p:nvSpPr>
        <p:spPr>
          <a:xfrm>
            <a:off x="7018020" y="2468880"/>
            <a:ext cx="731520" cy="7315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6" name="Image 2" descr="/home/claude/work/icons/minimiz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5802" y="2556662"/>
            <a:ext cx="555955" cy="55595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90488" y="3474720"/>
            <a:ext cx="2386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Summarization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190488" y="480060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8869680" y="2057400"/>
            <a:ext cx="2606040" cy="3246120"/>
          </a:xfrm>
          <a:prstGeom prst="roundRect">
            <a:avLst>
              <a:gd name="adj" fmla="val 4211"/>
            </a:avLst>
          </a:prstGeom>
          <a:solidFill>
            <a:srgbClr val="E2E6F0"/>
          </a:solidFill>
          <a:ln/>
        </p:spPr>
      </p:sp>
      <p:sp>
        <p:nvSpPr>
          <p:cNvPr id="20" name="Shape 15"/>
          <p:cNvSpPr/>
          <p:nvPr/>
        </p:nvSpPr>
        <p:spPr>
          <a:xfrm>
            <a:off x="9806940" y="2468880"/>
            <a:ext cx="731520" cy="7315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1" name="Image 3" descr="/home/claude/work/icons/c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722" y="2556662"/>
            <a:ext cx="555955" cy="55595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79408" y="3474720"/>
            <a:ext cx="2386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/ YAML Output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8979408" y="480060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02920" y="55321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controlled the shape of the output. Today we control who's answering, and how carefully they think.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80467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Today: Perspective, Then Depth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920240"/>
            <a:ext cx="3538728" cy="3749040"/>
          </a:xfrm>
          <a:prstGeom prst="roundRect">
            <a:avLst>
              <a:gd name="adj" fmla="val 2584"/>
            </a:avLst>
          </a:prstGeom>
          <a:solidFill>
            <a:srgbClr val="1B2A4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286000"/>
            <a:ext cx="685800" cy="68580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5" name="Image 0" descr="/home/claude/work/icons/ty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368296"/>
            <a:ext cx="521208" cy="5212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624328" y="24231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2960" y="3154680"/>
            <a:ext cx="2898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Style Control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" y="3931920"/>
            <a:ext cx="2898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unbounding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Explain-it-like-I'm-5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297680" y="1920240"/>
            <a:ext cx="3538728" cy="3749040"/>
          </a:xfrm>
          <a:prstGeom prst="roundRect">
            <a:avLst>
              <a:gd name="adj" fmla="val 2584"/>
            </a:avLst>
          </a:prstGeom>
          <a:solidFill>
            <a:srgbClr val="1B2A4A"/>
          </a:solidFill>
          <a:ln/>
        </p:spPr>
      </p:sp>
      <p:sp>
        <p:nvSpPr>
          <p:cNvPr id="10" name="Shape 7"/>
          <p:cNvSpPr/>
          <p:nvPr/>
        </p:nvSpPr>
        <p:spPr>
          <a:xfrm>
            <a:off x="4617720" y="2286000"/>
            <a:ext cx="685800" cy="68580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1" name="Image 1" descr="/home/claude/work/icons/us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016" y="2368296"/>
            <a:ext cx="521208" cy="5212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19088" y="24231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617720" y="3154680"/>
            <a:ext cx="2898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Prompting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617720" y="3931920"/>
            <a:ext cx="2898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Assigning a persona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vs. decoration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8092440" y="1920240"/>
            <a:ext cx="3538728" cy="3749040"/>
          </a:xfrm>
          <a:prstGeom prst="roundRect">
            <a:avLst>
              <a:gd name="adj" fmla="val 2584"/>
            </a:avLst>
          </a:prstGeom>
          <a:solidFill>
            <a:srgbClr val="1B2A4A"/>
          </a:solidFill>
          <a:ln/>
        </p:spPr>
      </p:sp>
      <p:sp>
        <p:nvSpPr>
          <p:cNvPr id="16" name="Shape 12"/>
          <p:cNvSpPr/>
          <p:nvPr/>
        </p:nvSpPr>
        <p:spPr>
          <a:xfrm>
            <a:off x="8412480" y="2286000"/>
            <a:ext cx="685800" cy="68580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7" name="Image 2" descr="/home/claude/work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776" y="2368296"/>
            <a:ext cx="521208" cy="5212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213848" y="24231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8412480" y="3154680"/>
            <a:ext cx="2898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 Reasoning Tactics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8412480" y="3931920"/>
            <a:ext cx="2898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Avoiding hallucination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time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monologue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CONTROL · 20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Style Unbounding &amp; ELI5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E2E6F0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594360" cy="5943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/home/claude/work/icons/ty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2128723"/>
            <a:ext cx="451714" cy="4517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1031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Style Unbounding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22960" y="27889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facts, new register — the prompt sets the tone, not the content.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2960" y="3474720"/>
            <a:ext cx="4754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35204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Technical: "Binary search repeatedly halves a sorted array, comparing the target to the middle element."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22960" y="4572000"/>
            <a:ext cx="4754880" cy="1051560"/>
          </a:xfrm>
          <a:prstGeom prst="roundRect">
            <a:avLst>
              <a:gd name="adj" fmla="val 6957"/>
            </a:avLst>
          </a:prstGeom>
          <a:solidFill>
            <a:srgbClr val="F2A65A"/>
          </a:solidFill>
          <a:ln/>
        </p:spPr>
      </p:sp>
      <p:sp>
        <p:nvSpPr>
          <p:cNvPr id="12" name="Text 9"/>
          <p:cNvSpPr/>
          <p:nvPr/>
        </p:nvSpPr>
        <p:spPr>
          <a:xfrm>
            <a:off x="1005840" y="4617720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Casual: "You keep splitting the list in half and checking the middle until you find it."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80760" y="1783080"/>
            <a:ext cx="5577840" cy="4206240"/>
          </a:xfrm>
          <a:prstGeom prst="roundRect">
            <a:avLst>
              <a:gd name="adj" fmla="val 2174"/>
            </a:avLst>
          </a:prstGeom>
          <a:solidFill>
            <a:srgbClr val="1B2A4A"/>
          </a:solidFill>
          <a:ln/>
        </p:spPr>
      </p:sp>
      <p:sp>
        <p:nvSpPr>
          <p:cNvPr id="14" name="Shape 11"/>
          <p:cNvSpPr/>
          <p:nvPr/>
        </p:nvSpPr>
        <p:spPr>
          <a:xfrm>
            <a:off x="6400800" y="2057400"/>
            <a:ext cx="594360" cy="59436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5" name="Image 1" descr="/home/claude/work/icons/sm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2123" y="2128723"/>
            <a:ext cx="451714" cy="45171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78040" y="21031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 It Like I'm 5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6400800" y="27889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the model to the simplest possible register — short words, one idea per sentence, a familiar analogy.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6400800" y="3657600"/>
            <a:ext cx="4937760" cy="1051560"/>
          </a:xfrm>
          <a:prstGeom prst="roundRect">
            <a:avLst>
              <a:gd name="adj" fmla="val 6957"/>
            </a:avLst>
          </a:prstGeom>
          <a:solidFill>
            <a:srgbClr val="24365F"/>
          </a:solidFill>
          <a:ln/>
        </p:spPr>
      </p:sp>
      <p:sp>
        <p:nvSpPr>
          <p:cNvPr id="19" name="Text 15"/>
          <p:cNvSpPr/>
          <p:nvPr/>
        </p:nvSpPr>
        <p:spPr>
          <a:xfrm>
            <a:off x="6583680" y="370332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"Explain binary search like I’m five years old."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400800" y="4800600"/>
            <a:ext cx="4937760" cy="1005840"/>
          </a:xfrm>
          <a:prstGeom prst="roundRect">
            <a:avLst>
              <a:gd name="adj" fmla="val 7273"/>
            </a:avLst>
          </a:prstGeom>
          <a:solidFill>
            <a:srgbClr val="F2A65A"/>
          </a:solidFill>
          <a:ln/>
        </p:spPr>
      </p:sp>
      <p:sp>
        <p:nvSpPr>
          <p:cNvPr id="21" name="Text 17"/>
          <p:cNvSpPr/>
          <p:nvPr/>
        </p:nvSpPr>
        <p:spPr>
          <a:xfrm>
            <a:off x="6583680" y="48463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"It’s like guessing a number 1–100 by always guessing the middle and getting warmer or colder."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PROMPTING · 25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It a Persona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Assigning expertise changes vocabulary, depth, and reasoning — not just tone.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4572000" cy="2011680"/>
          </a:xfrm>
          <a:prstGeom prst="roundRect">
            <a:avLst>
              <a:gd name="adj" fmla="val 4545"/>
            </a:avLst>
          </a:prstGeom>
          <a:solidFill>
            <a:srgbClr val="E2E6F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945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"Explain how a hash table resolves collisions."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257800" y="2743200"/>
            <a:ext cx="640080" cy="64008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9" name="Image 0" descr="/home/claude/work/icons/ar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610" y="2820010"/>
            <a:ext cx="486461" cy="486461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080760" y="2011680"/>
            <a:ext cx="5577840" cy="2011680"/>
          </a:xfrm>
          <a:prstGeom prst="roundRect">
            <a:avLst>
              <a:gd name="adj" fmla="val 4545"/>
            </a:avLst>
          </a:prstGeom>
          <a:solidFill>
            <a:srgbClr val="1B2A4A"/>
          </a:solidFill>
          <a:ln/>
        </p:spPr>
      </p:sp>
      <p:sp>
        <p:nvSpPr>
          <p:cNvPr id="11" name="Text 8"/>
          <p:cNvSpPr/>
          <p:nvPr/>
        </p:nvSpPr>
        <p:spPr>
          <a:xfrm>
            <a:off x="6355080" y="21945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355080" y="260604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"You are a senior backend engineer explaining to a new intern. Explain how a hash table resolves collisions, using a real analogy."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4343400"/>
            <a:ext cx="11155680" cy="1600200"/>
          </a:xfrm>
          <a:prstGeom prst="roundRect">
            <a:avLst>
              <a:gd name="adj" fmla="val 5714"/>
            </a:avLst>
          </a:prstGeom>
          <a:solidFill>
            <a:srgbClr val="24365F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4526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YOURSELF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22960" y="48920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the expert here?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the audience?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tone or depth fits that role?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PROMPTING · 25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Helps — Or Just Decoration?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394960" cy="3108960"/>
          </a:xfrm>
          <a:prstGeom prst="roundRect">
            <a:avLst>
              <a:gd name="adj" fmla="val 2941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WHEN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expertise changes the substance (legal, medical, engineering framing)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audience needs a specific tone or depth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a consistent persona across a multi-turn chat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080760" y="1783080"/>
            <a:ext cx="55778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E2E6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011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DECORATION WHEN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246888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role doesn't change what information is needed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 is a purely factual lookup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adds words to the prompt without changing output quality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512064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exercise: take one prompt from Session 5's activity and add a role. Did the answer actually change, or just the tone?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2801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 Prompting Tactics — Part 1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822960" y="22402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make a model's reasoning more reliable — not just its wording.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1965960" y="3291840"/>
            <a:ext cx="914400" cy="91440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5" name="Image 0" descr="/home/claude/work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5688" y="3401568"/>
            <a:ext cx="694944" cy="6949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43891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Avoiding Hallucination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77240" y="4892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by reference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577840" y="3291840"/>
            <a:ext cx="914400" cy="91440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9" name="Image 1" descr="/home/claude/work/icons/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568" y="3401568"/>
            <a:ext cx="694944" cy="6949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89120" y="43891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Time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4389120" y="4892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before answering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9189720" y="3291840"/>
            <a:ext cx="914400" cy="91440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3" name="Image 2" descr="/home/claude/work/icons/message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9448" y="3401568"/>
            <a:ext cx="694944" cy="6949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01000" y="43891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Monologue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8001000" y="4892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stays separate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TACTICS · 1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Avoiding Hallucination by Reference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the answer in a source you provide — the model derives from it, it doesn't invent.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5394960" cy="3611880"/>
          </a:xfrm>
          <a:prstGeom prst="roundRect">
            <a:avLst>
              <a:gd name="adj" fmla="val 2532"/>
            </a:avLst>
          </a:prstGeom>
          <a:solidFill>
            <a:srgbClr val="E2E6F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94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UNGROUNDED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"What is the refund policy?"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3337560"/>
            <a:ext cx="47548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337560"/>
            <a:ext cx="4389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guesses a plausible-sounding policy (e.g. “30-day returns, full refund”) that may not match reality at all.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80760" y="1965960"/>
            <a:ext cx="5577840" cy="3611880"/>
          </a:xfrm>
          <a:prstGeom prst="roundRect">
            <a:avLst>
              <a:gd name="adj" fmla="val 2532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194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0" y="260604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"Answer only using the policy text below. If it’s not stated, say ‘not specified.’ [paste policy text]"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0" y="3794760"/>
            <a:ext cx="4937760" cy="1554480"/>
          </a:xfrm>
          <a:prstGeom prst="roundRect">
            <a:avLst>
              <a:gd name="adj" fmla="val 4706"/>
            </a:avLst>
          </a:prstGeom>
          <a:solidFill>
            <a:srgbClr val="24365F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379476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is traceable to the source — and honestly says ‘not specified’ when the text doesn’t cover it.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57607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grounding is the single biggest lever against confident-sounding wrong answers.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TACTICS · 2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Thinking Time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the model to reason step by step before answering improves accuracy on multi-step problems.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057400"/>
            <a:ext cx="11155680" cy="731520"/>
          </a:xfrm>
          <a:prstGeom prst="roundRect">
            <a:avLst>
              <a:gd name="adj" fmla="val 10000"/>
            </a:avLst>
          </a:prstGeom>
          <a:solidFill>
            <a:srgbClr val="24365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574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  "A store has 3 shelves. Each shelf holds 8 boxes. Each box has 12 items. How many items total?"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3017520"/>
            <a:ext cx="5394960" cy="2560320"/>
          </a:xfrm>
          <a:prstGeom prst="roundRect">
            <a:avLst>
              <a:gd name="adj" fmla="val 3571"/>
            </a:avLst>
          </a:prstGeom>
          <a:solidFill>
            <a:srgbClr val="E2E6F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200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TO ANSWER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61188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"288" — or sometimes a rushed, wrong total when numbers get bigger.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80760" y="3017520"/>
            <a:ext cx="5577840" cy="2560320"/>
          </a:xfrm>
          <a:prstGeom prst="roundRect">
            <a:avLst>
              <a:gd name="adj" fmla="val 3571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3200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“LET’S THINK STEP BY STEP”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0" y="361188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shelves × 8 boxes = 24 boxes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boxes × 12 items = 288 items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Answer: 288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" y="57607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 is shown, so the same steps generalize to harder numbers — and errors are easy to spot.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TACTICS · 3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Inner Monologue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the reasoning from the final answer — users see a clean result, the reasoning stays available for debugging.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11155680" cy="1005840"/>
          </a:xfrm>
          <a:prstGeom prst="roundRect">
            <a:avLst>
              <a:gd name="adj" fmla="val 7273"/>
            </a:avLst>
          </a:prstGeom>
          <a:solidFill>
            <a:srgbClr val="24365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0312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  "Put your reasoning inside &lt;thinking&gt;&lt;/thinking&gt; tags, then give the final answer after a line that says ‘Answer:’"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3337560"/>
            <a:ext cx="11155680" cy="2011680"/>
          </a:xfrm>
          <a:prstGeom prst="roundRect">
            <a:avLst>
              <a:gd name="adj" fmla="val 4545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520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88620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&lt;thinking&gt;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shelves x 8 boxes = 24 boxes. 24 boxes x 12 items = 288 items.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&lt;/thinking&gt;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Answer: 288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56235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Self-Eval — having the model check its own answer — builds on this and comes next session.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80467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More Tools In Your Kit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B2A4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965960"/>
            <a:ext cx="594360" cy="59436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5" name="Image 0" descr="/home/claude/work/icons/ty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63" y="2037283"/>
            <a:ext cx="451714" cy="4517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9659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Unbounding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7240" y="27432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facts, new register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251960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B2A4A"/>
          </a:solidFill>
          <a:ln/>
        </p:spPr>
      </p:sp>
      <p:sp>
        <p:nvSpPr>
          <p:cNvPr id="9" name="Shape 6"/>
          <p:cNvSpPr/>
          <p:nvPr/>
        </p:nvSpPr>
        <p:spPr>
          <a:xfrm>
            <a:off x="4526280" y="1965960"/>
            <a:ext cx="594360" cy="59436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0" name="Image 1" descr="/home/claude/work/icons/sm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7603" y="2037283"/>
            <a:ext cx="451714" cy="45171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57800" y="19659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Explain-It-Like-I'm-5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526280" y="27432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 possible register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001000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B2A4A"/>
          </a:solidFill>
          <a:ln/>
        </p:spPr>
      </p:sp>
      <p:sp>
        <p:nvSpPr>
          <p:cNvPr id="14" name="Shape 10"/>
          <p:cNvSpPr/>
          <p:nvPr/>
        </p:nvSpPr>
        <p:spPr>
          <a:xfrm>
            <a:off x="8275320" y="1965960"/>
            <a:ext cx="594360" cy="59436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5" name="Image 2" descr="/home/claude/work/icons/us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6643" y="2037283"/>
            <a:ext cx="451714" cy="45171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006840" y="19659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Prompting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275320" y="27432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changes substance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02920" y="38862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B2A4A"/>
          </a:solidFill>
          <a:ln/>
        </p:spPr>
      </p:sp>
      <p:sp>
        <p:nvSpPr>
          <p:cNvPr id="19" name="Shape 14"/>
          <p:cNvSpPr/>
          <p:nvPr/>
        </p:nvSpPr>
        <p:spPr>
          <a:xfrm>
            <a:off x="777240" y="4160520"/>
            <a:ext cx="594360" cy="59436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20" name="Image 3" descr="/home/claude/work/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" y="4231843"/>
            <a:ext cx="451714" cy="45171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08760" y="41605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Avoiding Hallucination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777240" y="493776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answers in a source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4251960" y="38862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B2A4A"/>
          </a:solidFill>
          <a:ln/>
        </p:spPr>
      </p:sp>
      <p:sp>
        <p:nvSpPr>
          <p:cNvPr id="24" name="Shape 18"/>
          <p:cNvSpPr/>
          <p:nvPr/>
        </p:nvSpPr>
        <p:spPr>
          <a:xfrm>
            <a:off x="4526280" y="4160520"/>
            <a:ext cx="594360" cy="59436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25" name="Image 4" descr="/home/claude/work/icons/clo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7603" y="4231843"/>
            <a:ext cx="451714" cy="45171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257800" y="41605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Time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4526280" y="493776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before answering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8001000" y="38862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B2A4A"/>
          </a:solidFill>
          <a:ln/>
        </p:spPr>
      </p:sp>
      <p:sp>
        <p:nvSpPr>
          <p:cNvPr id="29" name="Shape 22"/>
          <p:cNvSpPr/>
          <p:nvPr/>
        </p:nvSpPr>
        <p:spPr>
          <a:xfrm>
            <a:off x="8275320" y="4160520"/>
            <a:ext cx="594360" cy="59436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30" name="Image 5" descr="/home/claude/work/icons/messagecirc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6643" y="4231843"/>
            <a:ext cx="451714" cy="45171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006840" y="41605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Monologue</a:t>
            </a:r>
            <a:endParaRPr lang="en-US" sz="1600" dirty="0"/>
          </a:p>
        </p:txBody>
      </p:sp>
      <p:sp>
        <p:nvSpPr>
          <p:cNvPr id="32" name="Text 24"/>
          <p:cNvSpPr/>
          <p:nvPr/>
        </p:nvSpPr>
        <p:spPr>
          <a:xfrm>
            <a:off x="8275320" y="493776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kept separate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502920" y="62179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NEXT SESSION: Self-Eval LLM Responses · Evaluating &amp; Validating Prompts · Classification with LLMs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005840"/>
            <a:ext cx="822960" cy="82296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3" name="Image 0" descr="/home/claude/work/icons/z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715" y="1104595"/>
            <a:ext cx="625450" cy="625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228600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 one of your own prompts in a real reference.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822960" y="374904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 we self-evaluate model answers, learn to validate prompts systematically, and use LLMs for classification.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22960" y="507492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Homework: write one role-prompted version and one reference-grounded version of a prompt from your own project.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2026-08-18T02:36:56Z</dcterms:created>
  <dcterms:modified xsi:type="dcterms:W3CDTF">2026-08-18T02:36:56Z</dcterms:modified>
</cp:coreProperties>
</file>