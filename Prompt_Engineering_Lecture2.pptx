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499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22" y="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2"/>
          <p:cNvSpPr/>
          <p:nvPr/>
        </p:nvSpPr>
        <p:spPr>
          <a:xfrm>
            <a:off x="731520" y="1828800"/>
            <a:ext cx="9144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3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dirty="0" lang="en-US"/>
          </a:p>
        </p:txBody>
      </p:sp>
      <p:sp>
        <p:nvSpPr>
          <p:cNvPr id="1048577" name="Text 3"/>
          <p:cNvSpPr/>
          <p:nvPr/>
        </p:nvSpPr>
        <p:spPr>
          <a:xfrm>
            <a:off x="731520" y="2286000"/>
            <a:ext cx="10058400" cy="1828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2: Tokenization, Embeddings,</a:t>
            </a:r>
            <a:endParaRPr dirty="0" sz="4400" lang="en-US"/>
          </a:p>
          <a:p>
            <a:pPr indent="0" marL="0">
              <a:lnSpc>
                <a:spcPct val="105000"/>
              </a:lnSpc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vs. Prompting, and Sampling</a:t>
            </a:r>
            <a:endParaRPr dirty="0" sz="4400" lang="en-US"/>
          </a:p>
        </p:txBody>
      </p:sp>
      <p:sp>
        <p:nvSpPr>
          <p:cNvPr id="1048578" name="Text 4"/>
          <p:cNvSpPr/>
          <p:nvPr/>
        </p:nvSpPr>
        <p:spPr>
          <a:xfrm>
            <a:off x="731520" y="4160520"/>
            <a:ext cx="9144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Introduction to LLM and Prompt Engineering (continued)</a:t>
            </a:r>
            <a:endParaRPr dirty="0" sz="2000" lang="en-US"/>
          </a:p>
        </p:txBody>
      </p:sp>
      <p:sp>
        <p:nvSpPr>
          <p:cNvPr id="1048579" name="Shape 5"/>
          <p:cNvSpPr/>
          <p:nvPr/>
        </p:nvSpPr>
        <p:spPr>
          <a:xfrm>
            <a:off x="777240" y="4754880"/>
            <a:ext cx="201168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Last Time</a:t>
            </a:r>
            <a:endParaRPr dirty="0" sz="4000" lang="en-US"/>
          </a:p>
        </p:txBody>
      </p:sp>
      <p:sp>
        <p:nvSpPr>
          <p:cNvPr id="1048584" name="Shape 2"/>
          <p:cNvSpPr/>
          <p:nvPr/>
        </p:nvSpPr>
        <p:spPr>
          <a:xfrm>
            <a:off x="548640" y="18745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85" name="Text 3"/>
          <p:cNvSpPr/>
          <p:nvPr/>
        </p:nvSpPr>
        <p:spPr>
          <a:xfrm>
            <a:off x="731520" y="187452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tasks</a:t>
            </a:r>
            <a:endParaRPr dirty="0" sz="1600" lang="en-US"/>
          </a:p>
        </p:txBody>
      </p:sp>
      <p:sp>
        <p:nvSpPr>
          <p:cNvPr id="1048586" name="Shape 4"/>
          <p:cNvSpPr/>
          <p:nvPr/>
        </p:nvSpPr>
        <p:spPr>
          <a:xfrm>
            <a:off x="4343400" y="18745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87" name="Text 5"/>
          <p:cNvSpPr/>
          <p:nvPr/>
        </p:nvSpPr>
        <p:spPr>
          <a:xfrm>
            <a:off x="4526280" y="187452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of LLMs</a:t>
            </a:r>
            <a:endParaRPr dirty="0" sz="1600" lang="en-US"/>
          </a:p>
        </p:txBody>
      </p:sp>
      <p:sp>
        <p:nvSpPr>
          <p:cNvPr id="1048588" name="Shape 6"/>
          <p:cNvSpPr/>
          <p:nvPr/>
        </p:nvSpPr>
        <p:spPr>
          <a:xfrm>
            <a:off x="8138160" y="18745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89" name="Text 7"/>
          <p:cNvSpPr/>
          <p:nvPr/>
        </p:nvSpPr>
        <p:spPr>
          <a:xfrm>
            <a:off x="8321040" y="187452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</a:t>
            </a:r>
            <a:endParaRPr dirty="0" sz="1600" lang="en-US"/>
          </a:p>
        </p:txBody>
      </p:sp>
      <p:sp>
        <p:nvSpPr>
          <p:cNvPr id="1048590" name="Shape 8"/>
          <p:cNvSpPr/>
          <p:nvPr/>
        </p:nvSpPr>
        <p:spPr>
          <a:xfrm>
            <a:off x="548640" y="283464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91" name="Text 9"/>
          <p:cNvSpPr/>
          <p:nvPr/>
        </p:nvSpPr>
        <p:spPr>
          <a:xfrm>
            <a:off x="731520" y="283464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/ BERT / GPT</a:t>
            </a:r>
            <a:endParaRPr dirty="0" sz="1600" lang="en-US"/>
          </a:p>
        </p:txBody>
      </p:sp>
      <p:sp>
        <p:nvSpPr>
          <p:cNvPr id="1048592" name="Shape 10"/>
          <p:cNvSpPr/>
          <p:nvPr/>
        </p:nvSpPr>
        <p:spPr>
          <a:xfrm>
            <a:off x="4343400" y="283464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93" name="Text 11"/>
          <p:cNvSpPr/>
          <p:nvPr/>
        </p:nvSpPr>
        <p:spPr>
          <a:xfrm>
            <a:off x="4526280" y="283464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LLMs today</a:t>
            </a:r>
            <a:endParaRPr dirty="0" sz="1600" lang="en-US"/>
          </a:p>
        </p:txBody>
      </p:sp>
      <p:sp>
        <p:nvSpPr>
          <p:cNvPr id="1048594" name="Shape 12"/>
          <p:cNvSpPr/>
          <p:nvPr/>
        </p:nvSpPr>
        <p:spPr>
          <a:xfrm>
            <a:off x="8138160" y="283464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595" name="Text 13"/>
          <p:cNvSpPr/>
          <p:nvPr/>
        </p:nvSpPr>
        <p:spPr>
          <a:xfrm>
            <a:off x="8321040" y="2834640"/>
            <a:ext cx="32004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mention: prompt engineering</a:t>
            </a:r>
            <a:endParaRPr dirty="0" sz="1600" lang="en-US"/>
          </a:p>
        </p:txBody>
      </p:sp>
      <p:sp>
        <p:nvSpPr>
          <p:cNvPr id="1048596" name="Shape 14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597" name="Shape 15"/>
          <p:cNvSpPr/>
          <p:nvPr/>
        </p:nvSpPr>
        <p:spPr>
          <a:xfrm>
            <a:off x="1005840" y="4206240"/>
            <a:ext cx="822960" cy="822960"/>
          </a:xfrm>
          <a:prstGeom prst="ellipse"/>
          <a:solidFill>
            <a:srgbClr val="F2A65A"/>
          </a:solidFill>
        </p:spPr>
      </p:sp>
      <p:pic>
        <p:nvPicPr>
          <p:cNvPr id="2097152" name="Image 0" descr="icons/checkcircl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11580" y="4411980"/>
            <a:ext cx="411480" cy="411480"/>
          </a:xfrm>
          <a:prstGeom prst="rect"/>
        </p:spPr>
      </p:pic>
      <p:sp>
        <p:nvSpPr>
          <p:cNvPr id="1048598" name="Text 16"/>
          <p:cNvSpPr/>
          <p:nvPr/>
        </p:nvSpPr>
        <p:spPr>
          <a:xfrm>
            <a:off x="2011680" y="4160520"/>
            <a:ext cx="8686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15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CHECK-IN</a:t>
            </a:r>
            <a:endParaRPr dirty="0" sz="1600" lang="en-US"/>
          </a:p>
        </p:txBody>
      </p:sp>
      <p:sp>
        <p:nvSpPr>
          <p:cNvPr id="1048599" name="Text 17"/>
          <p:cNvSpPr/>
          <p:nvPr/>
        </p:nvSpPr>
        <p:spPr>
          <a:xfrm>
            <a:off x="2011680" y="4480560"/>
            <a:ext cx="905256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screenshots at the start of class. Ask 2–3 students to briefly share one interesting output from their 5 prompts (translation, summarization, Q&amp;A, sentiment analysis, or text generation).</a:t>
            </a:r>
            <a:endParaRPr dirty="0" sz="1600" lang="en-US"/>
          </a:p>
        </p:txBody>
      </p:sp>
      <p:sp>
        <p:nvSpPr>
          <p:cNvPr id="1048600" name="Text 18"/>
          <p:cNvSpPr/>
          <p:nvPr/>
        </p:nvSpPr>
        <p:spPr>
          <a:xfrm>
            <a:off x="2011680" y="5349240"/>
            <a:ext cx="90525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Rapid-fire recap: cold-call students to define NLP, LLM, transformer, and generative model in one line each.</a:t>
            </a:r>
            <a:endParaRPr dirty="0" sz="1600" lang="en-US"/>
          </a:p>
        </p:txBody>
      </p:sp>
      <p:sp>
        <p:nvSpPr>
          <p:cNvPr id="1048601" name="Text 2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Tokenization: Breaking Text Apart</a:t>
            </a:r>
            <a:endParaRPr dirty="0" sz="4000" lang="en-US"/>
          </a:p>
        </p:txBody>
      </p:sp>
      <p:sp>
        <p:nvSpPr>
          <p:cNvPr id="1048606" name="Shape 2"/>
          <p:cNvSpPr/>
          <p:nvPr/>
        </p:nvSpPr>
        <p:spPr>
          <a:xfrm>
            <a:off x="822960" y="1874520"/>
            <a:ext cx="1280160" cy="1280160"/>
          </a:xfrm>
          <a:prstGeom prst="ellipse"/>
          <a:solidFill>
            <a:srgbClr val="1B2A4A"/>
          </a:solidFill>
        </p:spPr>
      </p:sp>
      <p:pic>
        <p:nvPicPr>
          <p:cNvPr id="2097153" name="Image 0" descr="icons/layergroup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194560"/>
            <a:ext cx="640080" cy="640080"/>
          </a:xfrm>
          <a:prstGeom prst="rect"/>
        </p:spPr>
      </p:pic>
      <p:sp>
        <p:nvSpPr>
          <p:cNvPr id="1048607" name="Text 3"/>
          <p:cNvSpPr/>
          <p:nvPr/>
        </p:nvSpPr>
        <p:spPr>
          <a:xfrm>
            <a:off x="2377440" y="1874520"/>
            <a:ext cx="896112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model can process text, it must be split into tokens — small chunks, often smaller than a whole word (subwords).</a:t>
            </a:r>
            <a:endParaRPr dirty="0" lang="en-US"/>
          </a:p>
        </p:txBody>
      </p:sp>
      <p:sp>
        <p:nvSpPr>
          <p:cNvPr id="1048608" name="Text 4"/>
          <p:cNvSpPr/>
          <p:nvPr/>
        </p:nvSpPr>
        <p:spPr>
          <a:xfrm>
            <a:off x="548640" y="3246120"/>
            <a:ext cx="3657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5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dirty="0" sz="1400" lang="en-US"/>
          </a:p>
        </p:txBody>
      </p:sp>
      <p:sp>
        <p:nvSpPr>
          <p:cNvPr id="1048609" name="Shape 5"/>
          <p:cNvSpPr/>
          <p:nvPr/>
        </p:nvSpPr>
        <p:spPr>
          <a:xfrm>
            <a:off x="548640" y="36118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</p:spPr>
      </p:sp>
      <p:sp>
        <p:nvSpPr>
          <p:cNvPr id="1048610" name="Text 6"/>
          <p:cNvSpPr/>
          <p:nvPr/>
        </p:nvSpPr>
        <p:spPr>
          <a:xfrm>
            <a:off x="548640" y="3611880"/>
            <a:ext cx="32918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unbelievable</a:t>
            </a:r>
            <a:endParaRPr dirty="0" sz="2800" lang="en-US"/>
          </a:p>
        </p:txBody>
      </p:sp>
      <p:sp>
        <p:nvSpPr>
          <p:cNvPr id="1048611" name="Text 7"/>
          <p:cNvSpPr/>
          <p:nvPr/>
        </p:nvSpPr>
        <p:spPr>
          <a:xfrm>
            <a:off x="3977640" y="3611880"/>
            <a:ext cx="5486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3200" lang="en-US"/>
          </a:p>
        </p:txBody>
      </p:sp>
      <p:sp>
        <p:nvSpPr>
          <p:cNvPr id="1048612" name="Shape 8"/>
          <p:cNvSpPr/>
          <p:nvPr/>
        </p:nvSpPr>
        <p:spPr>
          <a:xfrm>
            <a:off x="4663440" y="3611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2A65A"/>
          </a:solidFill>
        </p:spPr>
      </p:sp>
      <p:sp>
        <p:nvSpPr>
          <p:cNvPr id="1048613" name="Text 9"/>
          <p:cNvSpPr/>
          <p:nvPr/>
        </p:nvSpPr>
        <p:spPr>
          <a:xfrm>
            <a:off x="4663440" y="3611880"/>
            <a:ext cx="141732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</a:t>
            </a:r>
            <a:endParaRPr dirty="0" sz="2000" lang="en-US"/>
          </a:p>
        </p:txBody>
      </p:sp>
      <p:sp>
        <p:nvSpPr>
          <p:cNvPr id="1048614" name="Shape 10"/>
          <p:cNvSpPr/>
          <p:nvPr/>
        </p:nvSpPr>
        <p:spPr>
          <a:xfrm>
            <a:off x="6263640" y="3611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2A65A"/>
          </a:solidFill>
        </p:spPr>
      </p:sp>
      <p:sp>
        <p:nvSpPr>
          <p:cNvPr id="1048615" name="Text 11"/>
          <p:cNvSpPr/>
          <p:nvPr/>
        </p:nvSpPr>
        <p:spPr>
          <a:xfrm>
            <a:off x="6263640" y="3611880"/>
            <a:ext cx="141732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</a:t>
            </a:r>
            <a:endParaRPr dirty="0" sz="2000" lang="en-US"/>
          </a:p>
        </p:txBody>
      </p:sp>
      <p:sp>
        <p:nvSpPr>
          <p:cNvPr id="1048616" name="Shape 12"/>
          <p:cNvSpPr/>
          <p:nvPr/>
        </p:nvSpPr>
        <p:spPr>
          <a:xfrm>
            <a:off x="7863840" y="3611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2A65A"/>
          </a:solidFill>
        </p:spPr>
      </p:sp>
      <p:sp>
        <p:nvSpPr>
          <p:cNvPr id="1048617" name="Text 13"/>
          <p:cNvSpPr/>
          <p:nvPr/>
        </p:nvSpPr>
        <p:spPr>
          <a:xfrm>
            <a:off x="7863840" y="3611880"/>
            <a:ext cx="141732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dirty="0" sz="2000" lang="en-US"/>
          </a:p>
        </p:txBody>
      </p:sp>
      <p:sp>
        <p:nvSpPr>
          <p:cNvPr id="1048618" name="Text 14"/>
          <p:cNvSpPr/>
          <p:nvPr/>
        </p:nvSpPr>
        <p:spPr>
          <a:xfrm>
            <a:off x="548640" y="4663440"/>
            <a:ext cx="10881360" cy="6400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colored piece above is one token — the model never sees “unbelievable” as a single unit; it sees three pieces and predicts/reads one piece at a time.</a:t>
            </a:r>
            <a:endParaRPr dirty="0" sz="1600" lang="en-US"/>
          </a:p>
        </p:txBody>
      </p:sp>
      <p:sp>
        <p:nvSpPr>
          <p:cNvPr id="1048619" name="Shape 15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0FF"/>
          </a:solidFill>
        </p:spPr>
      </p:sp>
      <p:sp>
        <p:nvSpPr>
          <p:cNvPr id="1048620" name="Text 16"/>
          <p:cNvSpPr/>
          <p:nvPr/>
        </p:nvSpPr>
        <p:spPr>
          <a:xfrm>
            <a:off x="822960" y="5440680"/>
            <a:ext cx="105156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subwords, not whole words? A finite token vocabulary can still represent any word — even rare ones — by combining familiar pieces.</a:t>
            </a:r>
            <a:endParaRPr dirty="0" sz="1600" lang="en-US"/>
          </a:p>
        </p:txBody>
      </p:sp>
      <p:sp>
        <p:nvSpPr>
          <p:cNvPr id="1048621" name="Text 1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Embeddings: From Tokens to Meaning</a:t>
            </a:r>
            <a:endParaRPr dirty="0" sz="3600" lang="en-US"/>
          </a:p>
        </p:txBody>
      </p:sp>
      <p:sp>
        <p:nvSpPr>
          <p:cNvPr id="1048626" name="Shape 2"/>
          <p:cNvSpPr/>
          <p:nvPr/>
        </p:nvSpPr>
        <p:spPr>
          <a:xfrm>
            <a:off x="868680" y="1965960"/>
            <a:ext cx="1371600" cy="1371600"/>
          </a:xfrm>
          <a:prstGeom prst="ellipse"/>
          <a:solidFill>
            <a:srgbClr val="F2A65A"/>
          </a:solidFill>
        </p:spPr>
      </p:sp>
      <p:pic>
        <p:nvPicPr>
          <p:cNvPr id="2097154" name="Image 0" descr="icons/vectorsquar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11580" y="2308860"/>
            <a:ext cx="685800" cy="685800"/>
          </a:xfrm>
          <a:prstGeom prst="rect"/>
        </p:spPr>
      </p:pic>
      <p:sp>
        <p:nvSpPr>
          <p:cNvPr id="1048627" name="Text 3"/>
          <p:cNvSpPr/>
          <p:nvPr/>
        </p:nvSpPr>
        <p:spPr>
          <a:xfrm>
            <a:off x="2651760" y="2011680"/>
            <a:ext cx="8686800" cy="10515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text is tokenized, each token is converted into an embedding — a vector (list of numbers) that captures something about its meaning.</a:t>
            </a:r>
            <a:endParaRPr dirty="0" lang="en-US"/>
          </a:p>
        </p:txBody>
      </p:sp>
      <p:sp>
        <p:nvSpPr>
          <p:cNvPr id="1048628" name="Shape 4"/>
          <p:cNvSpPr/>
          <p:nvPr/>
        </p:nvSpPr>
        <p:spPr>
          <a:xfrm>
            <a:off x="2651760" y="320040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24365F"/>
          </a:solidFill>
        </p:spPr>
      </p:sp>
      <p:sp>
        <p:nvSpPr>
          <p:cNvPr id="1048629" name="Text 5"/>
          <p:cNvSpPr/>
          <p:nvPr/>
        </p:nvSpPr>
        <p:spPr>
          <a:xfrm>
            <a:off x="2651760" y="3200400"/>
            <a:ext cx="86868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"believ"  →  [ 0.21, −0.08, 0.44, ... , 0.13 ]</a:t>
            </a:r>
            <a:endParaRPr dirty="0" sz="2000" lang="en-US"/>
          </a:p>
        </p:txBody>
      </p:sp>
      <p:sp>
        <p:nvSpPr>
          <p:cNvPr id="1048630" name="Text 6"/>
          <p:cNvSpPr/>
          <p:nvPr/>
        </p:nvSpPr>
        <p:spPr>
          <a:xfrm>
            <a:off x="2651760" y="4343400"/>
            <a:ext cx="868680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the model work with numbers instead of raw text — and, as we saw in Lecture 1, similar-meaning tokens end up with similar vectors (king / queen, happy / joyful).</a:t>
            </a:r>
            <a:endParaRPr dirty="0" sz="1600" lang="en-US"/>
          </a:p>
        </p:txBody>
      </p:sp>
      <p:sp>
        <p:nvSpPr>
          <p:cNvPr id="1048631" name="Text 8"/>
          <p:cNvSpPr/>
          <p:nvPr/>
        </p:nvSpPr>
        <p:spPr>
          <a:xfrm>
            <a:off x="822960" y="5394960"/>
            <a:ext cx="105156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600" lang="en-US"/>
          </a:p>
        </p:txBody>
      </p:sp>
      <p:sp>
        <p:nvSpPr>
          <p:cNvPr id="1048632" name="Text 1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Change Model Behavior</a:t>
            </a:r>
            <a:endParaRPr dirty="0" sz="4000" lang="en-US"/>
          </a:p>
        </p:txBody>
      </p:sp>
      <p:sp>
        <p:nvSpPr>
          <p:cNvPr id="1048637" name="Shape 2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38" name="Shape 3"/>
          <p:cNvSpPr/>
          <p:nvPr/>
        </p:nvSpPr>
        <p:spPr>
          <a:xfrm>
            <a:off x="914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55" name="Image 0" descr="icons/syncal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377440"/>
            <a:ext cx="457200" cy="457200"/>
          </a:xfrm>
          <a:prstGeom prst="rect"/>
        </p:spPr>
      </p:pic>
      <p:sp>
        <p:nvSpPr>
          <p:cNvPr id="1048639" name="Text 4"/>
          <p:cNvSpPr/>
          <p:nvPr/>
        </p:nvSpPr>
        <p:spPr>
          <a:xfrm>
            <a:off x="914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dirty="0" sz="2400" lang="en-US"/>
          </a:p>
        </p:txBody>
      </p:sp>
      <p:sp>
        <p:nvSpPr>
          <p:cNvPr id="1048640" name="Text 5"/>
          <p:cNvSpPr/>
          <p:nvPr/>
        </p:nvSpPr>
        <p:spPr>
          <a:xfrm>
            <a:off x="960120" y="3611880"/>
            <a:ext cx="4572000" cy="594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model's WEIGHTS using additional training data.</a:t>
            </a:r>
            <a:endParaRPr dirty="0" sz="1600" lang="en-US"/>
          </a:p>
        </p:txBody>
      </p:sp>
      <p:sp>
        <p:nvSpPr>
          <p:cNvPr id="1048641" name="Shape 6"/>
          <p:cNvSpPr/>
          <p:nvPr/>
        </p:nvSpPr>
        <p:spPr>
          <a:xfrm>
            <a:off x="1188720" y="43982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42" name="Text 7"/>
          <p:cNvSpPr/>
          <p:nvPr/>
        </p:nvSpPr>
        <p:spPr>
          <a:xfrm>
            <a:off x="1417320" y="42519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 + compute</a:t>
            </a:r>
            <a:endParaRPr dirty="0" sz="1600" lang="en-US"/>
          </a:p>
        </p:txBody>
      </p:sp>
      <p:sp>
        <p:nvSpPr>
          <p:cNvPr id="1048643" name="Shape 8"/>
          <p:cNvSpPr/>
          <p:nvPr/>
        </p:nvSpPr>
        <p:spPr>
          <a:xfrm>
            <a:off x="1188720" y="48554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44" name="Text 9"/>
          <p:cNvSpPr/>
          <p:nvPr/>
        </p:nvSpPr>
        <p:spPr>
          <a:xfrm>
            <a:off x="1417320" y="47091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more expensive</a:t>
            </a:r>
            <a:endParaRPr dirty="0" sz="1600" lang="en-US"/>
          </a:p>
        </p:txBody>
      </p:sp>
      <p:sp>
        <p:nvSpPr>
          <p:cNvPr id="1048645" name="Shape 10"/>
          <p:cNvSpPr/>
          <p:nvPr/>
        </p:nvSpPr>
        <p:spPr>
          <a:xfrm>
            <a:off x="1188720" y="53126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46" name="Text 11"/>
          <p:cNvSpPr/>
          <p:nvPr/>
        </p:nvSpPr>
        <p:spPr>
          <a:xfrm>
            <a:off x="1417320" y="51663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specialized model</a:t>
            </a:r>
            <a:endParaRPr dirty="0" sz="1600" lang="en-US"/>
          </a:p>
        </p:txBody>
      </p:sp>
      <p:sp>
        <p:nvSpPr>
          <p:cNvPr id="1048647" name="Shape 12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48" name="Shape 13"/>
          <p:cNvSpPr/>
          <p:nvPr/>
        </p:nvSpPr>
        <p:spPr>
          <a:xfrm>
            <a:off x="6629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56" name="Image 1" descr="icons/keyboard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2377440"/>
            <a:ext cx="457200" cy="457200"/>
          </a:xfrm>
          <a:prstGeom prst="rect"/>
        </p:spPr>
      </p:pic>
      <p:sp>
        <p:nvSpPr>
          <p:cNvPr id="1048649" name="Text 14"/>
          <p:cNvSpPr/>
          <p:nvPr/>
        </p:nvSpPr>
        <p:spPr>
          <a:xfrm>
            <a:off x="6629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sz="2400" lang="en-US"/>
          </a:p>
        </p:txBody>
      </p:sp>
      <p:sp>
        <p:nvSpPr>
          <p:cNvPr id="1048650" name="Text 15"/>
          <p:cNvSpPr/>
          <p:nvPr/>
        </p:nvSpPr>
        <p:spPr>
          <a:xfrm>
            <a:off x="6675120" y="3611880"/>
            <a:ext cx="4572000" cy="594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only the INPUT — model weights stay untouched.</a:t>
            </a:r>
            <a:endParaRPr dirty="0" sz="1600" lang="en-US"/>
          </a:p>
        </p:txBody>
      </p:sp>
      <p:sp>
        <p:nvSpPr>
          <p:cNvPr id="1048651" name="Shape 16"/>
          <p:cNvSpPr/>
          <p:nvPr/>
        </p:nvSpPr>
        <p:spPr>
          <a:xfrm>
            <a:off x="6903720" y="43982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52" name="Text 17"/>
          <p:cNvSpPr/>
          <p:nvPr/>
        </p:nvSpPr>
        <p:spPr>
          <a:xfrm>
            <a:off x="7132320" y="42519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needed</a:t>
            </a:r>
            <a:endParaRPr dirty="0" sz="1600" lang="en-US"/>
          </a:p>
        </p:txBody>
      </p:sp>
      <p:sp>
        <p:nvSpPr>
          <p:cNvPr id="1048653" name="Shape 18"/>
          <p:cNvSpPr/>
          <p:nvPr/>
        </p:nvSpPr>
        <p:spPr>
          <a:xfrm>
            <a:off x="6903720" y="48554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54" name="Text 19"/>
          <p:cNvSpPr/>
          <p:nvPr/>
        </p:nvSpPr>
        <p:spPr>
          <a:xfrm>
            <a:off x="7132320" y="47091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immediate</a:t>
            </a:r>
            <a:endParaRPr dirty="0" sz="1600" lang="en-US"/>
          </a:p>
        </p:txBody>
      </p:sp>
      <p:sp>
        <p:nvSpPr>
          <p:cNvPr id="1048655" name="Shape 20"/>
          <p:cNvSpPr/>
          <p:nvPr/>
        </p:nvSpPr>
        <p:spPr>
          <a:xfrm>
            <a:off x="6903720" y="5312664"/>
            <a:ext cx="109728" cy="109728"/>
          </a:xfrm>
          <a:prstGeom prst="ellipse"/>
          <a:solidFill>
            <a:srgbClr val="F2A65A"/>
          </a:solidFill>
        </p:spPr>
      </p:sp>
      <p:sp>
        <p:nvSpPr>
          <p:cNvPr id="1048656" name="Text 21"/>
          <p:cNvSpPr/>
          <p:nvPr/>
        </p:nvSpPr>
        <p:spPr>
          <a:xfrm>
            <a:off x="7132320" y="51663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steered behavior, same model</a:t>
            </a:r>
            <a:endParaRPr dirty="0" sz="1600" lang="en-US"/>
          </a:p>
        </p:txBody>
      </p:sp>
      <p:sp>
        <p:nvSpPr>
          <p:cNvPr id="1048657" name="Text 23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Would You Use Which?</a:t>
            </a:r>
            <a:endParaRPr dirty="0" sz="4000" lang="en-US"/>
          </a:p>
        </p:txBody>
      </p:sp>
      <p:sp>
        <p:nvSpPr>
          <p:cNvPr id="1048662" name="Shape 2"/>
          <p:cNvSpPr/>
          <p:nvPr/>
        </p:nvSpPr>
        <p:spPr>
          <a:xfrm>
            <a:off x="548640" y="18745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</p:spPr>
      </p:sp>
      <p:sp>
        <p:nvSpPr>
          <p:cNvPr id="1048663" name="Text 3"/>
          <p:cNvSpPr/>
          <p:nvPr/>
        </p:nvSpPr>
        <p:spPr>
          <a:xfrm>
            <a:off x="777240" y="1874520"/>
            <a:ext cx="73152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dirty="0" sz="1600" lang="en-US"/>
          </a:p>
        </p:txBody>
      </p:sp>
      <p:sp>
        <p:nvSpPr>
          <p:cNvPr id="1048664" name="Text 4"/>
          <p:cNvSpPr/>
          <p:nvPr/>
        </p:nvSpPr>
        <p:spPr>
          <a:xfrm>
            <a:off x="8229600" y="1874520"/>
            <a:ext cx="3200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Fit</a:t>
            </a:r>
            <a:endParaRPr dirty="0" sz="1600" lang="en-US"/>
          </a:p>
        </p:txBody>
      </p:sp>
      <p:sp>
        <p:nvSpPr>
          <p:cNvPr id="1048665" name="Shape 5"/>
          <p:cNvSpPr/>
          <p:nvPr/>
        </p:nvSpPr>
        <p:spPr>
          <a:xfrm>
            <a:off x="548640" y="2423160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666" name="Text 6"/>
          <p:cNvSpPr/>
          <p:nvPr/>
        </p:nvSpPr>
        <p:spPr>
          <a:xfrm>
            <a:off x="777240" y="2423160"/>
            <a:ext cx="7315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an answer in the next 5 minutes</a:t>
            </a:r>
            <a:endParaRPr dirty="0" sz="1400" lang="en-US"/>
          </a:p>
        </p:txBody>
      </p:sp>
      <p:sp>
        <p:nvSpPr>
          <p:cNvPr id="1048667" name="Text 7"/>
          <p:cNvSpPr/>
          <p:nvPr/>
        </p:nvSpPr>
        <p:spPr>
          <a:xfrm>
            <a:off x="8229600" y="2423160"/>
            <a:ext cx="32004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sz="1400" lang="en-US"/>
          </a:p>
        </p:txBody>
      </p:sp>
      <p:sp>
        <p:nvSpPr>
          <p:cNvPr id="1048668" name="Shape 8"/>
          <p:cNvSpPr/>
          <p:nvPr/>
        </p:nvSpPr>
        <p:spPr>
          <a:xfrm>
            <a:off x="548640" y="3081528"/>
            <a:ext cx="11064240" cy="658368"/>
          </a:xfrm>
          <a:prstGeom prst="rect"/>
          <a:solidFill>
            <a:srgbClr val="F0F3FA"/>
          </a:solidFill>
        </p:spPr>
      </p:sp>
      <p:sp>
        <p:nvSpPr>
          <p:cNvPr id="1048669" name="Text 9"/>
          <p:cNvSpPr/>
          <p:nvPr/>
        </p:nvSpPr>
        <p:spPr>
          <a:xfrm>
            <a:off x="777240" y="3081528"/>
            <a:ext cx="7315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narrow, repeated task at massive scale (e.g. classify 1M support tickets in a fixed format)</a:t>
            </a:r>
            <a:endParaRPr dirty="0" sz="1400" lang="en-US"/>
          </a:p>
        </p:txBody>
      </p:sp>
      <p:sp>
        <p:nvSpPr>
          <p:cNvPr id="1048670" name="Text 10"/>
          <p:cNvSpPr/>
          <p:nvPr/>
        </p:nvSpPr>
        <p:spPr>
          <a:xfrm>
            <a:off x="8229600" y="3081528"/>
            <a:ext cx="32004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dirty="0" sz="1400" lang="en-US"/>
          </a:p>
        </p:txBody>
      </p:sp>
      <p:sp>
        <p:nvSpPr>
          <p:cNvPr id="1048671" name="Shape 11"/>
          <p:cNvSpPr/>
          <p:nvPr/>
        </p:nvSpPr>
        <p:spPr>
          <a:xfrm>
            <a:off x="548640" y="3739896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672" name="Text 12"/>
          <p:cNvSpPr/>
          <p:nvPr/>
        </p:nvSpPr>
        <p:spPr>
          <a:xfrm>
            <a:off x="777240" y="3739896"/>
            <a:ext cx="7315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exploring / iterating on what you even want</a:t>
            </a:r>
            <a:endParaRPr dirty="0" sz="1400" lang="en-US"/>
          </a:p>
        </p:txBody>
      </p:sp>
      <p:sp>
        <p:nvSpPr>
          <p:cNvPr id="1048673" name="Text 13"/>
          <p:cNvSpPr/>
          <p:nvPr/>
        </p:nvSpPr>
        <p:spPr>
          <a:xfrm>
            <a:off x="8229600" y="3739896"/>
            <a:ext cx="32004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sz="1400" lang="en-US"/>
          </a:p>
        </p:txBody>
      </p:sp>
      <p:sp>
        <p:nvSpPr>
          <p:cNvPr id="1048674" name="Shape 14"/>
          <p:cNvSpPr/>
          <p:nvPr/>
        </p:nvSpPr>
        <p:spPr>
          <a:xfrm>
            <a:off x="548640" y="4398264"/>
            <a:ext cx="11064240" cy="658368"/>
          </a:xfrm>
          <a:prstGeom prst="rect"/>
          <a:solidFill>
            <a:srgbClr val="F0F3FA"/>
          </a:solidFill>
        </p:spPr>
      </p:sp>
      <p:sp>
        <p:nvSpPr>
          <p:cNvPr id="1048675" name="Text 15"/>
          <p:cNvSpPr/>
          <p:nvPr/>
        </p:nvSpPr>
        <p:spPr>
          <a:xfrm>
            <a:off x="777240" y="4398264"/>
            <a:ext cx="7315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model to adopt a very specific, consistent voice across thousands of calls</a:t>
            </a:r>
            <a:endParaRPr dirty="0" sz="1400" lang="en-US"/>
          </a:p>
        </p:txBody>
      </p:sp>
      <p:sp>
        <p:nvSpPr>
          <p:cNvPr id="1048676" name="Text 16"/>
          <p:cNvSpPr/>
          <p:nvPr/>
        </p:nvSpPr>
        <p:spPr>
          <a:xfrm>
            <a:off x="8229600" y="4398264"/>
            <a:ext cx="32004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(or a strong system prompt)</a:t>
            </a:r>
            <a:endParaRPr dirty="0" sz="1400" lang="en-US"/>
          </a:p>
        </p:txBody>
      </p:sp>
      <p:sp>
        <p:nvSpPr>
          <p:cNvPr id="1048677" name="Shape 17"/>
          <p:cNvSpPr/>
          <p:nvPr/>
        </p:nvSpPr>
        <p:spPr>
          <a:xfrm>
            <a:off x="548640" y="5056632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678" name="Text 18"/>
          <p:cNvSpPr/>
          <p:nvPr/>
        </p:nvSpPr>
        <p:spPr>
          <a:xfrm>
            <a:off x="777240" y="5056632"/>
            <a:ext cx="7315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labeled training data or a compute budget</a:t>
            </a:r>
            <a:endParaRPr dirty="0" sz="1400" lang="en-US"/>
          </a:p>
        </p:txBody>
      </p:sp>
      <p:sp>
        <p:nvSpPr>
          <p:cNvPr id="1048679" name="Text 19"/>
          <p:cNvSpPr/>
          <p:nvPr/>
        </p:nvSpPr>
        <p:spPr>
          <a:xfrm>
            <a:off x="8229600" y="5056632"/>
            <a:ext cx="32004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sz="1400" lang="en-US"/>
          </a:p>
        </p:txBody>
      </p:sp>
      <p:sp>
        <p:nvSpPr>
          <p:cNvPr id="1048680" name="Text 21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1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Temperature: The Creativity Knob</a:t>
            </a:r>
            <a:endParaRPr dirty="0" sz="4000" lang="en-US"/>
          </a:p>
        </p:txBody>
      </p:sp>
      <p:sp>
        <p:nvSpPr>
          <p:cNvPr id="1048685" name="Shape 2"/>
          <p:cNvSpPr/>
          <p:nvPr/>
        </p:nvSpPr>
        <p:spPr>
          <a:xfrm>
            <a:off x="914400" y="1417320"/>
            <a:ext cx="1097280" cy="1097280"/>
          </a:xfrm>
          <a:prstGeom prst="ellipse"/>
          <a:solidFill>
            <a:srgbClr val="F2A65A"/>
          </a:solidFill>
        </p:spPr>
      </p:sp>
      <p:pic>
        <p:nvPicPr>
          <p:cNvPr id="2097157" name="Image 0" descr="icons/thermometerhalf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88720" y="1691640"/>
            <a:ext cx="548640" cy="548640"/>
          </a:xfrm>
          <a:prstGeom prst="rect"/>
        </p:spPr>
      </p:pic>
      <p:sp>
        <p:nvSpPr>
          <p:cNvPr id="1048686" name="Text 3"/>
          <p:cNvSpPr/>
          <p:nvPr/>
        </p:nvSpPr>
        <p:spPr>
          <a:xfrm>
            <a:off x="2331720" y="1508760"/>
            <a:ext cx="91440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how randomly the model samples from its predicted next-token probabilities.</a:t>
            </a:r>
            <a:endParaRPr dirty="0" lang="en-US"/>
          </a:p>
        </p:txBody>
      </p:sp>
      <p:sp>
        <p:nvSpPr>
          <p:cNvPr id="1048687" name="Shape 4"/>
          <p:cNvSpPr/>
          <p:nvPr/>
        </p:nvSpPr>
        <p:spPr>
          <a:xfrm>
            <a:off x="548640" y="260604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688" name="Text 5"/>
          <p:cNvSpPr/>
          <p:nvPr/>
        </p:nvSpPr>
        <p:spPr>
          <a:xfrm>
            <a:off x="822960" y="2606040"/>
            <a:ext cx="484632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  ·   Deterministic, focused, repeatable</a:t>
            </a:r>
            <a:endParaRPr dirty="0" sz="1600" lang="en-US"/>
          </a:p>
        </p:txBody>
      </p:sp>
      <p:sp>
        <p:nvSpPr>
          <p:cNvPr id="1048689" name="Shape 6"/>
          <p:cNvSpPr/>
          <p:nvPr/>
        </p:nvSpPr>
        <p:spPr>
          <a:xfrm>
            <a:off x="6217920" y="260604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F2A65A"/>
          </a:solidFill>
        </p:spPr>
      </p:sp>
      <p:sp>
        <p:nvSpPr>
          <p:cNvPr id="1048690" name="Text 7"/>
          <p:cNvSpPr/>
          <p:nvPr/>
        </p:nvSpPr>
        <p:spPr>
          <a:xfrm>
            <a:off x="6492240" y="2606040"/>
            <a:ext cx="484632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  ·   Diverse, creative, less predictable</a:t>
            </a:r>
            <a:endParaRPr dirty="0" sz="1600" lang="en-US"/>
          </a:p>
        </p:txBody>
      </p:sp>
      <p:sp>
        <p:nvSpPr>
          <p:cNvPr id="1048691" name="Text 8"/>
          <p:cNvSpPr/>
          <p:nvPr/>
        </p:nvSpPr>
        <p:spPr>
          <a:xfrm>
            <a:off x="548640" y="3456432"/>
            <a:ext cx="110642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next-token probabilities for "The cat sat on the ___"</a:t>
            </a:r>
            <a:endParaRPr dirty="0" sz="1400" lang="en-US"/>
          </a:p>
        </p:txBody>
      </p:sp>
      <p:pic>
        <p:nvPicPr>
          <p:cNvPr id="2097158" name="Image 1" descr="icons/temperature_chart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63040" y="3749040"/>
            <a:ext cx="9262872" cy="2606040"/>
          </a:xfrm>
          <a:prstGeom prst="rect"/>
        </p:spPr>
      </p:pic>
      <p:sp>
        <p:nvSpPr>
          <p:cNvPr id="1048692" name="Text 1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and Top-p Sampling</a:t>
            </a:r>
            <a:endParaRPr dirty="0" sz="4000" lang="en-US"/>
          </a:p>
        </p:txBody>
      </p:sp>
      <p:sp>
        <p:nvSpPr>
          <p:cNvPr id="1048697" name="Shape 2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98" name="Shape 3"/>
          <p:cNvSpPr/>
          <p:nvPr/>
        </p:nvSpPr>
        <p:spPr>
          <a:xfrm>
            <a:off x="914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59" name="Image 0" descr="icons/filter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377440"/>
            <a:ext cx="457200" cy="457200"/>
          </a:xfrm>
          <a:prstGeom prst="rect"/>
        </p:spPr>
      </p:pic>
      <p:sp>
        <p:nvSpPr>
          <p:cNvPr id="1048699" name="Text 4"/>
          <p:cNvSpPr/>
          <p:nvPr/>
        </p:nvSpPr>
        <p:spPr>
          <a:xfrm>
            <a:off x="914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Sampling</a:t>
            </a:r>
            <a:endParaRPr dirty="0" sz="2000" lang="en-US"/>
          </a:p>
        </p:txBody>
      </p:sp>
      <p:sp>
        <p:nvSpPr>
          <p:cNvPr id="1048700" name="Text 5"/>
          <p:cNvSpPr/>
          <p:nvPr/>
        </p:nvSpPr>
        <p:spPr>
          <a:xfrm>
            <a:off x="960120" y="3611880"/>
            <a:ext cx="4572000" cy="96012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model's choices to only the k most likely next tokens, then sample among those.</a:t>
            </a:r>
            <a:endParaRPr dirty="0" sz="1600" lang="en-US"/>
          </a:p>
        </p:txBody>
      </p:sp>
      <p:sp>
        <p:nvSpPr>
          <p:cNvPr id="1048701" name="Shape 6"/>
          <p:cNvSpPr/>
          <p:nvPr/>
        </p:nvSpPr>
        <p:spPr>
          <a:xfrm>
            <a:off x="914400" y="470916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EAF0FF"/>
          </a:solidFill>
        </p:spPr>
      </p:sp>
      <p:sp>
        <p:nvSpPr>
          <p:cNvPr id="1048702" name="Text 7"/>
          <p:cNvSpPr/>
          <p:nvPr/>
        </p:nvSpPr>
        <p:spPr>
          <a:xfrm>
            <a:off x="1097280" y="4754880"/>
            <a:ext cx="4297680" cy="9601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top-k = 3 → the model can only pick from its 3 most probable next words, however low temperature is set.</a:t>
            </a:r>
            <a:endParaRPr dirty="0" sz="1400" lang="en-US"/>
          </a:p>
        </p:txBody>
      </p:sp>
      <p:sp>
        <p:nvSpPr>
          <p:cNvPr id="1048703" name="Shape 8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04" name="Shape 9"/>
          <p:cNvSpPr/>
          <p:nvPr/>
        </p:nvSpPr>
        <p:spPr>
          <a:xfrm>
            <a:off x="6629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0" name="Image 1" descr="icons/random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2377440"/>
            <a:ext cx="457200" cy="457200"/>
          </a:xfrm>
          <a:prstGeom prst="rect"/>
        </p:spPr>
      </p:pic>
      <p:sp>
        <p:nvSpPr>
          <p:cNvPr id="1048705" name="Text 10"/>
          <p:cNvSpPr/>
          <p:nvPr/>
        </p:nvSpPr>
        <p:spPr>
          <a:xfrm>
            <a:off x="6629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 Sampling</a:t>
            </a:r>
            <a:endParaRPr dirty="0" sz="2000" lang="en-US"/>
          </a:p>
        </p:txBody>
      </p:sp>
      <p:sp>
        <p:nvSpPr>
          <p:cNvPr id="1048706" name="Text 11"/>
          <p:cNvSpPr/>
          <p:nvPr/>
        </p:nvSpPr>
        <p:spPr>
          <a:xfrm>
            <a:off x="6675120" y="3611880"/>
            <a:ext cx="4572000" cy="96012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the smallest set of tokens whose cumulative probability exceeds p.</a:t>
            </a:r>
            <a:endParaRPr dirty="0" sz="1600" lang="en-US"/>
          </a:p>
        </p:txBody>
      </p:sp>
      <p:sp>
        <p:nvSpPr>
          <p:cNvPr id="1048707" name="Shape 12"/>
          <p:cNvSpPr/>
          <p:nvPr/>
        </p:nvSpPr>
        <p:spPr>
          <a:xfrm>
            <a:off x="6629400" y="470916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EAF0FF"/>
          </a:solidFill>
        </p:spPr>
      </p:sp>
      <p:sp>
        <p:nvSpPr>
          <p:cNvPr id="1048708" name="Text 13"/>
          <p:cNvSpPr/>
          <p:nvPr/>
        </p:nvSpPr>
        <p:spPr>
          <a:xfrm>
            <a:off x="6812280" y="4754880"/>
            <a:ext cx="4297680" cy="9601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top-p = 0.9 → keep adding the next most likely tokens until their combined probability passes 90%.</a:t>
            </a:r>
            <a:endParaRPr dirty="0" sz="1400" lang="en-US"/>
          </a:p>
        </p:txBody>
      </p:sp>
      <p:sp>
        <p:nvSpPr>
          <p:cNvPr id="1048709" name="Text 15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Prompt, Different Temperatures</a:t>
            </a:r>
            <a:endParaRPr dirty="0" sz="3600" lang="en-US"/>
          </a:p>
        </p:txBody>
      </p:sp>
      <p:sp>
        <p:nvSpPr>
          <p:cNvPr id="1048714" name="Shape 2"/>
          <p:cNvSpPr/>
          <p:nvPr/>
        </p:nvSpPr>
        <p:spPr>
          <a:xfrm>
            <a:off x="548640" y="1682495"/>
            <a:ext cx="11064240" cy="1133858"/>
          </a:xfrm>
          <a:prstGeom prst="roundRect">
            <a:avLst>
              <a:gd name="adj" fmla="val 11111"/>
            </a:avLst>
          </a:prstGeom>
          <a:solidFill>
            <a:srgbClr val="24365F"/>
          </a:solidFill>
        </p:spPr>
      </p:sp>
      <p:sp>
        <p:nvSpPr>
          <p:cNvPr id="1048715" name="Shape 4"/>
          <p:cNvSpPr/>
          <p:nvPr/>
        </p:nvSpPr>
        <p:spPr>
          <a:xfrm>
            <a:off x="548640" y="297180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</p:spPr>
      </p:sp>
      <p:sp>
        <p:nvSpPr>
          <p:cNvPr id="1048716" name="Text 5"/>
          <p:cNvSpPr/>
          <p:nvPr/>
        </p:nvSpPr>
        <p:spPr>
          <a:xfrm>
            <a:off x="777240" y="301752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</a:t>
            </a:r>
            <a:endParaRPr dirty="0" lang="en-US"/>
          </a:p>
        </p:txBody>
      </p:sp>
      <p:sp>
        <p:nvSpPr>
          <p:cNvPr id="1048717" name="Shape 6"/>
          <p:cNvSpPr/>
          <p:nvPr/>
        </p:nvSpPr>
        <p:spPr>
          <a:xfrm>
            <a:off x="777240" y="3456432"/>
            <a:ext cx="128016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48718" name="Text 7"/>
          <p:cNvSpPr/>
          <p:nvPr/>
        </p:nvSpPr>
        <p:spPr>
          <a:xfrm>
            <a:off x="777240" y="3657600"/>
            <a:ext cx="2971800" cy="1280160"/>
          </a:xfrm>
          <a:prstGeom prst="rect"/>
          <a:noFill/>
        </p:spPr>
        <p:txBody>
          <a:bodyPr anchor="ctr" rtlCol="0" wrap="square"/>
          <a:p>
            <a:pPr>
              <a:lnSpc>
                <a:spcPct val="120000"/>
              </a:lnSpc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gray clouds blanketed the sky, sending down a steady, rhythmic patter of raindrops that washed the world in quiet solitude and invited a cozy warmth indoors.</a:t>
            </a:r>
            <a:endParaRPr dirty="0" sz="1400" lang="en-US"/>
          </a:p>
        </p:txBody>
      </p:sp>
      <p:sp>
        <p:nvSpPr>
          <p:cNvPr id="1048719" name="Text 8"/>
          <p:cNvSpPr/>
          <p:nvPr/>
        </p:nvSpPr>
        <p:spPr>
          <a:xfrm>
            <a:off x="777240" y="502920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safe phrasing every time</a:t>
            </a:r>
            <a:endParaRPr dirty="0" sz="1200" lang="en-US"/>
          </a:p>
        </p:txBody>
      </p:sp>
      <p:sp>
        <p:nvSpPr>
          <p:cNvPr id="1048720" name="Shape 9"/>
          <p:cNvSpPr/>
          <p:nvPr/>
        </p:nvSpPr>
        <p:spPr>
          <a:xfrm>
            <a:off x="4251960" y="297180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</p:spPr>
      </p:sp>
      <p:sp>
        <p:nvSpPr>
          <p:cNvPr id="1048721" name="Text 10"/>
          <p:cNvSpPr/>
          <p:nvPr/>
        </p:nvSpPr>
        <p:spPr>
          <a:xfrm>
            <a:off x="4480560" y="301752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0.7</a:t>
            </a:r>
            <a:endParaRPr dirty="0" lang="en-US"/>
          </a:p>
        </p:txBody>
      </p:sp>
      <p:sp>
        <p:nvSpPr>
          <p:cNvPr id="1048722" name="Shape 11"/>
          <p:cNvSpPr/>
          <p:nvPr/>
        </p:nvSpPr>
        <p:spPr>
          <a:xfrm>
            <a:off x="4480560" y="3456432"/>
            <a:ext cx="128016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48723" name="Text 12"/>
          <p:cNvSpPr/>
          <p:nvPr/>
        </p:nvSpPr>
        <p:spPr>
          <a:xfrm>
            <a:off x="4480560" y="3657600"/>
            <a:ext cx="2971800" cy="1280160"/>
          </a:xfrm>
          <a:prstGeom prst="rect"/>
          <a:noFill/>
        </p:spPr>
        <p:txBody>
          <a:bodyPr anchor="ctr" rtlCol="0" wrap="square"/>
          <a:p>
            <a:pPr>
              <a:lnSpc>
                <a:spcPct val="120000"/>
              </a:lnSpc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of rain tapped a gentle, steady rhythm against the windows, casting a calm gray hue over the world and wrapping everything in a quiet, cozy stillness.</a:t>
            </a:r>
            <a:endParaRPr dirty="0" sz="1400" lang="en-US"/>
          </a:p>
        </p:txBody>
      </p:sp>
      <p:sp>
        <p:nvSpPr>
          <p:cNvPr id="1048724" name="Text 13"/>
          <p:cNvSpPr/>
          <p:nvPr/>
        </p:nvSpPr>
        <p:spPr>
          <a:xfrm>
            <a:off x="4480560" y="502920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but coherent</a:t>
            </a:r>
            <a:endParaRPr dirty="0" sz="1200" lang="en-US"/>
          </a:p>
        </p:txBody>
      </p:sp>
      <p:sp>
        <p:nvSpPr>
          <p:cNvPr id="1048725" name="Shape 14"/>
          <p:cNvSpPr/>
          <p:nvPr/>
        </p:nvSpPr>
        <p:spPr>
          <a:xfrm>
            <a:off x="7955280" y="297180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</p:spPr>
      </p:sp>
      <p:sp>
        <p:nvSpPr>
          <p:cNvPr id="1048726" name="Text 15"/>
          <p:cNvSpPr/>
          <p:nvPr/>
        </p:nvSpPr>
        <p:spPr>
          <a:xfrm>
            <a:off x="8183880" y="301752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1.2</a:t>
            </a:r>
            <a:endParaRPr dirty="0" lang="en-US"/>
          </a:p>
        </p:txBody>
      </p:sp>
      <p:sp>
        <p:nvSpPr>
          <p:cNvPr id="1048727" name="Shape 16"/>
          <p:cNvSpPr/>
          <p:nvPr/>
        </p:nvSpPr>
        <p:spPr>
          <a:xfrm>
            <a:off x="8183880" y="3456432"/>
            <a:ext cx="128016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48728" name="Text 17"/>
          <p:cNvSpPr/>
          <p:nvPr/>
        </p:nvSpPr>
        <p:spPr>
          <a:xfrm>
            <a:off x="8183880" y="3657600"/>
            <a:ext cx="2971800" cy="1280160"/>
          </a:xfrm>
          <a:prstGeom prst="rect"/>
          <a:noFill/>
        </p:spPr>
        <p:txBody>
          <a:bodyPr anchor="ctr" rtlCol="0" wrap="square"/>
          <a:p>
            <a:pPr>
              <a:lnSpc>
                <a:spcPct val="120000"/>
              </a:lnSpc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cadence of raindrops drummed against the windowpane as gray mist wrapped the world in a quiet, moody blanket, painting the damp streets in shimmering neon reflections.</a:t>
            </a:r>
            <a:endParaRPr dirty="0" sz="1400" lang="en-US"/>
          </a:p>
        </p:txBody>
      </p:sp>
      <p:sp>
        <p:nvSpPr>
          <p:cNvPr id="1048729" name="Text 18"/>
          <p:cNvSpPr/>
          <p:nvPr/>
        </p:nvSpPr>
        <p:spPr>
          <a:xfrm>
            <a:off x="8183880" y="5029200"/>
            <a:ext cx="2971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Unusual, sometimes incoherent</a:t>
            </a:r>
            <a:endParaRPr dirty="0" sz="1200" lang="en-US"/>
          </a:p>
        </p:txBody>
      </p:sp>
      <p:sp>
        <p:nvSpPr>
          <p:cNvPr id="1048730" name="Text 21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1100" lang="en-US"/>
          </a:p>
        </p:txBody>
      </p:sp>
      <p:sp>
        <p:nvSpPr>
          <p:cNvPr id="1048731" name="Shape 2"/>
          <p:cNvSpPr/>
          <p:nvPr/>
        </p:nvSpPr>
        <p:spPr>
          <a:xfrm>
            <a:off x="548640" y="5897880"/>
            <a:ext cx="9251188" cy="777240"/>
          </a:xfrm>
          <a:prstGeom prst="roundRect">
            <a:avLst>
              <a:gd name="adj" fmla="val 11111"/>
            </a:avLst>
          </a:prstGeom>
          <a:solidFill>
            <a:srgbClr val="24365F"/>
          </a:solidFill>
        </p:spPr>
      </p:sp>
      <p:sp>
        <p:nvSpPr>
          <p:cNvPr id="1048732" name="Text 3"/>
          <p:cNvSpPr/>
          <p:nvPr/>
        </p:nvSpPr>
        <p:spPr>
          <a:xfrm>
            <a:off x="896620" y="1792224"/>
            <a:ext cx="10515600" cy="9601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i="1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"Describe a rainy day in one sentence</a:t>
            </a:r>
            <a:r>
              <a:rPr b="1" dirty="0" sz="200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.“</a:t>
            </a:r>
          </a:p>
          <a:p>
            <a:r>
              <a:rPr b="1" dirty="0" sz="200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</a:rPr>
              <a:t>Reply</a:t>
            </a:r>
            <a:r>
              <a:rPr b="1" dirty="0" sz="2000" i="1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</a:rPr>
              <a:t>: “Soft gray clouds blanketed the sky, sending down a rhythmic patter of raindrops that glistened against wet leaves and invited a quiet, comforting warmth indoors.”.</a:t>
            </a:r>
            <a:endParaRPr dirty="0" sz="2000" lang="en-US"/>
          </a:p>
        </p:txBody>
      </p:sp>
      <p:sp>
        <p:nvSpPr>
          <p:cNvPr id="1048733" name="TextBox 27"/>
          <p:cNvSpPr txBox="1"/>
          <p:nvPr/>
        </p:nvSpPr>
        <p:spPr>
          <a:xfrm>
            <a:off x="777240" y="6038334"/>
            <a:ext cx="844296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 Prompt yourself: “</a:t>
            </a:r>
            <a:r>
              <a:rPr b="1" dirty="0" i="1" lang="en-US" err="1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Apne</a:t>
            </a:r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college </a:t>
            </a:r>
            <a:r>
              <a:rPr b="1" dirty="0" i="1" lang="en-US" err="1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</a:t>
            </a:r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b="1" dirty="0" i="1" lang="en-US" err="1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</a:t>
            </a:r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sentence </a:t>
            </a:r>
            <a:r>
              <a:rPr b="1" dirty="0" i="1" lang="en-US" err="1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</a:t>
            </a:r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describe </a:t>
            </a:r>
            <a:r>
              <a:rPr b="1" dirty="0" i="1" lang="en-US" err="1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karo</a:t>
            </a:r>
            <a:r>
              <a:rPr b="1" dirty="0" i="1" lang="en-US" smtClean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b="1" dirty="0" i="1" lang="en-US">
              <a:solidFill>
                <a:srgbClr val="F2A65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the Primary Interface</a:t>
            </a:r>
            <a:endParaRPr dirty="0" sz="4000" lang="en-US"/>
          </a:p>
        </p:txBody>
      </p:sp>
      <p:sp>
        <p:nvSpPr>
          <p:cNvPr id="1048738" name="Shape 2"/>
          <p:cNvSpPr/>
          <p:nvPr/>
        </p:nvSpPr>
        <p:spPr>
          <a:xfrm>
            <a:off x="822960" y="1737360"/>
            <a:ext cx="1280160" cy="1280160"/>
          </a:xfrm>
          <a:prstGeom prst="ellipse"/>
          <a:solidFill>
            <a:srgbClr val="1B2A4A"/>
          </a:solidFill>
        </p:spPr>
      </p:sp>
      <p:pic>
        <p:nvPicPr>
          <p:cNvPr id="2097161" name="Image 0" descr="icons/keyboard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057400"/>
            <a:ext cx="640080" cy="640080"/>
          </a:xfrm>
          <a:prstGeom prst="rect"/>
        </p:spPr>
      </p:pic>
      <p:sp>
        <p:nvSpPr>
          <p:cNvPr id="1048739" name="Text 3"/>
          <p:cNvSpPr/>
          <p:nvPr/>
        </p:nvSpPr>
        <p:spPr>
          <a:xfrm>
            <a:off x="2468880" y="1783080"/>
            <a:ext cx="8961120" cy="11430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fine-tuning, the prompt is the main lever you have to control model behavior. This is why prompt quality matters so much in practice.</a:t>
            </a:r>
            <a:endParaRPr dirty="0" lang="en-US"/>
          </a:p>
        </p:txBody>
      </p:sp>
      <p:sp>
        <p:nvSpPr>
          <p:cNvPr id="1048740" name="Shape 4"/>
          <p:cNvSpPr/>
          <p:nvPr/>
        </p:nvSpPr>
        <p:spPr>
          <a:xfrm>
            <a:off x="548640" y="3246120"/>
            <a:ext cx="11064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41" name="Text 5"/>
          <p:cNvSpPr/>
          <p:nvPr/>
        </p:nvSpPr>
        <p:spPr>
          <a:xfrm>
            <a:off x="822960" y="3429000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5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EXAMPLE — SAME TASK</a:t>
            </a:r>
            <a:endParaRPr dirty="0" sz="1400" lang="en-US"/>
          </a:p>
        </p:txBody>
      </p:sp>
      <p:sp>
        <p:nvSpPr>
          <p:cNvPr id="1048742" name="Shape 6"/>
          <p:cNvSpPr/>
          <p:nvPr/>
        </p:nvSpPr>
        <p:spPr>
          <a:xfrm>
            <a:off x="822960" y="37947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5F1EC"/>
          </a:solidFill>
        </p:spPr>
      </p:sp>
      <p:sp>
        <p:nvSpPr>
          <p:cNvPr id="1048743" name="Text 7"/>
          <p:cNvSpPr/>
          <p:nvPr/>
        </p:nvSpPr>
        <p:spPr>
          <a:xfrm>
            <a:off x="1051560" y="3931920"/>
            <a:ext cx="46634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B08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dirty="0" sz="1400" lang="en-US"/>
          </a:p>
        </p:txBody>
      </p:sp>
      <p:sp>
        <p:nvSpPr>
          <p:cNvPr id="1048744" name="Text 8"/>
          <p:cNvSpPr/>
          <p:nvPr/>
        </p:nvSpPr>
        <p:spPr>
          <a:xfrm>
            <a:off x="1051560" y="4224528"/>
            <a:ext cx="46634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about climate change."</a:t>
            </a:r>
            <a:endParaRPr dirty="0" sz="1600" lang="en-US"/>
          </a:p>
        </p:txBody>
      </p:sp>
      <p:sp>
        <p:nvSpPr>
          <p:cNvPr id="1048745" name="Text 9"/>
          <p:cNvSpPr/>
          <p:nvPr/>
        </p:nvSpPr>
        <p:spPr>
          <a:xfrm>
            <a:off x="1051560" y="4754880"/>
            <a:ext cx="466344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generic, unfocused, unclear length or audience — could go anywhere.</a:t>
            </a:r>
            <a:endParaRPr dirty="0" sz="1400" lang="en-US"/>
          </a:p>
        </p:txBody>
      </p:sp>
      <p:sp>
        <p:nvSpPr>
          <p:cNvPr id="1048746" name="Shape 10"/>
          <p:cNvSpPr/>
          <p:nvPr/>
        </p:nvSpPr>
        <p:spPr>
          <a:xfrm>
            <a:off x="6263640" y="37947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EAF0FF"/>
          </a:solidFill>
        </p:spPr>
      </p:sp>
      <p:sp>
        <p:nvSpPr>
          <p:cNvPr id="1048747" name="Text 11"/>
          <p:cNvSpPr/>
          <p:nvPr/>
        </p:nvSpPr>
        <p:spPr>
          <a:xfrm>
            <a:off x="6492240" y="3931920"/>
            <a:ext cx="46634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WELL-SPECIFIED PROMPT</a:t>
            </a:r>
            <a:endParaRPr dirty="0" sz="1400" lang="en-US"/>
          </a:p>
        </p:txBody>
      </p:sp>
      <p:sp>
        <p:nvSpPr>
          <p:cNvPr id="1048748" name="Text 12"/>
          <p:cNvSpPr/>
          <p:nvPr/>
        </p:nvSpPr>
        <p:spPr>
          <a:xfrm>
            <a:off x="6492240" y="4224528"/>
            <a:ext cx="46634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100 words, explain climate change to a 12-year-old, using one everyday analogy."</a:t>
            </a:r>
            <a:endParaRPr dirty="0" sz="1600" lang="en-US"/>
          </a:p>
        </p:txBody>
      </p:sp>
      <p:sp>
        <p:nvSpPr>
          <p:cNvPr id="1048749" name="Text 13"/>
          <p:cNvSpPr/>
          <p:nvPr/>
        </p:nvSpPr>
        <p:spPr>
          <a:xfrm>
            <a:off x="6492240" y="5074920"/>
            <a:ext cx="466344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scoped length, clear audience, concrete stylistic constraint — output is predictable and useful.</a:t>
            </a:r>
            <a:endParaRPr dirty="0" sz="1400" lang="en-US"/>
          </a:p>
        </p:txBody>
      </p:sp>
      <p:sp>
        <p:nvSpPr>
          <p:cNvPr id="1048750" name="Text 15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Made the Better Prompt Better?</a:t>
            </a:r>
            <a:endParaRPr dirty="0" sz="3600" lang="en-US"/>
          </a:p>
        </p:txBody>
      </p:sp>
      <p:sp>
        <p:nvSpPr>
          <p:cNvPr id="1048755" name="Shape 2"/>
          <p:cNvSpPr/>
          <p:nvPr/>
        </p:nvSpPr>
        <p:spPr>
          <a:xfrm>
            <a:off x="548640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4365F"/>
          </a:solidFill>
        </p:spPr>
      </p:sp>
      <p:sp>
        <p:nvSpPr>
          <p:cNvPr id="1048756" name="Text 3"/>
          <p:cNvSpPr/>
          <p:nvPr/>
        </p:nvSpPr>
        <p:spPr>
          <a:xfrm>
            <a:off x="777240" y="2148840"/>
            <a:ext cx="219456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3200" lang="en-US"/>
          </a:p>
        </p:txBody>
      </p:sp>
      <p:sp>
        <p:nvSpPr>
          <p:cNvPr id="1048757" name="Text 4"/>
          <p:cNvSpPr/>
          <p:nvPr/>
        </p:nvSpPr>
        <p:spPr>
          <a:xfrm>
            <a:off x="777240" y="274320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dirty="0" sz="2000" lang="en-US"/>
          </a:p>
        </p:txBody>
      </p:sp>
      <p:sp>
        <p:nvSpPr>
          <p:cNvPr id="1048758" name="Text 5"/>
          <p:cNvSpPr/>
          <p:nvPr/>
        </p:nvSpPr>
        <p:spPr>
          <a:xfrm>
            <a:off x="777240" y="3200400"/>
            <a:ext cx="2194560" cy="21031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unambiguous task — no room to guess what you meant.</a:t>
            </a:r>
            <a:endParaRPr dirty="0" sz="1400" lang="en-US"/>
          </a:p>
        </p:txBody>
      </p:sp>
      <p:sp>
        <p:nvSpPr>
          <p:cNvPr id="1048759" name="Shape 6"/>
          <p:cNvSpPr/>
          <p:nvPr/>
        </p:nvSpPr>
        <p:spPr>
          <a:xfrm>
            <a:off x="3364992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4365F"/>
          </a:solidFill>
        </p:spPr>
      </p:sp>
      <p:sp>
        <p:nvSpPr>
          <p:cNvPr id="1048760" name="Text 7"/>
          <p:cNvSpPr/>
          <p:nvPr/>
        </p:nvSpPr>
        <p:spPr>
          <a:xfrm>
            <a:off x="3593592" y="2148840"/>
            <a:ext cx="219456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3200" lang="en-US"/>
          </a:p>
        </p:txBody>
      </p:sp>
      <p:sp>
        <p:nvSpPr>
          <p:cNvPr id="1048761" name="Text 8"/>
          <p:cNvSpPr/>
          <p:nvPr/>
        </p:nvSpPr>
        <p:spPr>
          <a:xfrm>
            <a:off x="3593592" y="274320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dirty="0" sz="2000" lang="en-US"/>
          </a:p>
        </p:txBody>
      </p:sp>
      <p:sp>
        <p:nvSpPr>
          <p:cNvPr id="1048762" name="Text 9"/>
          <p:cNvSpPr/>
          <p:nvPr/>
        </p:nvSpPr>
        <p:spPr>
          <a:xfrm>
            <a:off x="3593592" y="3200400"/>
            <a:ext cx="2194560" cy="21031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background for the model to calibrate its answer (audience, purpose).</a:t>
            </a:r>
            <a:endParaRPr dirty="0" sz="1400" lang="en-US"/>
          </a:p>
        </p:txBody>
      </p:sp>
      <p:sp>
        <p:nvSpPr>
          <p:cNvPr id="1048763" name="Shape 10"/>
          <p:cNvSpPr/>
          <p:nvPr/>
        </p:nvSpPr>
        <p:spPr>
          <a:xfrm>
            <a:off x="6181344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4365F"/>
          </a:solidFill>
        </p:spPr>
      </p:sp>
      <p:sp>
        <p:nvSpPr>
          <p:cNvPr id="1048764" name="Text 11"/>
          <p:cNvSpPr/>
          <p:nvPr/>
        </p:nvSpPr>
        <p:spPr>
          <a:xfrm>
            <a:off x="6409944" y="2148840"/>
            <a:ext cx="219456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3200" lang="en-US"/>
          </a:p>
        </p:txBody>
      </p:sp>
      <p:sp>
        <p:nvSpPr>
          <p:cNvPr id="1048765" name="Text 12"/>
          <p:cNvSpPr/>
          <p:nvPr/>
        </p:nvSpPr>
        <p:spPr>
          <a:xfrm>
            <a:off x="6409944" y="274320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dirty="0" sz="2000" lang="en-US"/>
          </a:p>
        </p:txBody>
      </p:sp>
      <p:sp>
        <p:nvSpPr>
          <p:cNvPr id="1048766" name="Text 13"/>
          <p:cNvSpPr/>
          <p:nvPr/>
        </p:nvSpPr>
        <p:spPr>
          <a:xfrm>
            <a:off x="6409944" y="3200400"/>
            <a:ext cx="2194560" cy="21031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shape — length, structure, style.</a:t>
            </a:r>
            <a:endParaRPr dirty="0" sz="1400" lang="en-US"/>
          </a:p>
        </p:txBody>
      </p:sp>
      <p:sp>
        <p:nvSpPr>
          <p:cNvPr id="1048767" name="Shape 14"/>
          <p:cNvSpPr/>
          <p:nvPr/>
        </p:nvSpPr>
        <p:spPr>
          <a:xfrm>
            <a:off x="8997696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24365F"/>
          </a:solidFill>
        </p:spPr>
      </p:sp>
      <p:sp>
        <p:nvSpPr>
          <p:cNvPr id="1048768" name="Text 15"/>
          <p:cNvSpPr/>
          <p:nvPr/>
        </p:nvSpPr>
        <p:spPr>
          <a:xfrm>
            <a:off x="9226296" y="2148840"/>
            <a:ext cx="219456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3200" lang="en-US"/>
          </a:p>
        </p:txBody>
      </p:sp>
      <p:sp>
        <p:nvSpPr>
          <p:cNvPr id="1048769" name="Text 16"/>
          <p:cNvSpPr/>
          <p:nvPr/>
        </p:nvSpPr>
        <p:spPr>
          <a:xfrm>
            <a:off x="9226296" y="2743200"/>
            <a:ext cx="21945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dirty="0" sz="2000" lang="en-US"/>
          </a:p>
        </p:txBody>
      </p:sp>
      <p:sp>
        <p:nvSpPr>
          <p:cNvPr id="1048770" name="Text 17"/>
          <p:cNvSpPr/>
          <p:nvPr/>
        </p:nvSpPr>
        <p:spPr>
          <a:xfrm>
            <a:off x="9226296" y="3200400"/>
            <a:ext cx="2194560" cy="21031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boundaries — what to include, exclude, or emphasize.</a:t>
            </a:r>
            <a:endParaRPr dirty="0" sz="1400" lang="en-US"/>
          </a:p>
        </p:txBody>
      </p:sp>
      <p:sp>
        <p:nvSpPr>
          <p:cNvPr id="1048771" name="Text 18"/>
          <p:cNvSpPr/>
          <p:nvPr/>
        </p:nvSpPr>
        <p:spPr>
          <a:xfrm>
            <a:off x="548640" y="5806440"/>
            <a:ext cx="11064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i="1" lang="en-US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lead-in only — the full principles of prompt engineering are covered in a later module.</a:t>
            </a:r>
            <a:endParaRPr dirty="0" sz="1400" lang="en-US"/>
          </a:p>
        </p:txBody>
      </p:sp>
      <p:sp>
        <p:nvSpPr>
          <p:cNvPr id="1048772" name="Text 2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in Prompt Engineering</a:t>
            </a:r>
            <a:endParaRPr dirty="0" sz="4000" lang="en-US"/>
          </a:p>
        </p:txBody>
      </p:sp>
      <p:sp>
        <p:nvSpPr>
          <p:cNvPr id="1048777" name="Shape 2"/>
          <p:cNvSpPr/>
          <p:nvPr/>
        </p:nvSpPr>
        <p:spPr>
          <a:xfrm>
            <a:off x="548640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78" name="Shape 3"/>
          <p:cNvSpPr/>
          <p:nvPr/>
        </p:nvSpPr>
        <p:spPr>
          <a:xfrm>
            <a:off x="1440180" y="2171700"/>
            <a:ext cx="868680" cy="868680"/>
          </a:xfrm>
          <a:prstGeom prst="ellipse"/>
          <a:solidFill>
            <a:srgbClr val="1B2A4A"/>
          </a:solidFill>
        </p:spPr>
      </p:sp>
      <p:pic>
        <p:nvPicPr>
          <p:cNvPr id="2097162" name="Image 0" descr="icons/shieldal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57350" y="2388870"/>
            <a:ext cx="434340" cy="434340"/>
          </a:xfrm>
          <a:prstGeom prst="rect"/>
        </p:spPr>
      </p:pic>
      <p:sp>
        <p:nvSpPr>
          <p:cNvPr id="1048779" name="Text 4"/>
          <p:cNvSpPr/>
          <p:nvPr/>
        </p:nvSpPr>
        <p:spPr>
          <a:xfrm>
            <a:off x="777240" y="3200400"/>
            <a:ext cx="21945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dirty="0" lang="en-US"/>
          </a:p>
        </p:txBody>
      </p:sp>
      <p:sp>
        <p:nvSpPr>
          <p:cNvPr id="1048780" name="Text 5"/>
          <p:cNvSpPr/>
          <p:nvPr/>
        </p:nvSpPr>
        <p:spPr>
          <a:xfrm>
            <a:off x="777240" y="3611880"/>
            <a:ext cx="2194560" cy="1737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can reflect and amplify biases present in training data.</a:t>
            </a:r>
            <a:endParaRPr dirty="0" sz="1400" lang="en-US"/>
          </a:p>
        </p:txBody>
      </p:sp>
      <p:sp>
        <p:nvSpPr>
          <p:cNvPr id="1048781" name="Shape 6"/>
          <p:cNvSpPr/>
          <p:nvPr/>
        </p:nvSpPr>
        <p:spPr>
          <a:xfrm>
            <a:off x="3364992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82" name="Shape 7"/>
          <p:cNvSpPr/>
          <p:nvPr/>
        </p:nvSpPr>
        <p:spPr>
          <a:xfrm>
            <a:off x="4256532" y="2171700"/>
            <a:ext cx="868680" cy="868680"/>
          </a:xfrm>
          <a:prstGeom prst="ellipse"/>
          <a:solidFill>
            <a:srgbClr val="1B2A4A"/>
          </a:solidFill>
        </p:spPr>
      </p:sp>
      <p:pic>
        <p:nvPicPr>
          <p:cNvPr id="2097163" name="Image 1" descr="icons/exclamationtriangle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473702" y="2388870"/>
            <a:ext cx="434340" cy="434340"/>
          </a:xfrm>
          <a:prstGeom prst="rect"/>
        </p:spPr>
      </p:pic>
      <p:sp>
        <p:nvSpPr>
          <p:cNvPr id="1048783" name="Text 8"/>
          <p:cNvSpPr/>
          <p:nvPr/>
        </p:nvSpPr>
        <p:spPr>
          <a:xfrm>
            <a:off x="3593592" y="3200400"/>
            <a:ext cx="21945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dirty="0" lang="en-US"/>
          </a:p>
        </p:txBody>
      </p:sp>
      <p:sp>
        <p:nvSpPr>
          <p:cNvPr id="1048784" name="Text 9"/>
          <p:cNvSpPr/>
          <p:nvPr/>
        </p:nvSpPr>
        <p:spPr>
          <a:xfrm>
            <a:off x="3593592" y="3611880"/>
            <a:ext cx="2194560" cy="1737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Fluent, confident-sounding text that is factually wrong.</a:t>
            </a:r>
            <a:endParaRPr dirty="0" sz="1400" lang="en-US"/>
          </a:p>
        </p:txBody>
      </p:sp>
      <p:sp>
        <p:nvSpPr>
          <p:cNvPr id="1048785" name="Shape 10"/>
          <p:cNvSpPr/>
          <p:nvPr/>
        </p:nvSpPr>
        <p:spPr>
          <a:xfrm>
            <a:off x="6181344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86" name="Shape 11"/>
          <p:cNvSpPr/>
          <p:nvPr/>
        </p:nvSpPr>
        <p:spPr>
          <a:xfrm>
            <a:off x="7072884" y="2171700"/>
            <a:ext cx="868680" cy="868680"/>
          </a:xfrm>
          <a:prstGeom prst="ellipse"/>
          <a:solidFill>
            <a:srgbClr val="1B2A4A"/>
          </a:solidFill>
        </p:spPr>
      </p:sp>
      <p:pic>
        <p:nvPicPr>
          <p:cNvPr id="2097164" name="Image 2" descr="icons/balancescale_FFFFFF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290054" y="2388870"/>
            <a:ext cx="434340" cy="434340"/>
          </a:xfrm>
          <a:prstGeom prst="rect"/>
        </p:spPr>
      </p:pic>
      <p:sp>
        <p:nvSpPr>
          <p:cNvPr id="1048787" name="Text 12"/>
          <p:cNvSpPr/>
          <p:nvPr/>
        </p:nvSpPr>
        <p:spPr>
          <a:xfrm>
            <a:off x="6409944" y="3200400"/>
            <a:ext cx="21945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</a:t>
            </a:r>
            <a:endParaRPr dirty="0" lang="en-US"/>
          </a:p>
        </p:txBody>
      </p:sp>
      <p:sp>
        <p:nvSpPr>
          <p:cNvPr id="1048788" name="Text 13"/>
          <p:cNvSpPr/>
          <p:nvPr/>
        </p:nvSpPr>
        <p:spPr>
          <a:xfrm>
            <a:off x="6409944" y="3611880"/>
            <a:ext cx="2194560" cy="1737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steering power can generate misinformation or attempt to jailbreak safety behavior.</a:t>
            </a:r>
            <a:endParaRPr dirty="0" sz="1400" lang="en-US"/>
          </a:p>
        </p:txBody>
      </p:sp>
      <p:sp>
        <p:nvSpPr>
          <p:cNvPr id="1048789" name="Shape 14"/>
          <p:cNvSpPr/>
          <p:nvPr/>
        </p:nvSpPr>
        <p:spPr>
          <a:xfrm>
            <a:off x="8997696" y="19202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90" name="Shape 15"/>
          <p:cNvSpPr/>
          <p:nvPr/>
        </p:nvSpPr>
        <p:spPr>
          <a:xfrm>
            <a:off x="9889236" y="2171700"/>
            <a:ext cx="868680" cy="868680"/>
          </a:xfrm>
          <a:prstGeom prst="ellipse"/>
          <a:solidFill>
            <a:srgbClr val="1B2A4A"/>
          </a:solidFill>
        </p:spPr>
      </p:sp>
      <p:pic>
        <p:nvPicPr>
          <p:cNvPr id="2097165" name="Image 3" descr="icons/checkcircle_FFFFFF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0106406" y="2388870"/>
            <a:ext cx="434340" cy="434340"/>
          </a:xfrm>
          <a:prstGeom prst="rect"/>
        </p:spPr>
      </p:pic>
      <p:sp>
        <p:nvSpPr>
          <p:cNvPr id="1048791" name="Text 16"/>
          <p:cNvSpPr/>
          <p:nvPr/>
        </p:nvSpPr>
        <p:spPr>
          <a:xfrm>
            <a:off x="9226296" y="3200400"/>
            <a:ext cx="21945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dirty="0" lang="en-US"/>
          </a:p>
        </p:txBody>
      </p:sp>
      <p:sp>
        <p:nvSpPr>
          <p:cNvPr id="1048792" name="Text 17"/>
          <p:cNvSpPr/>
          <p:nvPr/>
        </p:nvSpPr>
        <p:spPr>
          <a:xfrm>
            <a:off x="9226296" y="3611880"/>
            <a:ext cx="2194560" cy="173736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tools transparently and appropriately in academic work.</a:t>
            </a:r>
            <a:endParaRPr dirty="0" sz="1400" lang="en-US"/>
          </a:p>
        </p:txBody>
      </p:sp>
      <p:sp>
        <p:nvSpPr>
          <p:cNvPr id="1048793" name="Text 19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Today</a:t>
            </a:r>
            <a:endParaRPr dirty="0" sz="4000" lang="en-US"/>
          </a:p>
        </p:txBody>
      </p:sp>
      <p:sp>
        <p:nvSpPr>
          <p:cNvPr id="1048798" name="Shape 2"/>
          <p:cNvSpPr/>
          <p:nvPr/>
        </p:nvSpPr>
        <p:spPr>
          <a:xfrm>
            <a:off x="54864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799" name="Text 3"/>
          <p:cNvSpPr/>
          <p:nvPr/>
        </p:nvSpPr>
        <p:spPr>
          <a:xfrm>
            <a:off x="77724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dirty="0" lang="en-US"/>
          </a:p>
        </p:txBody>
      </p:sp>
      <p:sp>
        <p:nvSpPr>
          <p:cNvPr id="1048800" name="Text 4"/>
          <p:cNvSpPr/>
          <p:nvPr/>
        </p:nvSpPr>
        <p:spPr>
          <a:xfrm>
            <a:off x="77724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subword pieces</a:t>
            </a:r>
            <a:endParaRPr dirty="0" sz="1200" lang="en-US"/>
          </a:p>
        </p:txBody>
      </p:sp>
      <p:sp>
        <p:nvSpPr>
          <p:cNvPr id="1048801" name="Shape 5"/>
          <p:cNvSpPr/>
          <p:nvPr/>
        </p:nvSpPr>
        <p:spPr>
          <a:xfrm>
            <a:off x="434340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02" name="Text 6"/>
          <p:cNvSpPr/>
          <p:nvPr/>
        </p:nvSpPr>
        <p:spPr>
          <a:xfrm>
            <a:off x="457200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dirty="0" lang="en-US"/>
          </a:p>
        </p:txBody>
      </p:sp>
      <p:sp>
        <p:nvSpPr>
          <p:cNvPr id="1048803" name="Text 7"/>
          <p:cNvSpPr/>
          <p:nvPr/>
        </p:nvSpPr>
        <p:spPr>
          <a:xfrm>
            <a:off x="457200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vector capturing token meaning</a:t>
            </a:r>
            <a:endParaRPr dirty="0" sz="1200" lang="en-US"/>
          </a:p>
        </p:txBody>
      </p:sp>
      <p:sp>
        <p:nvSpPr>
          <p:cNvPr id="1048804" name="Shape 8"/>
          <p:cNvSpPr/>
          <p:nvPr/>
        </p:nvSpPr>
        <p:spPr>
          <a:xfrm>
            <a:off x="813816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05" name="Text 9"/>
          <p:cNvSpPr/>
          <p:nvPr/>
        </p:nvSpPr>
        <p:spPr>
          <a:xfrm>
            <a:off x="836676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dirty="0" lang="en-US"/>
          </a:p>
        </p:txBody>
      </p:sp>
      <p:sp>
        <p:nvSpPr>
          <p:cNvPr id="1048806" name="Text 10"/>
          <p:cNvSpPr/>
          <p:nvPr/>
        </p:nvSpPr>
        <p:spPr>
          <a:xfrm>
            <a:off x="836676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weights on new data</a:t>
            </a:r>
            <a:endParaRPr dirty="0" sz="1200" lang="en-US"/>
          </a:p>
        </p:txBody>
      </p:sp>
      <p:sp>
        <p:nvSpPr>
          <p:cNvPr id="1048807" name="Shape 11"/>
          <p:cNvSpPr/>
          <p:nvPr/>
        </p:nvSpPr>
        <p:spPr>
          <a:xfrm>
            <a:off x="54864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08" name="Text 12"/>
          <p:cNvSpPr/>
          <p:nvPr/>
        </p:nvSpPr>
        <p:spPr>
          <a:xfrm>
            <a:off x="77724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lang="en-US"/>
          </a:p>
        </p:txBody>
      </p:sp>
      <p:sp>
        <p:nvSpPr>
          <p:cNvPr id="1048809" name="Text 13"/>
          <p:cNvSpPr/>
          <p:nvPr/>
        </p:nvSpPr>
        <p:spPr>
          <a:xfrm>
            <a:off x="77724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output via input only</a:t>
            </a:r>
            <a:endParaRPr dirty="0" sz="1200" lang="en-US"/>
          </a:p>
        </p:txBody>
      </p:sp>
      <p:sp>
        <p:nvSpPr>
          <p:cNvPr id="1048810" name="Shape 14"/>
          <p:cNvSpPr/>
          <p:nvPr/>
        </p:nvSpPr>
        <p:spPr>
          <a:xfrm>
            <a:off x="434340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11" name="Text 15"/>
          <p:cNvSpPr/>
          <p:nvPr/>
        </p:nvSpPr>
        <p:spPr>
          <a:xfrm>
            <a:off x="457200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dirty="0" lang="en-US"/>
          </a:p>
        </p:txBody>
      </p:sp>
      <p:sp>
        <p:nvSpPr>
          <p:cNvPr id="1048812" name="Text 16"/>
          <p:cNvSpPr/>
          <p:nvPr/>
        </p:nvSpPr>
        <p:spPr>
          <a:xfrm>
            <a:off x="457200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controlling output randomness</a:t>
            </a:r>
            <a:endParaRPr dirty="0" sz="1200" lang="en-US"/>
          </a:p>
        </p:txBody>
      </p:sp>
      <p:sp>
        <p:nvSpPr>
          <p:cNvPr id="1048813" name="Shape 17"/>
          <p:cNvSpPr/>
          <p:nvPr/>
        </p:nvSpPr>
        <p:spPr>
          <a:xfrm>
            <a:off x="813816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14" name="Text 18"/>
          <p:cNvSpPr/>
          <p:nvPr/>
        </p:nvSpPr>
        <p:spPr>
          <a:xfrm>
            <a:off x="836676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/ Top-p</a:t>
            </a:r>
            <a:endParaRPr dirty="0" lang="en-US"/>
          </a:p>
        </p:txBody>
      </p:sp>
      <p:sp>
        <p:nvSpPr>
          <p:cNvPr id="1048815" name="Text 19"/>
          <p:cNvSpPr/>
          <p:nvPr/>
        </p:nvSpPr>
        <p:spPr>
          <a:xfrm>
            <a:off x="836676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sampling pool of tokens</a:t>
            </a:r>
            <a:endParaRPr dirty="0" sz="1200" lang="en-US"/>
          </a:p>
        </p:txBody>
      </p:sp>
      <p:sp>
        <p:nvSpPr>
          <p:cNvPr id="1048816" name="Shape 20"/>
          <p:cNvSpPr/>
          <p:nvPr/>
        </p:nvSpPr>
        <p:spPr>
          <a:xfrm>
            <a:off x="54864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17" name="Text 21"/>
          <p:cNvSpPr/>
          <p:nvPr/>
        </p:nvSpPr>
        <p:spPr>
          <a:xfrm>
            <a:off x="77724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prompting</a:t>
            </a:r>
            <a:endParaRPr dirty="0" lang="en-US"/>
          </a:p>
        </p:txBody>
      </p:sp>
      <p:sp>
        <p:nvSpPr>
          <p:cNvPr id="1048818" name="Text 22"/>
          <p:cNvSpPr/>
          <p:nvPr/>
        </p:nvSpPr>
        <p:spPr>
          <a:xfrm>
            <a:off x="77724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+ context + format + constraints</a:t>
            </a:r>
            <a:endParaRPr dirty="0" sz="1200" lang="en-US"/>
          </a:p>
        </p:txBody>
      </p:sp>
      <p:sp>
        <p:nvSpPr>
          <p:cNvPr id="1048819" name="Shape 23"/>
          <p:cNvSpPr/>
          <p:nvPr/>
        </p:nvSpPr>
        <p:spPr>
          <a:xfrm>
            <a:off x="434340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20" name="Text 24"/>
          <p:cNvSpPr/>
          <p:nvPr/>
        </p:nvSpPr>
        <p:spPr>
          <a:xfrm>
            <a:off x="457200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dirty="0" lang="en-US"/>
          </a:p>
        </p:txBody>
      </p:sp>
      <p:sp>
        <p:nvSpPr>
          <p:cNvPr id="1048821" name="Text 25"/>
          <p:cNvSpPr/>
          <p:nvPr/>
        </p:nvSpPr>
        <p:spPr>
          <a:xfrm>
            <a:off x="457200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skew reflected in output</a:t>
            </a:r>
            <a:endParaRPr dirty="0" sz="1200" lang="en-US"/>
          </a:p>
        </p:txBody>
      </p:sp>
      <p:sp>
        <p:nvSpPr>
          <p:cNvPr id="1048822" name="Shape 26"/>
          <p:cNvSpPr/>
          <p:nvPr/>
        </p:nvSpPr>
        <p:spPr>
          <a:xfrm>
            <a:off x="813816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23" name="Text 27"/>
          <p:cNvSpPr/>
          <p:nvPr/>
        </p:nvSpPr>
        <p:spPr>
          <a:xfrm>
            <a:off x="836676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dirty="0" lang="en-US"/>
          </a:p>
        </p:txBody>
      </p:sp>
      <p:sp>
        <p:nvSpPr>
          <p:cNvPr id="1048824" name="Text 28"/>
          <p:cNvSpPr/>
          <p:nvPr/>
        </p:nvSpPr>
        <p:spPr>
          <a:xfrm>
            <a:off x="836676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but factually wrong output</a:t>
            </a:r>
            <a:endParaRPr dirty="0" sz="1200" lang="en-US"/>
          </a:p>
        </p:txBody>
      </p:sp>
      <p:sp>
        <p:nvSpPr>
          <p:cNvPr id="1048825" name="Text 3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Ahead: Experiments 2 &amp; 3</a:t>
            </a:r>
            <a:endParaRPr dirty="0" sz="4000" lang="en-US"/>
          </a:p>
        </p:txBody>
      </p:sp>
      <p:sp>
        <p:nvSpPr>
          <p:cNvPr id="1048830" name="Shape 2"/>
          <p:cNvSpPr/>
          <p:nvPr/>
        </p:nvSpPr>
        <p:spPr>
          <a:xfrm>
            <a:off x="548640" y="18745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831" name="Shape 3"/>
          <p:cNvSpPr/>
          <p:nvPr/>
        </p:nvSpPr>
        <p:spPr>
          <a:xfrm>
            <a:off x="914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6" name="Image 0" descr="icons/balancescal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377440"/>
            <a:ext cx="457200" cy="457200"/>
          </a:xfrm>
          <a:prstGeom prst="rect"/>
        </p:spPr>
      </p:pic>
      <p:sp>
        <p:nvSpPr>
          <p:cNvPr id="1048832" name="Text 4"/>
          <p:cNvSpPr/>
          <p:nvPr/>
        </p:nvSpPr>
        <p:spPr>
          <a:xfrm>
            <a:off x="2011680" y="2286000"/>
            <a:ext cx="37490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15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dirty="0" sz="1600" lang="en-US"/>
          </a:p>
        </p:txBody>
      </p:sp>
      <p:sp>
        <p:nvSpPr>
          <p:cNvPr id="1048833" name="Text 5"/>
          <p:cNvSpPr/>
          <p:nvPr/>
        </p:nvSpPr>
        <p:spPr>
          <a:xfrm>
            <a:off x="2011680" y="2578608"/>
            <a:ext cx="37490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Comparison</a:t>
            </a:r>
            <a:endParaRPr dirty="0" lang="en-US"/>
          </a:p>
        </p:txBody>
      </p:sp>
      <p:sp>
        <p:nvSpPr>
          <p:cNvPr id="1048834" name="Text 6"/>
          <p:cNvSpPr/>
          <p:nvPr/>
        </p:nvSpPr>
        <p:spPr>
          <a:xfrm>
            <a:off x="822960" y="3200400"/>
            <a:ext cx="4846320" cy="23774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3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same prompt into two different LLMs (e.g. GPT and Gemini) and write a short comparison note on which response was more accurate or relevant.</a:t>
            </a:r>
            <a:endParaRPr dirty="0" sz="1600" lang="en-US"/>
          </a:p>
        </p:txBody>
      </p:sp>
      <p:sp>
        <p:nvSpPr>
          <p:cNvPr id="1048835" name="Shape 7"/>
          <p:cNvSpPr/>
          <p:nvPr/>
        </p:nvSpPr>
        <p:spPr>
          <a:xfrm>
            <a:off x="6263640" y="18745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B2A4A"/>
          </a:solidFill>
        </p:spPr>
      </p:sp>
      <p:sp>
        <p:nvSpPr>
          <p:cNvPr id="1048836" name="Shape 8"/>
          <p:cNvSpPr/>
          <p:nvPr/>
        </p:nvSpPr>
        <p:spPr>
          <a:xfrm>
            <a:off x="6629400" y="2148840"/>
            <a:ext cx="914400" cy="914400"/>
          </a:xfrm>
          <a:prstGeom prst="ellipse"/>
          <a:solidFill>
            <a:srgbClr val="F2A65A"/>
          </a:solidFill>
        </p:spPr>
      </p:sp>
      <p:pic>
        <p:nvPicPr>
          <p:cNvPr id="2097167" name="Image 1" descr="icons/thermometerhalf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2377440"/>
            <a:ext cx="457200" cy="457200"/>
          </a:xfrm>
          <a:prstGeom prst="rect"/>
        </p:spPr>
      </p:pic>
      <p:sp>
        <p:nvSpPr>
          <p:cNvPr id="1048837" name="Text 9"/>
          <p:cNvSpPr/>
          <p:nvPr/>
        </p:nvSpPr>
        <p:spPr>
          <a:xfrm>
            <a:off x="7726680" y="2286000"/>
            <a:ext cx="37490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1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 ·  NEXT LAB SESSION</a:t>
            </a:r>
            <a:endParaRPr dirty="0" sz="1600" lang="en-US"/>
          </a:p>
        </p:txBody>
      </p:sp>
      <p:sp>
        <p:nvSpPr>
          <p:cNvPr id="1048838" name="Text 10"/>
          <p:cNvSpPr/>
          <p:nvPr/>
        </p:nvSpPr>
        <p:spPr>
          <a:xfrm>
            <a:off x="7726680" y="2578608"/>
            <a:ext cx="37490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Testing Script</a:t>
            </a:r>
            <a:endParaRPr dirty="0" lang="en-US"/>
          </a:p>
        </p:txBody>
      </p:sp>
      <p:sp>
        <p:nvSpPr>
          <p:cNvPr id="1048839" name="Text 11"/>
          <p:cNvSpPr/>
          <p:nvPr/>
        </p:nvSpPr>
        <p:spPr>
          <a:xfrm>
            <a:off x="6537960" y="3200400"/>
            <a:ext cx="4846320" cy="23774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30000"/>
              </a:lnSpc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ahead about a Python script using an LLM API to test outputs at temperature values 0.0, 0.7, and 1.2 — you'll build this in the next lab session.</a:t>
            </a:r>
            <a:endParaRPr dirty="0" sz="1600" lang="en-US"/>
          </a:p>
        </p:txBody>
      </p:sp>
      <p:sp>
        <p:nvSpPr>
          <p:cNvPr id="1048840" name="Text 13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dirty="0" sz="1100" lang="en-US"/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Shape 2"/>
          <p:cNvSpPr/>
          <p:nvPr/>
        </p:nvSpPr>
        <p:spPr>
          <a:xfrm>
            <a:off x="5495544" y="1508760"/>
            <a:ext cx="1188720" cy="1188720"/>
          </a:xfrm>
          <a:prstGeom prst="ellipse"/>
          <a:solidFill>
            <a:srgbClr val="F2A65A"/>
          </a:solidFill>
        </p:spPr>
      </p:sp>
      <p:pic>
        <p:nvPicPr>
          <p:cNvPr id="2097168" name="Image 0" descr="icons/questioncircl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763006" y="1776222"/>
            <a:ext cx="653796" cy="653796"/>
          </a:xfrm>
          <a:prstGeom prst="rect"/>
        </p:spPr>
      </p:pic>
      <p:sp>
        <p:nvSpPr>
          <p:cNvPr id="1048845" name="Text 3"/>
          <p:cNvSpPr/>
          <p:nvPr/>
        </p:nvSpPr>
        <p:spPr>
          <a:xfrm>
            <a:off x="914400" y="2743200"/>
            <a:ext cx="1033272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dirty="0" sz="2000" lang="en-US"/>
          </a:p>
        </p:txBody>
      </p:sp>
      <p:sp>
        <p:nvSpPr>
          <p:cNvPr id="1048846" name="Text 4"/>
          <p:cNvSpPr/>
          <p:nvPr/>
        </p:nvSpPr>
        <p:spPr>
          <a:xfrm>
            <a:off x="914400" y="3200400"/>
            <a:ext cx="1033272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2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"Name one thing that changes when you fine-tune a model vs. when you prompt it."</a:t>
            </a:r>
            <a:endParaRPr dirty="0" sz="3200" lang="en-US"/>
          </a:p>
        </p:txBody>
      </p:sp>
      <p:sp>
        <p:nvSpPr>
          <p:cNvPr id="1048847" name="Shape 5"/>
          <p:cNvSpPr/>
          <p:nvPr/>
        </p:nvSpPr>
        <p:spPr>
          <a:xfrm>
            <a:off x="5120640" y="4572000"/>
            <a:ext cx="192024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48848" name="Text 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dirty="0" sz="1200" lang="en-US"/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admin</cp:lastModifiedBy>
  <dcterms:created xsi:type="dcterms:W3CDTF">2026-08-04T11:07:34Z</dcterms:created>
  <dcterms:modified xsi:type="dcterms:W3CDTF">2026-08-12T04:41:03Z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97f732d47b6f44a3bb9f6eed0bd71ab2_23</vt:lpwstr>
  </property>
</Properties>
</file>