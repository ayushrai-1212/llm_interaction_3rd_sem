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0. Welcome. Exp 9 is done inside the class: V1, V2, V3.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4-8. Name the four uses, then the bar. Ask: name one way code can look right but be wrong (it forgets 0, 1 or negative numbers).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8-12. Show both prompts. LLMs can invent functions, use old APIs, or write code that looks right but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12-19. Run run_tests() on both functions on screen. In testing, the weak answer scored 7/10 and the better one 10/10.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19-28 (9 min). Students write the vague V1 prompt, run the code, test it (minimum 5 inputs by hand), record score and one line on clarity. Checkpoint at 28: who has a V1 score?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28-32. One example each. Minutes 36-41: come back to this slide and score the V1 output live (example: accuracy 7/10, relevance 3/5, coherence 2/5).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32-36. Four ways to evaluate. An LLM judge can be biased or wrong, so spot-check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41-48 (7 min). Students score their own V1, swap with a neighbour, and discuss any gap of more than 1 point. Skip the swap if late. Checkpoint at 48: who scored V1 with the rubric?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48-51: ask 2 students to name the five parts BEFORE you show the cards; then say V2 uses C, L and E. Minutes 51-57: type the V2 prompt live, run it, score it. Minutes 57-67: students do V2 (10 min). Checkpoint at 67: who has a V2 score, and did it go up?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67-69: recall the two letters. Minutes 69-73: type the V3 line live and show the list of problems the LLM reports. Minutes 73-83: students do V3 (10 min). If late, do V3 as a teacher demo and give it as homework. Checkpoint at 83: who has all three scores?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Minutes 83-88: students fill the comparison table and start the 3 to 5 line note. Minutes 88-90: say the homework and preview Module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611880"/>
            <a:ext cx="1463040" cy="36576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822960" y="1737360"/>
            <a:ext cx="10058400" cy="118872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66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6600" dirty="0"/>
          </a:p>
        </p:txBody>
      </p:sp>
      <p:sp>
        <p:nvSpPr>
          <p:cNvPr id="4" name="Text 1"/>
          <p:cNvSpPr/>
          <p:nvPr>
            <p:ph type="body" idx="102" hasCustomPrompt="1"/>
          </p:nvPr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800" i="1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Session 16 · Code Generation, Evaluation and Exp 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822960" y="173736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6600" dirty="0">
                <a:solidFill>
                  <a:schemeClr val="bg1"/>
                </a:solidFill>
              </a:rPr>
              <a:t>Prompt Evaluation</a:t>
            </a:r>
            <a:endParaRPr lang="en-US" sz="6600" dirty="0"/>
          </a:p>
        </p:txBody>
      </p:sp>
      <p:sp>
        <p:nvSpPr>
          <p:cNvPr id="3" name="Text 1"/>
          <p:cNvSpPr/>
          <p:nvPr>
            <p:ph type="body" idx="102" hasCustomPrompt="1"/>
          </p:nvPr>
        </p:nvSpPr>
        <p:spPr>
          <a:xfrm>
            <a:off x="822960" y="2926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800" i="1" dirty="0">
                <a:solidFill>
                  <a:schemeClr val="accent2"/>
                </a:solidFill>
              </a:rPr>
              <a:t>Code Generation, Metrics and Exp 9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What LLMs Can Do for Code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WRITE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Turn a plain-English task into a function or script.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6172200" y="15544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640080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EXPLAIN AND COMMENT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6400800" y="214884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code line by line in simple words.</a:t>
            </a:r>
            <a:endParaRPr lang="en-US" sz="1600" dirty="0"/>
          </a:p>
        </p:txBody>
      </p:sp>
      <p:sp>
        <p:nvSpPr>
          <p:cNvPr id="11" name="Card 3"/>
          <p:cNvSpPr/>
          <p:nvPr/>
        </p:nvSpPr>
        <p:spPr>
          <a:xfrm>
            <a:off x="548640" y="32004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Label"/>
          <p:cNvSpPr txBox="1"/>
          <p:nvPr/>
        </p:nvSpPr>
        <p:spPr>
          <a:xfrm>
            <a:off x="777240" y="342900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DEBUG AND CONVERT</a:t>
            </a:r>
            <a:endParaRPr lang="en-US" sz="1100" dirty="0"/>
          </a:p>
        </p:txBody>
      </p:sp>
      <p:sp>
        <p:nvSpPr>
          <p:cNvPr id="13" name="Card body 3"/>
          <p:cNvSpPr txBox="1"/>
          <p:nvPr/>
        </p:nvSpPr>
        <p:spPr>
          <a:xfrm>
            <a:off x="777240" y="379476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error, or move code to another language.</a:t>
            </a:r>
            <a:endParaRPr lang="en-US" sz="1600" dirty="0"/>
          </a:p>
        </p:txBody>
      </p:sp>
      <p:sp>
        <p:nvSpPr>
          <p:cNvPr id="14" name="Card 4"/>
          <p:cNvSpPr/>
          <p:nvPr/>
        </p:nvSpPr>
        <p:spPr>
          <a:xfrm>
            <a:off x="6172200" y="32004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Label"/>
          <p:cNvSpPr txBox="1"/>
          <p:nvPr/>
        </p:nvSpPr>
        <p:spPr>
          <a:xfrm>
            <a:off x="6400800" y="342900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WRITE TESTS</a:t>
            </a:r>
            <a:endParaRPr lang="en-US" sz="1100" dirty="0"/>
          </a:p>
        </p:txBody>
      </p:sp>
      <p:sp>
        <p:nvSpPr>
          <p:cNvPr id="16" name="Card body 4"/>
          <p:cNvSpPr txBox="1"/>
          <p:nvPr/>
        </p:nvSpPr>
        <p:spPr>
          <a:xfrm>
            <a:off x="6400800" y="3794760"/>
            <a:ext cx="498348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Generate test cases and edge cases.</a:t>
            </a:r>
            <a:endParaRPr lang="en-US" sz="1600" dirty="0"/>
          </a:p>
        </p:txBody>
      </p:sp>
      <p:sp>
        <p:nvSpPr>
          <p:cNvPr id="17" name="Bar"/>
          <p:cNvSpPr/>
          <p:nvPr/>
        </p:nvSpPr>
        <p:spPr>
          <a:xfrm>
            <a:off x="548640" y="502920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Bar text"/>
          <p:cNvSpPr txBox="1"/>
          <p:nvPr/>
        </p:nvSpPr>
        <p:spPr>
          <a:xfrm>
            <a:off x="777240" y="50292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Never trust code you have not run.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Weak vs. Strong Code Prompt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WEAK PROMPT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Write a Python program for prime numbers.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6172200" y="155448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640080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STRONG PROMPT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6400800" y="214884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Write a Python function is_prime(n) that returns True if n is prime, otherwise False. Use integers only. Handle 0, 1 and negative numbers. Add a short comment on each step.</a:t>
            </a:r>
            <a:endParaRPr lang="en-US" sz="1800" dirty="0"/>
          </a:p>
        </p:txBody>
      </p:sp>
      <p:sp>
        <p:nvSpPr>
          <p:cNvPr id="11" name="Bar"/>
          <p:cNvSpPr/>
          <p:nvPr/>
        </p:nvSpPr>
        <p:spPr>
          <a:xfrm>
            <a:off x="548640" y="411480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Bar text"/>
          <p:cNvSpPr txBox="1"/>
          <p:nvPr/>
        </p:nvSpPr>
        <p:spPr>
          <a:xfrm>
            <a:off x="777240" y="41148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Checklist: language · function name · input and output · edge cases · comments</a:t>
            </a:r>
            <a:endParaRPr lang="en-US" sz="1400" dirty="0"/>
          </a:p>
        </p:txBody>
      </p:sp>
      <p:sp>
        <p:nvSpPr>
          <p:cNvPr id="13" name="Risk line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LLMs can invent functions, use old APIs, or write code that looks right but is wrong.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Live: Same Tests, Two Answers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WEAK ANSWER · 7/10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Forgets 0, 1 and negative numbers. Fails 3 of the 10 tests.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6172200" y="155448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640080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BETTER ANSWER · 10/10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6400800" y="214884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Handles 0, 1 and negatives, and checks only up to the square root. Passes all 10 tests.</a:t>
            </a:r>
            <a:endParaRPr lang="en-US" sz="1800" dirty="0"/>
          </a:p>
        </p:txBody>
      </p:sp>
      <p:sp>
        <p:nvSpPr>
          <p:cNvPr id="11" name="Bar"/>
          <p:cNvSpPr/>
          <p:nvPr/>
        </p:nvSpPr>
        <p:spPr>
          <a:xfrm>
            <a:off x="548640" y="420624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Bar text"/>
          <p:cNvSpPr txBox="1"/>
          <p:nvPr/>
        </p:nvSpPr>
        <p:spPr>
          <a:xfrm>
            <a:off x="777240" y="42062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Run run_tests() on both, on screen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CYCLE 1 · APPLY</a:t>
            </a:r>
            <a:endParaRPr lang="en-US" sz="1100" dirty="0"/>
          </a:p>
        </p:txBody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Apply: Exp 9, Version 1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OBJECTIVE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Apply the CLEAR framework to iteratively refine a code-generation prompt across 3 versions, showing improvement in code correctness and clarity at each stage.</a:t>
            </a:r>
            <a:endParaRPr lang="en-US" sz="1500" dirty="0"/>
          </a:p>
        </p:txBody>
      </p:sp>
      <p:sp>
        <p:nvSpPr>
          <p:cNvPr id="8" name="Bullets"/>
          <p:cNvSpPr txBox="1"/>
          <p:nvPr/>
        </p:nvSpPr>
        <p:spPr>
          <a:xfrm>
            <a:off x="548640" y="3383280"/>
            <a:ext cx="110642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V1 prompt: Write a Python program for prime numbers.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Run the code and test it: use run_tests, or try 5 inputs by hand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Record the score and one line on clarity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Final submission: 3 prompts, 3 outputs, scores, comparison table, short note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Three Metrics for Judging Output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ACCURACY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Correct ÷ total × 100. Example: 8 of 10 = 80%. For code: the test score.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297680" y="155448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4526280" y="178308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RELEVANCE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4526280" y="214884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Does it answer what was asked? For code: right function name, language and signature.</a:t>
            </a:r>
            <a:endParaRPr lang="en-US" sz="1600" dirty="0"/>
          </a:p>
        </p:txBody>
      </p:sp>
      <p:sp>
        <p:nvSpPr>
          <p:cNvPr id="11" name="Card 3"/>
          <p:cNvSpPr/>
          <p:nvPr/>
        </p:nvSpPr>
        <p:spPr>
          <a:xfrm>
            <a:off x="8046720" y="1554480"/>
            <a:ext cx="356616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Label"/>
          <p:cNvSpPr txBox="1"/>
          <p:nvPr/>
        </p:nvSpPr>
        <p:spPr>
          <a:xfrm>
            <a:off x="8275320" y="178308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COHERENCE</a:t>
            </a:r>
            <a:endParaRPr lang="en-US" sz="1100" dirty="0"/>
          </a:p>
        </p:txBody>
      </p:sp>
      <p:sp>
        <p:nvSpPr>
          <p:cNvPr id="13" name="Card body 3"/>
          <p:cNvSpPr txBox="1"/>
          <p:nvPr/>
        </p:nvSpPr>
        <p:spPr>
          <a:xfrm>
            <a:off x="8275320" y="2148840"/>
            <a:ext cx="310896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Does it read clearly? For code: good names, comments, structure.</a:t>
            </a:r>
            <a:endParaRPr lang="en-US" sz="1600" dirty="0"/>
          </a:p>
        </p:txBody>
      </p:sp>
      <p:sp>
        <p:nvSpPr>
          <p:cNvPr id="14" name="Bar"/>
          <p:cNvSpPr/>
          <p:nvPr/>
        </p:nvSpPr>
        <p:spPr>
          <a:xfrm>
            <a:off x="548640" y="429768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Bar text"/>
          <p:cNvSpPr txBox="1"/>
          <p:nvPr/>
        </p:nvSpPr>
        <p:spPr>
          <a:xfrm>
            <a:off x="777240" y="42976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Also ask: does it run? does it pass tests?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Evaluation Frameworks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MANUAL RUBRIC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Score each output 1 to 5 on accuracy, relevance and coherence.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6172200" y="15544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640080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TEST SET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6400800" y="214884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Inputs with expected answers. Count how many pass.</a:t>
            </a:r>
            <a:endParaRPr lang="en-US" sz="1800" dirty="0"/>
          </a:p>
        </p:txBody>
      </p:sp>
      <p:sp>
        <p:nvSpPr>
          <p:cNvPr id="11" name="Card 3"/>
          <p:cNvSpPr/>
          <p:nvPr/>
        </p:nvSpPr>
        <p:spPr>
          <a:xfrm>
            <a:off x="548640" y="32918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Label"/>
          <p:cNvSpPr txBox="1"/>
          <p:nvPr/>
        </p:nvSpPr>
        <p:spPr>
          <a:xfrm>
            <a:off x="777240" y="352044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SIDE-BY-SIDE</a:t>
            </a:r>
            <a:endParaRPr lang="en-US" sz="1100" dirty="0"/>
          </a:p>
        </p:txBody>
      </p:sp>
      <p:sp>
        <p:nvSpPr>
          <p:cNvPr id="13" name="Card body 3"/>
          <p:cNvSpPr txBox="1"/>
          <p:nvPr/>
        </p:nvSpPr>
        <p:spPr>
          <a:xfrm>
            <a:off x="777240" y="388620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Put two outputs next to each other and pick the better one.</a:t>
            </a:r>
            <a:endParaRPr lang="en-US" sz="1800" dirty="0"/>
          </a:p>
        </p:txBody>
      </p:sp>
      <p:sp>
        <p:nvSpPr>
          <p:cNvPr id="14" name="Card 4"/>
          <p:cNvSpPr/>
          <p:nvPr/>
        </p:nvSpPr>
        <p:spPr>
          <a:xfrm>
            <a:off x="6172200" y="32918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Label"/>
          <p:cNvSpPr txBox="1"/>
          <p:nvPr/>
        </p:nvSpPr>
        <p:spPr>
          <a:xfrm>
            <a:off x="6400800" y="352044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LLM AS JUDGE</a:t>
            </a:r>
            <a:endParaRPr lang="en-US" sz="1100" dirty="0"/>
          </a:p>
        </p:txBody>
      </p:sp>
      <p:sp>
        <p:nvSpPr>
          <p:cNvPr id="16" name="Card body 4"/>
          <p:cNvSpPr txBox="1"/>
          <p:nvPr/>
        </p:nvSpPr>
        <p:spPr>
          <a:xfrm>
            <a:off x="6400800" y="388620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One LLM scores another. Can be biased, so spot-check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Apply: Score V1 with the Rubric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STEP 1 · SCORE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Score your V1: accuracy, relevance, coherence (1 to 5 each).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6172200" y="155448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640080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STEP 2 · SWAP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6400800" y="214884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Swap with a neighbour and score theirs.</a:t>
            </a:r>
            <a:endParaRPr lang="en-US" sz="1800" dirty="0"/>
          </a:p>
        </p:txBody>
      </p:sp>
      <p:sp>
        <p:nvSpPr>
          <p:cNvPr id="11" name="Card 3"/>
          <p:cNvSpPr/>
          <p:nvPr/>
        </p:nvSpPr>
        <p:spPr>
          <a:xfrm>
            <a:off x="548640" y="32918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Label"/>
          <p:cNvSpPr txBox="1"/>
          <p:nvPr/>
        </p:nvSpPr>
        <p:spPr>
          <a:xfrm>
            <a:off x="777240" y="352044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STEP 3 · DISCUSS</a:t>
            </a:r>
            <a:endParaRPr lang="en-US" sz="1100" dirty="0"/>
          </a:p>
        </p:txBody>
      </p:sp>
      <p:sp>
        <p:nvSpPr>
          <p:cNvPr id="13" name="Card body 3"/>
          <p:cNvSpPr txBox="1"/>
          <p:nvPr/>
        </p:nvSpPr>
        <p:spPr>
          <a:xfrm>
            <a:off x="777240" y="388620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Discuss any gap of more than 1 point.</a:t>
            </a:r>
            <a:endParaRPr lang="en-US" sz="1800" dirty="0"/>
          </a:p>
        </p:txBody>
      </p:sp>
      <p:sp>
        <p:nvSpPr>
          <p:cNvPr id="14" name="Card 4"/>
          <p:cNvSpPr/>
          <p:nvPr/>
        </p:nvSpPr>
        <p:spPr>
          <a:xfrm>
            <a:off x="6172200" y="329184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Label"/>
          <p:cNvSpPr txBox="1"/>
          <p:nvPr/>
        </p:nvSpPr>
        <p:spPr>
          <a:xfrm>
            <a:off x="6400800" y="352044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TIME</a:t>
            </a:r>
            <a:endParaRPr lang="en-US" sz="1100" dirty="0"/>
          </a:p>
        </p:txBody>
      </p:sp>
      <p:sp>
        <p:nvSpPr>
          <p:cNvPr id="16" name="Card body 4"/>
          <p:cNvSpPr txBox="1"/>
          <p:nvPr/>
        </p:nvSpPr>
        <p:spPr>
          <a:xfrm>
            <a:off x="6400800" y="388620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7 minutes.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CLEAR Recall, Then Version 2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206654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CONCISE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160934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Short, clear sentences.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2798064" y="1554480"/>
            <a:ext cx="206654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3026664" y="178308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LOGICAL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3026664" y="2148840"/>
            <a:ext cx="160934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sensible order.</a:t>
            </a:r>
            <a:endParaRPr lang="en-US" sz="1600" dirty="0"/>
          </a:p>
        </p:txBody>
      </p:sp>
      <p:sp>
        <p:nvSpPr>
          <p:cNvPr id="11" name="Card 3"/>
          <p:cNvSpPr/>
          <p:nvPr/>
        </p:nvSpPr>
        <p:spPr>
          <a:xfrm>
            <a:off x="5047488" y="1554480"/>
            <a:ext cx="206654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Label"/>
          <p:cNvSpPr txBox="1"/>
          <p:nvPr/>
        </p:nvSpPr>
        <p:spPr>
          <a:xfrm>
            <a:off x="5276088" y="178308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EXPLICIT</a:t>
            </a:r>
            <a:endParaRPr lang="en-US" sz="1100" dirty="0"/>
          </a:p>
        </p:txBody>
      </p:sp>
      <p:sp>
        <p:nvSpPr>
          <p:cNvPr id="13" name="Card body 3"/>
          <p:cNvSpPr txBox="1"/>
          <p:nvPr/>
        </p:nvSpPr>
        <p:spPr>
          <a:xfrm>
            <a:off x="5276088" y="2148840"/>
            <a:ext cx="160934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Say exactly what you want.</a:t>
            </a:r>
            <a:endParaRPr lang="en-US" sz="1600" dirty="0"/>
          </a:p>
        </p:txBody>
      </p:sp>
      <p:sp>
        <p:nvSpPr>
          <p:cNvPr id="14" name="Card 4"/>
          <p:cNvSpPr/>
          <p:nvPr/>
        </p:nvSpPr>
        <p:spPr>
          <a:xfrm>
            <a:off x="7296912" y="1554480"/>
            <a:ext cx="206654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Label"/>
          <p:cNvSpPr txBox="1"/>
          <p:nvPr/>
        </p:nvSpPr>
        <p:spPr>
          <a:xfrm>
            <a:off x="7525512" y="178308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ADAPTIVE</a:t>
            </a:r>
            <a:endParaRPr lang="en-US" sz="1100" dirty="0"/>
          </a:p>
        </p:txBody>
      </p:sp>
      <p:sp>
        <p:nvSpPr>
          <p:cNvPr id="16" name="Card body 4"/>
          <p:cNvSpPr txBox="1"/>
          <p:nvPr/>
        </p:nvSpPr>
        <p:spPr>
          <a:xfrm>
            <a:off x="7525512" y="2148840"/>
            <a:ext cx="160934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Adjust after the output.</a:t>
            </a:r>
            <a:endParaRPr lang="en-US" sz="1600" dirty="0"/>
          </a:p>
        </p:txBody>
      </p:sp>
      <p:sp>
        <p:nvSpPr>
          <p:cNvPr id="17" name="Card 5"/>
          <p:cNvSpPr/>
          <p:nvPr/>
        </p:nvSpPr>
        <p:spPr>
          <a:xfrm>
            <a:off x="9546336" y="1554480"/>
            <a:ext cx="2066544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Label"/>
          <p:cNvSpPr txBox="1"/>
          <p:nvPr/>
        </p:nvSpPr>
        <p:spPr>
          <a:xfrm>
            <a:off x="9774936" y="1783080"/>
            <a:ext cx="1609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REFLECTIVE</a:t>
            </a:r>
            <a:endParaRPr lang="en-US" sz="1100" dirty="0"/>
          </a:p>
        </p:txBody>
      </p:sp>
      <p:sp>
        <p:nvSpPr>
          <p:cNvPr id="19" name="Card body 5"/>
          <p:cNvSpPr txBox="1"/>
          <p:nvPr/>
        </p:nvSpPr>
        <p:spPr>
          <a:xfrm>
            <a:off x="9774936" y="2148840"/>
            <a:ext cx="1609344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Ask the LLM to check itself.</a:t>
            </a:r>
            <a:endParaRPr lang="en-US" sz="1600" dirty="0"/>
          </a:p>
        </p:txBody>
      </p:sp>
      <p:sp>
        <p:nvSpPr>
          <p:cNvPr id="20" name="Card 1"/>
          <p:cNvSpPr/>
          <p:nvPr/>
        </p:nvSpPr>
        <p:spPr>
          <a:xfrm>
            <a:off x="548640" y="3291840"/>
            <a:ext cx="1106424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Label"/>
          <p:cNvSpPr txBox="1"/>
          <p:nvPr/>
        </p:nvSpPr>
        <p:spPr>
          <a:xfrm>
            <a:off x="777240" y="3520440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V2 PROMPT · CONCISE, LOGICAL, EXPLICIT</a:t>
            </a:r>
            <a:endParaRPr lang="en-US" sz="1100" dirty="0"/>
          </a:p>
        </p:txBody>
      </p:sp>
      <p:sp>
        <p:nvSpPr>
          <p:cNvPr id="22" name="Card body 1"/>
          <p:cNvSpPr txBox="1"/>
          <p:nvPr/>
        </p:nvSpPr>
        <p:spPr>
          <a:xfrm>
            <a:off x="777240" y="3886200"/>
            <a:ext cx="1060704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Write a Python function is_prime(n) that returns True if n is prime, otherwise False. Use integers only. Handle 0, 1 and negative numbers. Add a short comment on each step.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Adaptive and Reflective: Version 3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ADAPTIVE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Fix one thing V2 got wrong.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6172200" y="1554480"/>
            <a:ext cx="544068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640080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REFLECTIVE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6400800" y="214884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Ask the LLM to check its own code.</a:t>
            </a:r>
            <a:endParaRPr lang="en-US" sz="1800" dirty="0"/>
          </a:p>
        </p:txBody>
      </p:sp>
      <p:sp>
        <p:nvSpPr>
          <p:cNvPr id="11" name="Card 1"/>
          <p:cNvSpPr/>
          <p:nvPr/>
        </p:nvSpPr>
        <p:spPr>
          <a:xfrm>
            <a:off x="548640" y="3108960"/>
            <a:ext cx="1106424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Label"/>
          <p:cNvSpPr txBox="1"/>
          <p:nvPr/>
        </p:nvSpPr>
        <p:spPr>
          <a:xfrm>
            <a:off x="777240" y="3337560"/>
            <a:ext cx="10607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V3 = V2 PLUS THIS LINE</a:t>
            </a:r>
            <a:endParaRPr lang="en-US" sz="1100" dirty="0"/>
          </a:p>
        </p:txBody>
      </p:sp>
      <p:sp>
        <p:nvSpPr>
          <p:cNvPr id="13" name="Card body 1"/>
          <p:cNvSpPr txBox="1"/>
          <p:nvPr/>
        </p:nvSpPr>
        <p:spPr>
          <a:xfrm>
            <a:off x="777240" y="3703320"/>
            <a:ext cx="1060704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After writing the code, check it for bugs and edge cases. List any problems, then give the final corrected version.</a:t>
            </a:r>
            <a:endParaRPr lang="en-US" sz="2000" dirty="0"/>
          </a:p>
        </p:txBody>
      </p:sp>
      <p:sp>
        <p:nvSpPr>
          <p:cNvPr id="14" name="Apply line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Run it, score it, and note what changed. Time: 10 minutes.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/>
                </a:solidFill>
              </a:rPr>
              <a:t>Compare, Note, Homework</a:t>
            </a:r>
            <a:endParaRPr lang="en-US" sz="2800" dirty="0"/>
          </a:p>
        </p:txBody>
      </p:sp>
      <p:sp>
        <p:nvSpPr>
          <p:cNvPr id="5" name="Card 1"/>
          <p:cNvSpPr/>
          <p:nvPr/>
        </p:nvSpPr>
        <p:spPr>
          <a:xfrm>
            <a:off x="548640" y="1554480"/>
            <a:ext cx="544068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Label"/>
          <p:cNvSpPr txBox="1"/>
          <p:nvPr/>
        </p:nvSpPr>
        <p:spPr>
          <a:xfrm>
            <a:off x="77724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COMPARISON TABLE</a:t>
            </a:r>
            <a:endParaRPr lang="en-US" sz="1100" dirty="0"/>
          </a:p>
        </p:txBody>
      </p:sp>
      <p:sp>
        <p:nvSpPr>
          <p:cNvPr id="7" name="Card body 1"/>
          <p:cNvSpPr txBox="1"/>
          <p:nvPr/>
        </p:nvSpPr>
        <p:spPr>
          <a:xfrm>
            <a:off x="777240" y="2148840"/>
            <a:ext cx="498348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V1, V2, V3: prompt change · test score · clarity (1 to 5) · what changed. Then a 3 to 5 line note: which CLEAR idea helped most?</a:t>
            </a:r>
            <a:endParaRPr lang="en-US" sz="1800" dirty="0"/>
          </a:p>
        </p:txBody>
      </p:sp>
      <p:sp>
        <p:nvSpPr>
          <p:cNvPr id="8" name="Card 2"/>
          <p:cNvSpPr/>
          <p:nvPr/>
        </p:nvSpPr>
        <p:spPr>
          <a:xfrm>
            <a:off x="6172200" y="1554480"/>
            <a:ext cx="544068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Label"/>
          <p:cNvSpPr txBox="1"/>
          <p:nvPr/>
        </p:nvSpPr>
        <p:spPr>
          <a:xfrm>
            <a:off x="6400800" y="1783080"/>
            <a:ext cx="4983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chemeClr val="accent1"/>
                </a:solidFill>
              </a:rPr>
              <a:t>HOMEWORK</a:t>
            </a:r>
            <a:endParaRPr lang="en-US" sz="1100" dirty="0"/>
          </a:p>
        </p:txBody>
      </p:sp>
      <p:sp>
        <p:nvSpPr>
          <p:cNvPr id="10" name="Card body 2"/>
          <p:cNvSpPr txBox="1"/>
          <p:nvPr/>
        </p:nvSpPr>
        <p:spPr>
          <a:xfrm>
            <a:off x="6400800" y="2148840"/>
            <a:ext cx="4983480" cy="1783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Finish Exp 9. Do Exp 7 (vague vs. clear story prompt). Install LangChain and check your API key.</a:t>
            </a:r>
            <a:endParaRPr lang="en-US" sz="1800" dirty="0"/>
          </a:p>
        </p:txBody>
      </p:sp>
      <p:sp>
        <p:nvSpPr>
          <p:cNvPr id="11" name="Bar"/>
          <p:cNvSpPr/>
          <p:nvPr/>
        </p:nvSpPr>
        <p:spPr>
          <a:xfrm>
            <a:off x="548640" y="4480560"/>
            <a:ext cx="1106424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Bar text"/>
          <p:cNvSpPr txBox="1"/>
          <p:nvPr/>
        </p:nvSpPr>
        <p:spPr>
          <a:xfrm>
            <a:off x="777240" y="448056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Next: Module 4 starts with LangChain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365760" cy="27432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16Match">
  <a:themeElements>
    <a:clrScheme name="Session16Match">
      <a:dk1>
        <a:srgbClr val="374060"/>
      </a:dk1>
      <a:lt1>
        <a:srgbClr val="FFFFFF"/>
      </a:lt1>
      <a:dk2>
        <a:srgbClr val="1E2761"/>
      </a:dk2>
      <a:lt2>
        <a:srgbClr val="F5F7FC"/>
      </a:lt2>
      <a:accent1>
        <a:srgbClr val="E8720C"/>
      </a:accent1>
      <a:accent2>
        <a:srgbClr val="CADCFC"/>
      </a:accent2>
      <a:accent3>
        <a:srgbClr val="141A3D"/>
      </a:accent3>
      <a:accent4>
        <a:srgbClr val="DCE3F5"/>
      </a:accent4>
      <a:accent5>
        <a:srgbClr val="2A356E"/>
      </a:accent5>
      <a:accent6>
        <a:srgbClr val="6B7280"/>
      </a:accent6>
      <a:hlink>
        <a:srgbClr val="1E2761"/>
      </a:hlink>
      <a:folHlink>
        <a:srgbClr val="6B7280"/>
      </a:folHlink>
    </a:clrScheme>
    <a:fontScheme name="Session16M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ssion16Match">
  <a:themeElements>
    <a:clrScheme name="Session16Match">
      <a:dk1>
        <a:srgbClr val="374060"/>
      </a:dk1>
      <a:lt1>
        <a:srgbClr val="FFFFFF"/>
      </a:lt1>
      <a:dk2>
        <a:srgbClr val="1E2761"/>
      </a:dk2>
      <a:lt2>
        <a:srgbClr val="F5F7FC"/>
      </a:lt2>
      <a:accent1>
        <a:srgbClr val="E8720C"/>
      </a:accent1>
      <a:accent2>
        <a:srgbClr val="CADCFC"/>
      </a:accent2>
      <a:accent3>
        <a:srgbClr val="141A3D"/>
      </a:accent3>
      <a:accent4>
        <a:srgbClr val="DCE3F5"/>
      </a:accent4>
      <a:accent5>
        <a:srgbClr val="2A356E"/>
      </a:accent5>
      <a:accent6>
        <a:srgbClr val="6B7280"/>
      </a:accent6>
      <a:hlink>
        <a:srgbClr val="1E2761"/>
      </a:hlink>
      <a:folHlink>
        <a:srgbClr val="6B7280"/>
      </a:folHlink>
    </a:clrScheme>
    <a:fontScheme name="Session16M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3312</Words>
  <Application>WPS Docs</Application>
  <PresentationFormat>On-screen Show (16:9)</PresentationFormat>
  <Paragraphs>189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Cambria</vt:lpstr>
      <vt:lpstr>苹方-简</vt:lpstr>
      <vt:lpstr>Calibri</vt:lpstr>
      <vt:lpstr>Helvetica Neue</vt:lpstr>
      <vt:lpstr>Microsoft YaHei</vt:lpstr>
      <vt:lpstr>汉仪旗黑</vt:lpstr>
      <vt:lpstr>Arial Unicode MS</vt:lpstr>
      <vt:lpstr>宋体-简</vt:lpstr>
      <vt:lpstr>Session16Match</vt:lpstr>
      <vt:lpstr>Prompt Evaluation</vt:lpstr>
      <vt:lpstr>What LLMs Can Do for Code</vt:lpstr>
      <vt:lpstr>Weak vs. Strong Code Prompt</vt:lpstr>
      <vt:lpstr>Live: Same Tests, Two Answers</vt:lpstr>
      <vt:lpstr>Apply: Exp 9, Version 1</vt:lpstr>
      <vt:lpstr>Three Metrics for Judging Output</vt:lpstr>
      <vt:lpstr>Evaluation Frameworks</vt:lpstr>
      <vt:lpstr>Apply: Score V1 with the Rubric</vt:lpstr>
      <vt:lpstr>CLEAR Recall, Then Version 2</vt:lpstr>
      <vt:lpstr>Adaptive and Reflective: Version 3</vt:lpstr>
      <vt:lpstr>Compare, Note, Homework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16: Code Generation, Evaluation and Exp 9 (90 min)</dc:title>
  <dc:creator>PptxGenJS</dc:creator>
  <dc:subject>PptxGenJS Presentation</dc:subject>
  <cp:lastModifiedBy>WPS_1789798365</cp:lastModifiedBy>
  <cp:revision>2</cp:revision>
  <dcterms:created xsi:type="dcterms:W3CDTF">2026-10-22T03:53:53Z</dcterms:created>
  <dcterms:modified xsi:type="dcterms:W3CDTF">2026-10-22T03:53:53Z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1033-12.1.29181.29181</vt:lpwstr>
  </property>
  <property fmtid="{D5CDD505-2E9C-101B-9397-08002B2CF9AE}" pid="3" name="ICV">
    <vt:lpwstr>5F0DDEDC16A4FE7AD188D96A225B4618_42</vt:lpwstr>
  </property>
</Properties>
</file>